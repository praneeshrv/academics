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73" r:id="rId10"/>
    <p:sldId id="275" r:id="rId11"/>
    <p:sldId id="265" r:id="rId12"/>
    <p:sldId id="266" r:id="rId13"/>
    <p:sldId id="267" r:id="rId14"/>
    <p:sldId id="268" r:id="rId15"/>
    <p:sldId id="269" r:id="rId16"/>
    <p:sldId id="270" r:id="rId17"/>
    <p:sldId id="276" r:id="rId18"/>
    <p:sldId id="271" r:id="rId19"/>
    <p:sldId id="272" r:id="rId20"/>
    <p:sldId id="278" r:id="rId21"/>
    <p:sldId id="279" r:id="rId22"/>
    <p:sldId id="277" r:id="rId23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69" d="100"/>
          <a:sy n="69" d="100"/>
        </p:scale>
        <p:origin x="1128" y="2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3321636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71D9486-9EF0-EAB9-ABD6-63F51220CE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DE2AD14-FDBC-8080-7E86-DA3F19886E0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0618047-F0E0-F988-3D86-D3365CBAF1A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68B65E9-2575-1C4F-729C-B0A44B2CCBE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601582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88A5A7-48BC-9533-4528-707717CBB9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9E4C625-5A0D-5742-255E-FA1093727A1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4F17BBE-2902-0728-9062-FDAEA3D2E92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F199EED-3B26-B822-A2C7-FFB4C6A1A65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6709528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A4E0F0-75F0-4427-6070-252C9B4A90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0BFC59B-3777-C2A4-34A9-38DD6407E86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3754DD5-398A-CE34-972B-005F7CDE876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D7959B6-B5D9-06A2-BF36-ADA19D5C3D5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557584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57200" cy="5143500"/>
          </a:xfrm>
          <a:prstGeom prst="rect">
            <a:avLst/>
          </a:prstGeom>
          <a:solidFill>
            <a:srgbClr val="2E4A8F"/>
          </a:solidFill>
          <a:ln w="12700">
            <a:solidFill>
              <a:srgbClr val="2E4A8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0" y="4389120"/>
            <a:ext cx="9144000" cy="754380"/>
          </a:xfrm>
          <a:prstGeom prst="rect">
            <a:avLst/>
          </a:prstGeom>
          <a:solidFill>
            <a:srgbClr val="16213E"/>
          </a:solidFill>
          <a:ln w="12700">
            <a:solidFill>
              <a:srgbClr val="16213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77724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4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LL(1) Parsers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731520" y="256032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000" dirty="0">
                <a:solidFill>
                  <a:srgbClr val="4F8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Syntax Analysis | Top-Down Parsing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45720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EEF2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365760" y="9144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Syntax Analysis Overview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274320" y="1097280"/>
            <a:ext cx="4114800" cy="3474720"/>
          </a:xfrm>
          <a:prstGeom prst="rect">
            <a:avLst/>
          </a:prstGeom>
          <a:solidFill>
            <a:srgbClr val="FFFFFF"/>
          </a:solidFill>
          <a:ln w="12700">
            <a:solidFill>
              <a:srgbClr val="2E4A8F"/>
            </a:solidFill>
            <a:prstDash val="solid"/>
          </a:ln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274320" y="1097280"/>
            <a:ext cx="4114800" cy="502920"/>
          </a:xfrm>
          <a:prstGeom prst="rect">
            <a:avLst/>
          </a:prstGeom>
          <a:solidFill>
            <a:srgbClr val="2E4A8F"/>
          </a:solidFill>
          <a:ln w="12700">
            <a:solidFill>
              <a:srgbClr val="2E4A8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274320" y="1097280"/>
            <a:ext cx="4114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Top-Down Parsers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411480" y="1691640"/>
            <a:ext cx="384048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Follows Left Most Derivation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Recursive Descent (using procedures)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Non-Recursive Descent (using table)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LL(1) is default top-down parser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It is a predictive parser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754880" y="1097280"/>
            <a:ext cx="4114800" cy="3474720"/>
          </a:xfrm>
          <a:prstGeom prst="rect">
            <a:avLst/>
          </a:prstGeom>
          <a:solidFill>
            <a:srgbClr val="FFFFFF"/>
          </a:solidFill>
          <a:ln w="12700">
            <a:solidFill>
              <a:srgbClr val="2E4A8F"/>
            </a:solidFill>
            <a:prstDash val="solid"/>
          </a:ln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9" name="Shape 7"/>
          <p:cNvSpPr/>
          <p:nvPr/>
        </p:nvSpPr>
        <p:spPr>
          <a:xfrm>
            <a:off x="4754880" y="1097280"/>
            <a:ext cx="4114800" cy="502920"/>
          </a:xfrm>
          <a:prstGeom prst="rect">
            <a:avLst/>
          </a:prstGeom>
          <a:solidFill>
            <a:srgbClr val="2E4A8F"/>
          </a:solidFill>
          <a:ln w="12700">
            <a:solidFill>
              <a:srgbClr val="2E4A8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4754880" y="1097280"/>
            <a:ext cx="4114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Bottom-Up Parsers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4892040" y="1691640"/>
            <a:ext cx="384048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Follows Right Most Derivation in reverse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Also called Shift-Reduce parsers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Variants: LR(0), SLR(1), LALR(1), CLR(1)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EEF2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365760" y="9144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LL(1)?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274320" y="1005840"/>
            <a:ext cx="8595360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4F8EF7"/>
            </a:solidFill>
            <a:prstDash val="solid"/>
          </a:ln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457200" y="1097280"/>
            <a:ext cx="82296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4F8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</a:t>
            </a:r>
            <a:r>
              <a:rPr lang="en-US" sz="16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Left to Right scanning    </a:t>
            </a:r>
            <a:r>
              <a:rPr lang="en-US" sz="2000" b="1" dirty="0">
                <a:solidFill>
                  <a:srgbClr val="4F8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</a:t>
            </a:r>
            <a:r>
              <a:rPr lang="en-US" sz="16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Leftmost Derivation    </a:t>
            </a:r>
            <a:r>
              <a:rPr lang="en-US" sz="2000" b="1" dirty="0">
                <a:solidFill>
                  <a:srgbClr val="4F8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r>
              <a:rPr lang="en-US" sz="16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1 symbol lookahead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274320" y="2651760"/>
            <a:ext cx="2743200" cy="2194560"/>
          </a:xfrm>
          <a:prstGeom prst="rect">
            <a:avLst/>
          </a:prstGeom>
          <a:solidFill>
            <a:srgbClr val="FFFFFF"/>
          </a:solidFill>
          <a:ln w="12700">
            <a:solidFill>
              <a:srgbClr val="2E4A8F"/>
            </a:solidFill>
            <a:prstDash val="solid"/>
          </a:ln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7" name="Shape 5"/>
          <p:cNvSpPr/>
          <p:nvPr/>
        </p:nvSpPr>
        <p:spPr>
          <a:xfrm>
            <a:off x="274320" y="2651760"/>
            <a:ext cx="137160" cy="2194560"/>
          </a:xfrm>
          <a:prstGeom prst="rect">
            <a:avLst/>
          </a:prstGeom>
          <a:solidFill>
            <a:srgbClr val="4F8EF7"/>
          </a:solidFill>
          <a:ln w="12700">
            <a:solidFill>
              <a:srgbClr val="4F8EF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502920" y="2697480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E4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Predictive Parser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02920" y="3108960"/>
            <a:ext cx="246888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Uses a parsing table with 1-token lookahead to predict which production to use.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154680" y="2651760"/>
            <a:ext cx="2743200" cy="2194560"/>
          </a:xfrm>
          <a:prstGeom prst="rect">
            <a:avLst/>
          </a:prstGeom>
          <a:solidFill>
            <a:srgbClr val="FFFFFF"/>
          </a:solidFill>
          <a:ln w="12700">
            <a:solidFill>
              <a:srgbClr val="2E4A8F"/>
            </a:solidFill>
            <a:prstDash val="solid"/>
          </a:ln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1" name="Shape 9"/>
          <p:cNvSpPr/>
          <p:nvPr/>
        </p:nvSpPr>
        <p:spPr>
          <a:xfrm>
            <a:off x="3154680" y="2651760"/>
            <a:ext cx="137160" cy="2194560"/>
          </a:xfrm>
          <a:prstGeom prst="rect">
            <a:avLst/>
          </a:prstGeom>
          <a:solidFill>
            <a:srgbClr val="4F8EF7"/>
          </a:solidFill>
          <a:ln w="12700">
            <a:solidFill>
              <a:srgbClr val="4F8EF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/>
          <p:nvPr/>
        </p:nvSpPr>
        <p:spPr>
          <a:xfrm>
            <a:off x="3383280" y="2697480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E4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Non-Recursive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3383280" y="3108960"/>
            <a:ext cx="246888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Uses an explicit stack (LL(1) table + algorithm) instead of recursive procedure calls.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035040" y="2651760"/>
            <a:ext cx="2743200" cy="2194560"/>
          </a:xfrm>
          <a:prstGeom prst="rect">
            <a:avLst/>
          </a:prstGeom>
          <a:solidFill>
            <a:srgbClr val="FFFFFF"/>
          </a:solidFill>
          <a:ln w="12700">
            <a:solidFill>
              <a:srgbClr val="2E4A8F"/>
            </a:solidFill>
            <a:prstDash val="solid"/>
          </a:ln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5" name="Shape 13"/>
          <p:cNvSpPr/>
          <p:nvPr/>
        </p:nvSpPr>
        <p:spPr>
          <a:xfrm>
            <a:off x="6035040" y="2651760"/>
            <a:ext cx="137160" cy="2194560"/>
          </a:xfrm>
          <a:prstGeom prst="rect">
            <a:avLst/>
          </a:prstGeom>
          <a:solidFill>
            <a:srgbClr val="4F8EF7"/>
          </a:solidFill>
          <a:ln w="12700">
            <a:solidFill>
              <a:srgbClr val="4F8EF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Text 14"/>
          <p:cNvSpPr/>
          <p:nvPr/>
        </p:nvSpPr>
        <p:spPr>
          <a:xfrm>
            <a:off x="6263640" y="2697480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E4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LL(1) Grammar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263640" y="3108960"/>
            <a:ext cx="246888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 on grammars that are: unambiguous, non-left-recursive, and left-factored.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EEF2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365760" y="9144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 Diagram of LL(1) Parser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65760" y="1188720"/>
            <a:ext cx="1828800" cy="640080"/>
          </a:xfrm>
          <a:prstGeom prst="rect">
            <a:avLst/>
          </a:prstGeom>
          <a:solidFill>
            <a:srgbClr val="2E4A8F"/>
          </a:solidFill>
          <a:ln w="12700">
            <a:solidFill>
              <a:srgbClr val="2E4A8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365760" y="1188720"/>
            <a:ext cx="1828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 Buffer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2194560" y="1508760"/>
            <a:ext cx="914400" cy="0"/>
          </a:xfrm>
          <a:prstGeom prst="line">
            <a:avLst/>
          </a:prstGeom>
          <a:noFill/>
          <a:ln w="25400">
            <a:solidFill>
              <a:srgbClr val="2E4A8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2926080" y="137160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E4A8F"/>
                </a:solidFill>
              </a:rPr>
              <a:t>▶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200400" y="1005840"/>
            <a:ext cx="2743200" cy="1097280"/>
          </a:xfrm>
          <a:prstGeom prst="rect">
            <a:avLst/>
          </a:prstGeom>
          <a:solidFill>
            <a:srgbClr val="4F8EF7"/>
          </a:solidFill>
          <a:ln w="12700">
            <a:solidFill>
              <a:srgbClr val="4F8EF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Text 7"/>
          <p:cNvSpPr/>
          <p:nvPr/>
        </p:nvSpPr>
        <p:spPr>
          <a:xfrm>
            <a:off x="3200400" y="1005840"/>
            <a:ext cx="27432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Predictive Parsing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5943600" y="1508760"/>
            <a:ext cx="914400" cy="0"/>
          </a:xfrm>
          <a:prstGeom prst="line">
            <a:avLst/>
          </a:prstGeom>
          <a:noFill/>
          <a:ln w="25400">
            <a:solidFill>
              <a:srgbClr val="2E4A8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/>
          <p:nvPr/>
        </p:nvSpPr>
        <p:spPr>
          <a:xfrm>
            <a:off x="6675120" y="137160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E4A8F"/>
                </a:solidFill>
              </a:rPr>
              <a:t>▶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949440" y="1188720"/>
            <a:ext cx="1828800" cy="64008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/>
          <p:nvPr/>
        </p:nvSpPr>
        <p:spPr>
          <a:xfrm>
            <a:off x="6949440" y="1188720"/>
            <a:ext cx="1828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 Buffer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434840" y="265176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3131820" y="2971800"/>
            <a:ext cx="2743200" cy="731520"/>
          </a:xfrm>
          <a:prstGeom prst="rect">
            <a:avLst/>
          </a:prstGeom>
          <a:solidFill>
            <a:srgbClr val="2E4A8F"/>
          </a:solidFill>
          <a:ln w="12700">
            <a:solidFill>
              <a:srgbClr val="2E4A8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" name="Text 15"/>
          <p:cNvSpPr/>
          <p:nvPr/>
        </p:nvSpPr>
        <p:spPr>
          <a:xfrm>
            <a:off x="3200400" y="2926080"/>
            <a:ext cx="2743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Parsing Table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297180" y="2475807"/>
            <a:ext cx="1828800" cy="914400"/>
          </a:xfrm>
          <a:prstGeom prst="rect">
            <a:avLst/>
          </a:prstGeom>
          <a:solidFill>
            <a:srgbClr val="4A5568"/>
          </a:solidFill>
          <a:ln w="12700">
            <a:solidFill>
              <a:srgbClr val="4A556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9" name="Text 17"/>
          <p:cNvSpPr/>
          <p:nvPr/>
        </p:nvSpPr>
        <p:spPr>
          <a:xfrm>
            <a:off x="365760" y="2377440"/>
            <a:ext cx="1828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Stack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274320" y="3840480"/>
            <a:ext cx="859536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4F8EF7"/>
            </a:solidFill>
            <a:prstDash val="solid"/>
          </a:ln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2" name="Text 20"/>
          <p:cNvSpPr/>
          <p:nvPr/>
        </p:nvSpPr>
        <p:spPr>
          <a:xfrm>
            <a:off x="457200" y="388620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E4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Parser: </a:t>
            </a: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Takes input tokens → outputs a Parse Tree.   </a:t>
            </a:r>
            <a:r>
              <a:rPr lang="en-US" sz="1300" b="1" dirty="0">
                <a:solidFill>
                  <a:srgbClr val="2E4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 Buffer: </a:t>
            </a: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Stores the input string to be parsed. Last symbol is $.</a:t>
            </a:r>
            <a:endParaRPr lang="en-US" sz="1300" dirty="0"/>
          </a:p>
        </p:txBody>
      </p: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EB95B9B2-B088-4B8F-3C99-2C11DF85714F}"/>
              </a:ext>
            </a:extLst>
          </p:cNvPr>
          <p:cNvCxnSpPr>
            <a:cxnSpLocks/>
          </p:cNvCxnSpPr>
          <p:nvPr/>
        </p:nvCxnSpPr>
        <p:spPr>
          <a:xfrm>
            <a:off x="4709160" y="2160270"/>
            <a:ext cx="0" cy="82296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Connector: Elbow 37">
            <a:extLst>
              <a:ext uri="{FF2B5EF4-FFF2-40B4-BE49-F238E27FC236}">
                <a16:creationId xmlns:a16="http://schemas.microsoft.com/office/drawing/2014/main" id="{1F6A191D-F3EC-1156-289C-210EE23A3CB6}"/>
              </a:ext>
            </a:extLst>
          </p:cNvPr>
          <p:cNvCxnSpPr>
            <a:cxnSpLocks/>
            <a:stCxn id="18" idx="3"/>
          </p:cNvCxnSpPr>
          <p:nvPr/>
        </p:nvCxnSpPr>
        <p:spPr>
          <a:xfrm flipV="1">
            <a:off x="2125980" y="1959034"/>
            <a:ext cx="1074419" cy="973973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EEF2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365760" y="9144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to Identify LL(1) Grammar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2286000" y="1051560"/>
            <a:ext cx="457200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2E4A8F"/>
            </a:solidFill>
            <a:prstDash val="solid"/>
          </a:ln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2286000" y="1051560"/>
            <a:ext cx="45720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Unambiguous CFG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4297680" y="164592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2E4A8F"/>
                </a:solidFill>
              </a:rPr>
              <a:t>↓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2286000" y="1920240"/>
            <a:ext cx="457200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2E4A8F"/>
            </a:solidFill>
            <a:prstDash val="solid"/>
          </a:ln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2286000" y="1920240"/>
            <a:ext cx="45720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Convert to Non-Left Recursive CFG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4297680" y="251460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2E4A8F"/>
                </a:solidFill>
              </a:rPr>
              <a:t>↓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2286000" y="2788920"/>
            <a:ext cx="457200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2E4A8F"/>
            </a:solidFill>
            <a:prstDash val="solid"/>
          </a:ln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/>
          <p:nvPr/>
        </p:nvSpPr>
        <p:spPr>
          <a:xfrm>
            <a:off x="2286000" y="2788920"/>
            <a:ext cx="45720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Left Factored CFG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4297680" y="338328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2E4A8F"/>
                </a:solidFill>
              </a:rPr>
              <a:t>↓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2286000" y="3657600"/>
            <a:ext cx="4572000" cy="59436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/>
          <p:nvPr/>
        </p:nvSpPr>
        <p:spPr>
          <a:xfrm>
            <a:off x="2286000" y="3657600"/>
            <a:ext cx="45720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LL(1) CFG ✓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274320" y="4526280"/>
            <a:ext cx="8595360" cy="411480"/>
          </a:xfrm>
          <a:prstGeom prst="rect">
            <a:avLst/>
          </a:prstGeom>
          <a:solidFill>
            <a:srgbClr val="2E4A8F"/>
          </a:solidFill>
          <a:ln w="12700">
            <a:solidFill>
              <a:srgbClr val="2E4A8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Text 14"/>
          <p:cNvSpPr/>
          <p:nvPr/>
        </p:nvSpPr>
        <p:spPr>
          <a:xfrm>
            <a:off x="457200" y="4544568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entry in the LL(1) table must have at most 1 production — otherwise the grammar is NOT LL(1).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EEF2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365760" y="9144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Steps to Construct LL(1) Table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274320" y="1097280"/>
            <a:ext cx="859536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2E4A8F"/>
            </a:solidFill>
            <a:prstDash val="solid"/>
          </a:ln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274320" y="1097280"/>
            <a:ext cx="640080" cy="1554480"/>
          </a:xfrm>
          <a:prstGeom prst="rect">
            <a:avLst/>
          </a:prstGeom>
          <a:solidFill>
            <a:srgbClr val="4F8EF7"/>
          </a:solidFill>
          <a:ln w="12700">
            <a:solidFill>
              <a:srgbClr val="4F8EF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274320" y="1097280"/>
            <a:ext cx="64008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1005840" y="1188720"/>
            <a:ext cx="7680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E4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A → α (First Set)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005840" y="1645920"/>
            <a:ext cx="76809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Calculate First(α). For each terminal t in First(α), add A → α to M[A, t] row.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274320" y="2926080"/>
            <a:ext cx="859536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2E4A8F"/>
            </a:solidFill>
            <a:prstDash val="solid"/>
          </a:ln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0" name="Shape 8"/>
          <p:cNvSpPr/>
          <p:nvPr/>
        </p:nvSpPr>
        <p:spPr>
          <a:xfrm>
            <a:off x="274320" y="2926080"/>
            <a:ext cx="640080" cy="1554480"/>
          </a:xfrm>
          <a:prstGeom prst="rect">
            <a:avLst/>
          </a:prstGeom>
          <a:solidFill>
            <a:srgbClr val="4F8EF7"/>
          </a:solidFill>
          <a:ln w="12700">
            <a:solidFill>
              <a:srgbClr val="4F8EF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/>
          <p:nvPr/>
        </p:nvSpPr>
        <p:spPr>
          <a:xfrm>
            <a:off x="274320" y="2926080"/>
            <a:ext cx="64008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1005840" y="3017520"/>
            <a:ext cx="7680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E4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ε ∈ First(α) (Follow Set)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1005840" y="3474720"/>
            <a:ext cx="76809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First(α) contains ε and A → ε, calculate Follow(A).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Follow(A) = b, add A → ε to M[A, b] row.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274320" y="4663440"/>
            <a:ext cx="8595360" cy="32004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" name="Text 13"/>
          <p:cNvSpPr/>
          <p:nvPr/>
        </p:nvSpPr>
        <p:spPr>
          <a:xfrm>
            <a:off x="457200" y="468172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M[A, a] refers to the parsing table entry at row A, column a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EEF2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365760" y="9144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&amp; FOLLOW Sets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274320" y="1005840"/>
            <a:ext cx="4114800" cy="3840480"/>
          </a:xfrm>
          <a:prstGeom prst="rect">
            <a:avLst/>
          </a:prstGeom>
          <a:solidFill>
            <a:srgbClr val="FFFFFF"/>
          </a:solidFill>
          <a:ln w="12700">
            <a:solidFill>
              <a:srgbClr val="4F8EF7"/>
            </a:solidFill>
            <a:prstDash val="solid"/>
          </a:ln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274320" y="1005840"/>
            <a:ext cx="4114800" cy="502920"/>
          </a:xfrm>
          <a:prstGeom prst="rect">
            <a:avLst/>
          </a:prstGeom>
          <a:solidFill>
            <a:srgbClr val="4F8EF7"/>
          </a:solidFill>
          <a:ln w="12700">
            <a:solidFill>
              <a:srgbClr val="4F8EF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274320" y="1005840"/>
            <a:ext cx="4114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Set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457200" y="1600200"/>
            <a:ext cx="37490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of terminals that can appear as the first symbol of strings derived from α.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57200" y="2468880"/>
            <a:ext cx="3749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4F8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</a:t>
            </a: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α starts with terminal a → FIRST(α) = {a}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3108960"/>
            <a:ext cx="3749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4F8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</a:t>
            </a: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α starts with non-terminal A and A→ aβ → add a to FIRST(A)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57200" y="3749040"/>
            <a:ext cx="3749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4F8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</a:t>
            </a: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A → ε → add ε to FIRST(A)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709160" y="1005840"/>
            <a:ext cx="4114800" cy="3840480"/>
          </a:xfrm>
          <a:prstGeom prst="rect">
            <a:avLst/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2" name="Shape 10"/>
          <p:cNvSpPr/>
          <p:nvPr/>
        </p:nvSpPr>
        <p:spPr>
          <a:xfrm>
            <a:off x="4709160" y="1005840"/>
            <a:ext cx="4114800" cy="5029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/>
          <p:nvPr/>
        </p:nvSpPr>
        <p:spPr>
          <a:xfrm>
            <a:off x="4709160" y="1005840"/>
            <a:ext cx="4114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FOLLOW Set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4892040" y="1600200"/>
            <a:ext cx="37490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of terminals that can appear immediately to the right of A in some sentential form.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892040" y="2468880"/>
            <a:ext cx="3749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</a:t>
            </a: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 ∈ FOLLOW(Start Symbol)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892040" y="3108960"/>
            <a:ext cx="3749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</a:t>
            </a: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A → αBβ → FIRST(β) − {ε} ⊆ FOLLOW(B)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892040" y="3749040"/>
            <a:ext cx="3749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</a:t>
            </a: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A → αB or ε ∈ FIRST(β) → FOLLOW(A) ⊆ FOLLOW(B)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EEF2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365760" y="9144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Filling the LL(1) Table — Step by Step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274320" y="1005840"/>
            <a:ext cx="3291840" cy="2560320"/>
          </a:xfrm>
          <a:prstGeom prst="rect">
            <a:avLst/>
          </a:prstGeom>
          <a:solidFill>
            <a:srgbClr val="FFFFFF"/>
          </a:solidFill>
          <a:ln w="12700">
            <a:solidFill>
              <a:srgbClr val="2E4A8F"/>
            </a:solidFill>
            <a:prstDash val="solid"/>
          </a:ln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274320" y="1005840"/>
            <a:ext cx="3291840" cy="411480"/>
          </a:xfrm>
          <a:prstGeom prst="rect">
            <a:avLst/>
          </a:prstGeom>
          <a:solidFill>
            <a:srgbClr val="2E4A8F"/>
          </a:solidFill>
          <a:ln w="12700">
            <a:solidFill>
              <a:srgbClr val="2E4A8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274320" y="1005840"/>
            <a:ext cx="3291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Grammar &amp; Sets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11480" y="1508760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1A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 → aSb | cSd | ε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11480" y="1920240"/>
            <a:ext cx="30175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A556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FIRST(S)  = { a, c, ε }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4A556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FOLLOW(S) = { $, b, d }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11480" y="2788920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2E4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productions to place: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11480" y="3063240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1A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P1: S→aSb   P2: S→cSd   P3: S→ε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3749040" y="1005840"/>
            <a:ext cx="512064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4F8EF7"/>
            </a:solidFill>
            <a:prstDash val="solid"/>
          </a:ln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2" name="Shape 10"/>
          <p:cNvSpPr/>
          <p:nvPr/>
        </p:nvSpPr>
        <p:spPr>
          <a:xfrm>
            <a:off x="3749040" y="1005840"/>
            <a:ext cx="109728" cy="1097280"/>
          </a:xfrm>
          <a:prstGeom prst="rect">
            <a:avLst/>
          </a:prstGeom>
          <a:solidFill>
            <a:srgbClr val="4F8EF7"/>
          </a:solidFill>
          <a:ln w="12700">
            <a:solidFill>
              <a:srgbClr val="4F8EF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/>
          <p:nvPr/>
        </p:nvSpPr>
        <p:spPr>
          <a:xfrm>
            <a:off x="3931920" y="1069848"/>
            <a:ext cx="2286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4F8E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P1: S → aSb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7132320" y="1069848"/>
            <a:ext cx="1554480" cy="256032"/>
          </a:xfrm>
          <a:prstGeom prst="rect">
            <a:avLst/>
          </a:prstGeom>
          <a:solidFill>
            <a:srgbClr val="4F8EF7"/>
          </a:solidFill>
          <a:ln w="12700">
            <a:solidFill>
              <a:srgbClr val="4F8EF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" name="Text 13"/>
          <p:cNvSpPr/>
          <p:nvPr/>
        </p:nvSpPr>
        <p:spPr>
          <a:xfrm>
            <a:off x="7132320" y="1069848"/>
            <a:ext cx="1554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rule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931920" y="1408176"/>
            <a:ext cx="4800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A556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FIRST(aSb) = { a }   →   terminal 'a' found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3931920" y="1719072"/>
            <a:ext cx="4800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Place S→aSb in  M[S, a]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3749040" y="2240280"/>
            <a:ext cx="512064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4F8EF7"/>
            </a:solidFill>
            <a:prstDash val="solid"/>
          </a:ln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9" name="Shape 17"/>
          <p:cNvSpPr/>
          <p:nvPr/>
        </p:nvSpPr>
        <p:spPr>
          <a:xfrm>
            <a:off x="3749040" y="2240280"/>
            <a:ext cx="109728" cy="1097280"/>
          </a:xfrm>
          <a:prstGeom prst="rect">
            <a:avLst/>
          </a:prstGeom>
          <a:solidFill>
            <a:srgbClr val="4F8EF7"/>
          </a:solidFill>
          <a:ln w="12700">
            <a:solidFill>
              <a:srgbClr val="4F8EF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0" name="Text 18"/>
          <p:cNvSpPr/>
          <p:nvPr/>
        </p:nvSpPr>
        <p:spPr>
          <a:xfrm>
            <a:off x="3931920" y="2304288"/>
            <a:ext cx="2286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4F8E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P2: S → cSd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7132320" y="2304288"/>
            <a:ext cx="1554480" cy="256032"/>
          </a:xfrm>
          <a:prstGeom prst="rect">
            <a:avLst/>
          </a:prstGeom>
          <a:solidFill>
            <a:srgbClr val="4F8EF7"/>
          </a:solidFill>
          <a:ln w="12700">
            <a:solidFill>
              <a:srgbClr val="4F8EF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2" name="Text 20"/>
          <p:cNvSpPr/>
          <p:nvPr/>
        </p:nvSpPr>
        <p:spPr>
          <a:xfrm>
            <a:off x="7132320" y="2304288"/>
            <a:ext cx="1554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rule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3931920" y="2642616"/>
            <a:ext cx="4800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A556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FIRST(cSd) = { c }   →   terminal 'c' found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3931920" y="2953512"/>
            <a:ext cx="4800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Place S→cSd in  M[S, c]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3749040" y="3474720"/>
            <a:ext cx="512064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6" name="Shape 24"/>
          <p:cNvSpPr/>
          <p:nvPr/>
        </p:nvSpPr>
        <p:spPr>
          <a:xfrm>
            <a:off x="3749040" y="3474720"/>
            <a:ext cx="109728" cy="109728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7" name="Text 25"/>
          <p:cNvSpPr/>
          <p:nvPr/>
        </p:nvSpPr>
        <p:spPr>
          <a:xfrm>
            <a:off x="3931920" y="3538728"/>
            <a:ext cx="2286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94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P3: S → ε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7132320" y="3538728"/>
            <a:ext cx="1554480" cy="25603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9" name="Text 27"/>
          <p:cNvSpPr/>
          <p:nvPr/>
        </p:nvSpPr>
        <p:spPr>
          <a:xfrm>
            <a:off x="7132320" y="3538728"/>
            <a:ext cx="1554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FOLLOW rule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3931920" y="3877056"/>
            <a:ext cx="4800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A556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FIRST(ε) = {ε}  →  use FOLLOW(S) = { $, b, d }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3931920" y="4187952"/>
            <a:ext cx="4800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Place S→ε in  M[S,$]  M[S,b]  M[S,d]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274320" y="4663440"/>
            <a:ext cx="8595360" cy="347472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3" name="Text 31"/>
          <p:cNvSpPr/>
          <p:nvPr/>
        </p:nvSpPr>
        <p:spPr>
          <a:xfrm>
            <a:off x="457200" y="4681728"/>
            <a:ext cx="822960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Rule: Apply FIRST first → if ε ∈ FIRST(α), switch to FOLLOW(A) for remaining columns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EF2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EC87546-F09A-C0B8-6270-9B2BDBC29A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8951074A-204C-6C76-E1AE-9544E6DE3340}"/>
              </a:ext>
            </a:extLst>
          </p:cNvPr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3EB42D51-A7A5-290F-1789-C545A2808B3D}"/>
              </a:ext>
            </a:extLst>
          </p:cNvPr>
          <p:cNvSpPr/>
          <p:nvPr/>
        </p:nvSpPr>
        <p:spPr>
          <a:xfrm>
            <a:off x="365760" y="9144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LL(1) String Acceptance — Example</a:t>
            </a:r>
            <a:endParaRPr lang="en-US" sz="240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556F7FE-5393-BD0C-917C-7CBD67C0F2C1}"/>
              </a:ext>
            </a:extLst>
          </p:cNvPr>
          <p:cNvSpPr txBox="1"/>
          <p:nvPr/>
        </p:nvSpPr>
        <p:spPr>
          <a:xfrm>
            <a:off x="274320" y="1219200"/>
            <a:ext cx="7567353" cy="36933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At each step, look at the </a:t>
            </a:r>
            <a:r>
              <a:rPr lang="en-US" b="1" dirty="0"/>
              <a:t>top of stack (X)</a:t>
            </a:r>
            <a:r>
              <a:rPr lang="en-US" dirty="0"/>
              <a:t> and </a:t>
            </a:r>
            <a:r>
              <a:rPr lang="en-US" b="1" dirty="0"/>
              <a:t>current input symbol (a)</a:t>
            </a:r>
            <a:r>
              <a:rPr lang="en-US" dirty="0"/>
              <a:t>:</a:t>
            </a:r>
          </a:p>
          <a:p>
            <a:r>
              <a:rPr lang="en-US" b="1" dirty="0"/>
              <a:t>Case 1 — X is a terminal:</a:t>
            </a:r>
            <a:endParaRPr lang="en-US" dirty="0"/>
          </a:p>
          <a:p>
            <a:r>
              <a:rPr lang="en-US" dirty="0"/>
              <a:t>If X == a → </a:t>
            </a:r>
            <a:r>
              <a:rPr lang="en-US" b="1" dirty="0"/>
              <a:t>Pop X</a:t>
            </a:r>
            <a:r>
              <a:rPr lang="en-US" dirty="0"/>
              <a:t>, advance input pointer</a:t>
            </a:r>
          </a:p>
          <a:p>
            <a:r>
              <a:rPr lang="en-US" dirty="0"/>
              <a:t>If X ≠ a → </a:t>
            </a:r>
            <a:r>
              <a:rPr lang="en-US" b="1" dirty="0"/>
              <a:t>Error</a:t>
            </a:r>
            <a:endParaRPr lang="en-US" dirty="0"/>
          </a:p>
          <a:p>
            <a:endParaRPr lang="en-US" b="1" dirty="0"/>
          </a:p>
          <a:p>
            <a:r>
              <a:rPr lang="en-US" b="1" dirty="0"/>
              <a:t>Case 2 — X is a non-terminal:</a:t>
            </a:r>
            <a:endParaRPr lang="en-US" dirty="0"/>
          </a:p>
          <a:p>
            <a:r>
              <a:rPr lang="en-US" dirty="0"/>
              <a:t>Look up M[X, a] in the table</a:t>
            </a:r>
          </a:p>
          <a:p>
            <a:r>
              <a:rPr lang="en-US" dirty="0"/>
              <a:t>If M[X, a] = X → α → </a:t>
            </a:r>
            <a:r>
              <a:rPr lang="en-US" b="1" dirty="0"/>
              <a:t>Pop X</a:t>
            </a:r>
            <a:r>
              <a:rPr lang="en-US" dirty="0"/>
              <a:t>, push α </a:t>
            </a:r>
            <a:r>
              <a:rPr lang="en-US" b="1" dirty="0"/>
              <a:t>in reverse order</a:t>
            </a:r>
            <a:r>
              <a:rPr lang="en-US" dirty="0"/>
              <a:t> (rightmost first)</a:t>
            </a:r>
          </a:p>
          <a:p>
            <a:r>
              <a:rPr lang="en-US" dirty="0"/>
              <a:t>If M[X, a] = empty → </a:t>
            </a:r>
            <a:r>
              <a:rPr lang="en-US" b="1" dirty="0"/>
              <a:t>Error</a:t>
            </a:r>
          </a:p>
          <a:p>
            <a:endParaRPr lang="en-US" b="1" dirty="0"/>
          </a:p>
          <a:p>
            <a:r>
              <a:rPr lang="en-US" b="1" dirty="0"/>
              <a:t>Case 3 — X == $ and a == $:</a:t>
            </a:r>
            <a:r>
              <a:rPr lang="en-US" dirty="0"/>
              <a:t>→ </a:t>
            </a:r>
            <a:r>
              <a:rPr lang="en-US" b="1" dirty="0"/>
              <a:t>String is Accepted ✓</a:t>
            </a:r>
            <a:endParaRPr lang="en-US" dirty="0"/>
          </a:p>
          <a:p>
            <a:endParaRPr lang="en-US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22895633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EF2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C0232AD-85E8-0670-6BAA-ECBDF95CEB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E941EFEA-103F-C782-47B6-CDA6C3FC7138}"/>
              </a:ext>
            </a:extLst>
          </p:cNvPr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0C4B5866-AAAD-0D70-8A64-C40D48F8FA47}"/>
              </a:ext>
            </a:extLst>
          </p:cNvPr>
          <p:cNvSpPr/>
          <p:nvPr/>
        </p:nvSpPr>
        <p:spPr>
          <a:xfrm>
            <a:off x="365760" y="9144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LL(1) Table Construction — Example</a:t>
            </a:r>
            <a:endParaRPr lang="en-US" sz="2400" dirty="0"/>
          </a:p>
        </p:txBody>
      </p:sp>
      <p:sp>
        <p:nvSpPr>
          <p:cNvPr id="9" name="Shape 6">
            <a:extLst>
              <a:ext uri="{FF2B5EF4-FFF2-40B4-BE49-F238E27FC236}">
                <a16:creationId xmlns:a16="http://schemas.microsoft.com/office/drawing/2014/main" id="{588399D3-5196-081F-2EF0-35B4727787D1}"/>
              </a:ext>
            </a:extLst>
          </p:cNvPr>
          <p:cNvSpPr/>
          <p:nvPr/>
        </p:nvSpPr>
        <p:spPr>
          <a:xfrm>
            <a:off x="274320" y="2194560"/>
            <a:ext cx="8595360" cy="411480"/>
          </a:xfrm>
          <a:prstGeom prst="rect">
            <a:avLst/>
          </a:prstGeom>
          <a:solidFill>
            <a:srgbClr val="2E4A8F"/>
          </a:solidFill>
          <a:ln w="12700">
            <a:solidFill>
              <a:srgbClr val="2E4A8F"/>
            </a:solidFill>
            <a:prstDash val="solid"/>
          </a:ln>
        </p:spPr>
        <p:txBody>
          <a:bodyPr/>
          <a:lstStyle/>
          <a:p>
            <a:endParaRPr lang="en-IN" dirty="0"/>
          </a:p>
        </p:txBody>
      </p:sp>
      <p:sp>
        <p:nvSpPr>
          <p:cNvPr id="8" name="Text 7">
            <a:extLst>
              <a:ext uri="{FF2B5EF4-FFF2-40B4-BE49-F238E27FC236}">
                <a16:creationId xmlns:a16="http://schemas.microsoft.com/office/drawing/2014/main" id="{51EC9A4A-31E9-F418-B65F-3EEC5F09C14B}"/>
              </a:ext>
            </a:extLst>
          </p:cNvPr>
          <p:cNvSpPr/>
          <p:nvPr/>
        </p:nvSpPr>
        <p:spPr>
          <a:xfrm>
            <a:off x="457200" y="2182553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whether the string 'cd’ is accepted in the given grammar discussed in the example.</a:t>
            </a:r>
            <a:endParaRPr lang="en-US" sz="1300" dirty="0"/>
          </a:p>
        </p:txBody>
      </p:sp>
      <p:graphicFrame>
        <p:nvGraphicFramePr>
          <p:cNvPr id="19" name="Table 1">
            <a:extLst>
              <a:ext uri="{FF2B5EF4-FFF2-40B4-BE49-F238E27FC236}">
                <a16:creationId xmlns:a16="http://schemas.microsoft.com/office/drawing/2014/main" id="{CF66C6A6-A3B4-E0AC-3EF9-4824D514986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68401381"/>
              </p:ext>
            </p:extLst>
          </p:nvPr>
        </p:nvGraphicFramePr>
        <p:xfrm>
          <a:off x="274320" y="2818476"/>
          <a:ext cx="8595360" cy="1923288"/>
        </p:xfrm>
        <a:graphic>
          <a:graphicData uri="http://schemas.openxmlformats.org/drawingml/2006/table">
            <a:tbl>
              <a:tblPr/>
              <a:tblGrid>
                <a:gridCol w="25603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603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4747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9260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Stack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AAAA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AAA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AAA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AAA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Input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AAAA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AAA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AAA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AAA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Action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AAAA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AAA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AAA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AAA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603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$S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AAAA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AAA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AAA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AAA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cd$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AAAA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AAA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AAA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AAA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S → cSd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AAAA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AAA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AAA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AAA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5603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[S is replaced with </a:t>
                      </a:r>
                      <a:r>
                        <a:rPr lang="en-US" sz="1100" dirty="0" err="1">
                          <a:solidFill>
                            <a:srgbClr val="1A1A2E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cSd</a:t>
                      </a:r>
                      <a:r>
                        <a:rPr lang="en-US" sz="1100" dirty="0">
                          <a:solidFill>
                            <a:srgbClr val="1A1A2E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 in reverse order]</a:t>
                      </a:r>
                    </a:p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$dSc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AAAA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AAA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AAA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AAA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cd$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AAAA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AAA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AAA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AAA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Pop c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AAAA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AAA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AAA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AAA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5603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$dS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AAAA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AAA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AAA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AAA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d$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AAAA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AAA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AAA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AAA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S → ε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AAAA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AAA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AAA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AAA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5603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$d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AAAA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AAA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AAA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AAA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d$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AAAA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AAA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AAA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AAA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Pop d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AAAA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AAA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AAA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AAA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5603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$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AAAA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AAA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AAA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AAA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$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AAAA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AAA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AAA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AAA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Accepted ✓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AAAA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AAA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AAA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AAA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graphicFrame>
        <p:nvGraphicFramePr>
          <p:cNvPr id="34" name="Table 0">
            <a:extLst>
              <a:ext uri="{FF2B5EF4-FFF2-40B4-BE49-F238E27FC236}">
                <a16:creationId xmlns:a16="http://schemas.microsoft.com/office/drawing/2014/main" id="{ACB46331-45DA-BF82-9F70-E0BBAB837EC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78861335"/>
              </p:ext>
            </p:extLst>
          </p:nvPr>
        </p:nvGraphicFramePr>
        <p:xfrm>
          <a:off x="457200" y="1143924"/>
          <a:ext cx="4724399" cy="822960"/>
        </p:xfrm>
        <a:graphic>
          <a:graphicData uri="http://schemas.openxmlformats.org/drawingml/2006/table">
            <a:tbl>
              <a:tblPr/>
              <a:tblGrid>
                <a:gridCol w="101898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87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87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874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874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55812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41148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S \ Input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AAAA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AAA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AAA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AAA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4A8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a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AAAA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AAA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AAA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AAA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4A8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b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AAAA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AAA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AAA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AAA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4A8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c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AAAA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AAA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AAA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AAA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4A8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d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AAAA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AAA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AAA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AAA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4A8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$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AAAA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AAA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AAA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AAA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4A8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S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AAAA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AAA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AAA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AAA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S→aSb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AAAA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AAA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AAA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AAA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S→ε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AAAA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AAA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AAA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AAA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S→cSd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AAAA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AAA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AAA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AAA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S→ε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AAAA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AAA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AAA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AAA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S→ε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AAAA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AAA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AAA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AAA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95156008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EEF2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365760" y="9144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 2 — Construct LL(1) parsing table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274320" y="1005840"/>
            <a:ext cx="3931920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2E4A8F"/>
            </a:solidFill>
            <a:prstDash val="solid"/>
          </a:ln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274320" y="1005840"/>
            <a:ext cx="3931920" cy="384048"/>
          </a:xfrm>
          <a:prstGeom prst="rect">
            <a:avLst/>
          </a:prstGeom>
          <a:solidFill>
            <a:srgbClr val="2E4A8F"/>
          </a:solidFill>
          <a:ln w="12700">
            <a:solidFill>
              <a:srgbClr val="2E4A8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274320" y="1005840"/>
            <a:ext cx="3931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Grammar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57200" y="1463040"/>
            <a:ext cx="36576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300" dirty="0">
                <a:solidFill>
                  <a:srgbClr val="1A1A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 -&gt; aAB | bA | </a:t>
            </a:r>
            <a:r>
              <a:rPr lang="en-US" sz="1400" dirty="0">
                <a:solidFill>
                  <a:srgbClr val="1A1A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ε</a:t>
            </a:r>
            <a:endParaRPr lang="en-US" sz="1300" dirty="0"/>
          </a:p>
          <a:p>
            <a:r>
              <a:rPr lang="en-US" sz="1300" dirty="0">
                <a:solidFill>
                  <a:srgbClr val="1A1A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 -&gt; aAb | </a:t>
            </a:r>
            <a:r>
              <a:rPr lang="en-US" sz="1400" dirty="0">
                <a:solidFill>
                  <a:srgbClr val="1A1A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ε</a:t>
            </a:r>
            <a:endParaRPr lang="en-US" sz="1300" dirty="0"/>
          </a:p>
          <a:p>
            <a:r>
              <a:rPr lang="en-US" sz="1300" dirty="0">
                <a:solidFill>
                  <a:srgbClr val="1A1A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 -&gt; bB  | </a:t>
            </a:r>
            <a:r>
              <a:rPr lang="en-US" sz="1400" dirty="0">
                <a:solidFill>
                  <a:srgbClr val="1A1A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ε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389120" y="1005840"/>
            <a:ext cx="4480560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4F8EF7"/>
            </a:solidFill>
            <a:prstDash val="solid"/>
          </a:ln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9" name="Shape 7"/>
          <p:cNvSpPr/>
          <p:nvPr/>
        </p:nvSpPr>
        <p:spPr>
          <a:xfrm>
            <a:off x="4389120" y="1005840"/>
            <a:ext cx="4480560" cy="384048"/>
          </a:xfrm>
          <a:prstGeom prst="rect">
            <a:avLst/>
          </a:prstGeom>
          <a:solidFill>
            <a:srgbClr val="4F8EF7"/>
          </a:solidFill>
          <a:ln w="12700">
            <a:solidFill>
              <a:srgbClr val="4F8EF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4389120" y="1005840"/>
            <a:ext cx="44805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Sets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572000" y="1463040"/>
            <a:ext cx="41148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300" dirty="0">
                <a:solidFill>
                  <a:srgbClr val="1A1A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FIRST(S) = { a, b, </a:t>
            </a:r>
            <a:r>
              <a:rPr lang="en-US" sz="1400" dirty="0">
                <a:solidFill>
                  <a:srgbClr val="1A1A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ε</a:t>
            </a:r>
            <a:r>
              <a:rPr lang="en-US" sz="1300" dirty="0">
                <a:solidFill>
                  <a:srgbClr val="1A1A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}</a:t>
            </a:r>
            <a:endParaRPr lang="en-US" sz="1300" dirty="0"/>
          </a:p>
          <a:p>
            <a:r>
              <a:rPr lang="en-US" sz="1300" dirty="0">
                <a:solidFill>
                  <a:srgbClr val="1A1A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FIRST(A) = { a, </a:t>
            </a:r>
            <a:r>
              <a:rPr lang="en-US" sz="1400" dirty="0">
                <a:solidFill>
                  <a:srgbClr val="1A1A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ε</a:t>
            </a:r>
            <a:r>
              <a:rPr lang="en-US" sz="1300" dirty="0">
                <a:solidFill>
                  <a:srgbClr val="1A1A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}</a:t>
            </a:r>
            <a:endParaRPr lang="en-US" sz="1300" dirty="0"/>
          </a:p>
          <a:p>
            <a:r>
              <a:rPr lang="en-US" sz="1300" dirty="0">
                <a:solidFill>
                  <a:srgbClr val="1A1A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FIRST(B) = { b, </a:t>
            </a:r>
            <a:r>
              <a:rPr lang="en-US" sz="1400" dirty="0">
                <a:solidFill>
                  <a:srgbClr val="1A1A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ε</a:t>
            </a:r>
            <a:r>
              <a:rPr lang="en-US" sz="1300" dirty="0">
                <a:solidFill>
                  <a:srgbClr val="1A1A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}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274320" y="2834640"/>
            <a:ext cx="859536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3" name="Shape 11"/>
          <p:cNvSpPr/>
          <p:nvPr/>
        </p:nvSpPr>
        <p:spPr>
          <a:xfrm>
            <a:off x="274320" y="2834640"/>
            <a:ext cx="8595360" cy="38404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/>
          <p:nvPr/>
        </p:nvSpPr>
        <p:spPr>
          <a:xfrm>
            <a:off x="274320" y="2834640"/>
            <a:ext cx="8595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FOLLOW Sets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57200" y="3291840"/>
            <a:ext cx="8229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A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FOLLOW(S) = { $ }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A1A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FOLLOW(A) = { b, $ }   [from S-&gt;aAB: FIRST(B)-{e}={b}; since e in FIRST(B), add FOLLOW(S)={$}]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A1A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FOLLOW(B) = { $ }      [from S-&gt;aAB: add FOLLOW(S)={$}]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274320" y="4480560"/>
            <a:ext cx="8595360" cy="347472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" name="Text 15"/>
          <p:cNvSpPr/>
          <p:nvPr/>
        </p:nvSpPr>
        <p:spPr>
          <a:xfrm>
            <a:off x="457200" y="4498848"/>
            <a:ext cx="822960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left recursion, no left factoring needed — grammar is ready for LL(1) table construction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EEF2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365760" y="9144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 2 — Filling the LL(1) Table Step by Step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1005840"/>
            <a:ext cx="4160520" cy="896112"/>
          </a:xfrm>
          <a:prstGeom prst="rect">
            <a:avLst/>
          </a:prstGeom>
          <a:solidFill>
            <a:srgbClr val="FFFFFF"/>
          </a:solidFill>
          <a:ln w="12700">
            <a:solidFill>
              <a:srgbClr val="4F8EF7"/>
            </a:solidFill>
            <a:prstDash val="solid"/>
          </a:ln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274320" y="1005840"/>
            <a:ext cx="91440" cy="896112"/>
          </a:xfrm>
          <a:prstGeom prst="rect">
            <a:avLst/>
          </a:prstGeom>
          <a:solidFill>
            <a:srgbClr val="4F8EF7"/>
          </a:solidFill>
          <a:ln w="12700">
            <a:solidFill>
              <a:srgbClr val="4F8EF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Shape 4"/>
          <p:cNvSpPr/>
          <p:nvPr/>
        </p:nvSpPr>
        <p:spPr>
          <a:xfrm>
            <a:off x="3108960" y="1060704"/>
            <a:ext cx="1188720" cy="237744"/>
          </a:xfrm>
          <a:prstGeom prst="rect">
            <a:avLst/>
          </a:prstGeom>
          <a:solidFill>
            <a:srgbClr val="4F8EF7"/>
          </a:solidFill>
          <a:ln w="12700">
            <a:solidFill>
              <a:srgbClr val="4F8EF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3108960" y="1060704"/>
            <a:ext cx="11887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438912" y="1060704"/>
            <a:ext cx="2606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4F8E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 -&gt; aAB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38912" y="1335024"/>
            <a:ext cx="3840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A556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FIRST(aAB)={a}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438912" y="1572768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-&gt; Add S-&gt;aAB to M[S, a]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274320" y="2011680"/>
            <a:ext cx="4160520" cy="896112"/>
          </a:xfrm>
          <a:prstGeom prst="rect">
            <a:avLst/>
          </a:prstGeom>
          <a:solidFill>
            <a:srgbClr val="FFFFFF"/>
          </a:solidFill>
          <a:ln w="12700">
            <a:solidFill>
              <a:srgbClr val="4F8EF7"/>
            </a:solidFill>
            <a:prstDash val="solid"/>
          </a:ln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2" name="Shape 10"/>
          <p:cNvSpPr/>
          <p:nvPr/>
        </p:nvSpPr>
        <p:spPr>
          <a:xfrm>
            <a:off x="274320" y="2011680"/>
            <a:ext cx="91440" cy="896112"/>
          </a:xfrm>
          <a:prstGeom prst="rect">
            <a:avLst/>
          </a:prstGeom>
          <a:solidFill>
            <a:srgbClr val="4F8EF7"/>
          </a:solidFill>
          <a:ln w="12700">
            <a:solidFill>
              <a:srgbClr val="4F8EF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Shape 11"/>
          <p:cNvSpPr/>
          <p:nvPr/>
        </p:nvSpPr>
        <p:spPr>
          <a:xfrm>
            <a:off x="3108960" y="2066544"/>
            <a:ext cx="1188720" cy="237744"/>
          </a:xfrm>
          <a:prstGeom prst="rect">
            <a:avLst/>
          </a:prstGeom>
          <a:solidFill>
            <a:srgbClr val="4F8EF7"/>
          </a:solidFill>
          <a:ln w="12700">
            <a:solidFill>
              <a:srgbClr val="4F8EF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/>
          <p:nvPr/>
        </p:nvSpPr>
        <p:spPr>
          <a:xfrm>
            <a:off x="3108960" y="2066544"/>
            <a:ext cx="11887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438912" y="2066544"/>
            <a:ext cx="2606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4F8E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 -&gt; bA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38912" y="2340864"/>
            <a:ext cx="3840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A556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FIRST(bA)={b}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38912" y="2578608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-&gt; Add S-&gt;bA  to M[S, b]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74320" y="3017520"/>
            <a:ext cx="4160520" cy="896112"/>
          </a:xfrm>
          <a:prstGeom prst="rect">
            <a:avLst/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9" name="Shape 17"/>
          <p:cNvSpPr/>
          <p:nvPr/>
        </p:nvSpPr>
        <p:spPr>
          <a:xfrm>
            <a:off x="274320" y="3017520"/>
            <a:ext cx="91440" cy="89611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0" name="Shape 18"/>
          <p:cNvSpPr/>
          <p:nvPr/>
        </p:nvSpPr>
        <p:spPr>
          <a:xfrm>
            <a:off x="3108960" y="3072384"/>
            <a:ext cx="1188720" cy="23774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1" name="Text 19"/>
          <p:cNvSpPr/>
          <p:nvPr/>
        </p:nvSpPr>
        <p:spPr>
          <a:xfrm>
            <a:off x="3108960" y="3072384"/>
            <a:ext cx="11887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FOLLOW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438912" y="3072384"/>
            <a:ext cx="2606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200" b="1" dirty="0">
                <a:solidFill>
                  <a:srgbClr val="0D94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 -&gt; </a:t>
            </a:r>
            <a:r>
              <a:rPr lang="en-US" sz="1200" dirty="0">
                <a:solidFill>
                  <a:srgbClr val="1A1A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ε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438912" y="3346704"/>
            <a:ext cx="3840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000" dirty="0">
                <a:solidFill>
                  <a:srgbClr val="1A1A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ε</a:t>
            </a:r>
            <a:r>
              <a:rPr lang="en-US" sz="1000" dirty="0">
                <a:solidFill>
                  <a:srgbClr val="4A556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in FIRST -&gt; use FOLLOW(S)={$}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438912" y="3584448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1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-&gt; Add S-&gt;</a:t>
            </a:r>
            <a:r>
              <a:rPr lang="en-US" sz="1100" dirty="0">
                <a:solidFill>
                  <a:srgbClr val="1A1A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ε</a:t>
            </a:r>
            <a:r>
              <a:rPr lang="en-US" sz="11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to M[S, $]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274320" y="4023360"/>
            <a:ext cx="4160520" cy="896112"/>
          </a:xfrm>
          <a:prstGeom prst="rect">
            <a:avLst/>
          </a:prstGeom>
          <a:solidFill>
            <a:srgbClr val="FFFFFF"/>
          </a:solidFill>
          <a:ln w="12700">
            <a:solidFill>
              <a:srgbClr val="4F8EF7"/>
            </a:solidFill>
            <a:prstDash val="solid"/>
          </a:ln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6" name="Shape 24"/>
          <p:cNvSpPr/>
          <p:nvPr/>
        </p:nvSpPr>
        <p:spPr>
          <a:xfrm>
            <a:off x="274320" y="4023360"/>
            <a:ext cx="91440" cy="896112"/>
          </a:xfrm>
          <a:prstGeom prst="rect">
            <a:avLst/>
          </a:prstGeom>
          <a:solidFill>
            <a:srgbClr val="4F8EF7"/>
          </a:solidFill>
          <a:ln w="12700">
            <a:solidFill>
              <a:srgbClr val="4F8EF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7" name="Shape 25"/>
          <p:cNvSpPr/>
          <p:nvPr/>
        </p:nvSpPr>
        <p:spPr>
          <a:xfrm>
            <a:off x="3108960" y="4078224"/>
            <a:ext cx="1188720" cy="237744"/>
          </a:xfrm>
          <a:prstGeom prst="rect">
            <a:avLst/>
          </a:prstGeom>
          <a:solidFill>
            <a:srgbClr val="4F8EF7"/>
          </a:solidFill>
          <a:ln w="12700">
            <a:solidFill>
              <a:srgbClr val="4F8EF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8" name="Text 26"/>
          <p:cNvSpPr/>
          <p:nvPr/>
        </p:nvSpPr>
        <p:spPr>
          <a:xfrm>
            <a:off x="3108960" y="4078224"/>
            <a:ext cx="11887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438912" y="4078224"/>
            <a:ext cx="2606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4F8E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 -&gt; aAb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438912" y="4352544"/>
            <a:ext cx="3840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A556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FIRST(aAb)={a}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438912" y="4590288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-&gt; Add A-&gt;aAb to M[A, a]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4709160" y="1005840"/>
            <a:ext cx="4160520" cy="896112"/>
          </a:xfrm>
          <a:prstGeom prst="rect">
            <a:avLst/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3" name="Shape 31"/>
          <p:cNvSpPr/>
          <p:nvPr/>
        </p:nvSpPr>
        <p:spPr>
          <a:xfrm>
            <a:off x="4709160" y="1005840"/>
            <a:ext cx="91440" cy="89611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4" name="Shape 32"/>
          <p:cNvSpPr/>
          <p:nvPr/>
        </p:nvSpPr>
        <p:spPr>
          <a:xfrm>
            <a:off x="7543800" y="1060704"/>
            <a:ext cx="1188720" cy="23774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5" name="Text 33"/>
          <p:cNvSpPr/>
          <p:nvPr/>
        </p:nvSpPr>
        <p:spPr>
          <a:xfrm>
            <a:off x="7543800" y="1060704"/>
            <a:ext cx="11887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FOLLOW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4873752" y="1060704"/>
            <a:ext cx="2606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200" b="1" dirty="0">
                <a:solidFill>
                  <a:srgbClr val="0D94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 -&gt; </a:t>
            </a:r>
            <a:r>
              <a:rPr lang="en-US" sz="1200" dirty="0">
                <a:solidFill>
                  <a:srgbClr val="1A1A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ε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4873752" y="1335024"/>
            <a:ext cx="3840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000" dirty="0">
                <a:solidFill>
                  <a:srgbClr val="1A1A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ε</a:t>
            </a:r>
            <a:r>
              <a:rPr lang="en-US" sz="1000" dirty="0">
                <a:solidFill>
                  <a:srgbClr val="4A556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in FIRST -&gt; use FOLLOW(A)={b,$}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4873752" y="1572768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1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-&gt; Add A-&gt;</a:t>
            </a:r>
            <a:r>
              <a:rPr lang="en-US" sz="1100" dirty="0">
                <a:solidFill>
                  <a:srgbClr val="1A1A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ε</a:t>
            </a:r>
            <a:r>
              <a:rPr lang="en-US" sz="11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to M[A,b] and M[A,$]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4709160" y="1970671"/>
            <a:ext cx="4160520" cy="896112"/>
          </a:xfrm>
          <a:prstGeom prst="rect">
            <a:avLst/>
          </a:prstGeom>
          <a:solidFill>
            <a:srgbClr val="FFFFFF"/>
          </a:solidFill>
          <a:ln w="12700">
            <a:solidFill>
              <a:srgbClr val="4F8EF7"/>
            </a:solidFill>
            <a:prstDash val="solid"/>
          </a:ln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40" name="Shape 38"/>
          <p:cNvSpPr/>
          <p:nvPr/>
        </p:nvSpPr>
        <p:spPr>
          <a:xfrm>
            <a:off x="4709160" y="2011680"/>
            <a:ext cx="91440" cy="896112"/>
          </a:xfrm>
          <a:prstGeom prst="rect">
            <a:avLst/>
          </a:prstGeom>
          <a:solidFill>
            <a:srgbClr val="4F8EF7"/>
          </a:solidFill>
          <a:ln w="12700">
            <a:solidFill>
              <a:srgbClr val="4F8EF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1" name="Shape 39"/>
          <p:cNvSpPr/>
          <p:nvPr/>
        </p:nvSpPr>
        <p:spPr>
          <a:xfrm>
            <a:off x="7543800" y="2066544"/>
            <a:ext cx="1188720" cy="237744"/>
          </a:xfrm>
          <a:prstGeom prst="rect">
            <a:avLst/>
          </a:prstGeom>
          <a:solidFill>
            <a:srgbClr val="4F8EF7"/>
          </a:solidFill>
          <a:ln w="12700">
            <a:solidFill>
              <a:srgbClr val="4F8EF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2" name="Text 40"/>
          <p:cNvSpPr/>
          <p:nvPr/>
        </p:nvSpPr>
        <p:spPr>
          <a:xfrm>
            <a:off x="7543800" y="2066544"/>
            <a:ext cx="11887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4873752" y="2066544"/>
            <a:ext cx="2606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4F8E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 -&gt; bB</a:t>
            </a:r>
            <a:endParaRPr lang="en-US" sz="1200" dirty="0"/>
          </a:p>
        </p:txBody>
      </p:sp>
      <p:sp>
        <p:nvSpPr>
          <p:cNvPr id="44" name="Text 42"/>
          <p:cNvSpPr/>
          <p:nvPr/>
        </p:nvSpPr>
        <p:spPr>
          <a:xfrm>
            <a:off x="4873752" y="2340864"/>
            <a:ext cx="3840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A556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FIRST(bB)={b}</a:t>
            </a:r>
            <a:endParaRPr lang="en-US" sz="1000" dirty="0"/>
          </a:p>
        </p:txBody>
      </p:sp>
      <p:sp>
        <p:nvSpPr>
          <p:cNvPr id="45" name="Text 43"/>
          <p:cNvSpPr/>
          <p:nvPr/>
        </p:nvSpPr>
        <p:spPr>
          <a:xfrm>
            <a:off x="4873752" y="2578608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-&gt; Add B-&gt;bB  to M[B, b]</a:t>
            </a:r>
            <a:endParaRPr lang="en-US" sz="1100" dirty="0"/>
          </a:p>
        </p:txBody>
      </p:sp>
      <p:sp>
        <p:nvSpPr>
          <p:cNvPr id="46" name="Shape 44"/>
          <p:cNvSpPr/>
          <p:nvPr/>
        </p:nvSpPr>
        <p:spPr>
          <a:xfrm>
            <a:off x="4709160" y="3017520"/>
            <a:ext cx="4160520" cy="896112"/>
          </a:xfrm>
          <a:prstGeom prst="rect">
            <a:avLst/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47" name="Shape 45"/>
          <p:cNvSpPr/>
          <p:nvPr/>
        </p:nvSpPr>
        <p:spPr>
          <a:xfrm>
            <a:off x="4709160" y="3017520"/>
            <a:ext cx="91440" cy="89611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8" name="Shape 46"/>
          <p:cNvSpPr/>
          <p:nvPr/>
        </p:nvSpPr>
        <p:spPr>
          <a:xfrm>
            <a:off x="7543800" y="3072384"/>
            <a:ext cx="1188720" cy="23774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9" name="Text 47"/>
          <p:cNvSpPr/>
          <p:nvPr/>
        </p:nvSpPr>
        <p:spPr>
          <a:xfrm>
            <a:off x="7543800" y="3072384"/>
            <a:ext cx="11887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FOLLOW</a:t>
            </a:r>
            <a:endParaRPr lang="en-US" sz="900" dirty="0"/>
          </a:p>
        </p:txBody>
      </p:sp>
      <p:sp>
        <p:nvSpPr>
          <p:cNvPr id="50" name="Text 48"/>
          <p:cNvSpPr/>
          <p:nvPr/>
        </p:nvSpPr>
        <p:spPr>
          <a:xfrm>
            <a:off x="4873752" y="3072384"/>
            <a:ext cx="2606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200" b="1" dirty="0">
                <a:solidFill>
                  <a:srgbClr val="0D94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 -&gt; </a:t>
            </a:r>
            <a:r>
              <a:rPr lang="en-US" sz="1200" dirty="0">
                <a:solidFill>
                  <a:srgbClr val="1A1A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ε</a:t>
            </a:r>
            <a:endParaRPr lang="en-US" sz="1200" dirty="0"/>
          </a:p>
        </p:txBody>
      </p:sp>
      <p:sp>
        <p:nvSpPr>
          <p:cNvPr id="51" name="Text 49"/>
          <p:cNvSpPr/>
          <p:nvPr/>
        </p:nvSpPr>
        <p:spPr>
          <a:xfrm>
            <a:off x="4873752" y="3346704"/>
            <a:ext cx="3840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A556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 in FIRST -&gt; use FOLLOW(B)={$}</a:t>
            </a:r>
            <a:endParaRPr lang="en-US" sz="1000" dirty="0"/>
          </a:p>
        </p:txBody>
      </p:sp>
      <p:sp>
        <p:nvSpPr>
          <p:cNvPr id="52" name="Text 50"/>
          <p:cNvSpPr/>
          <p:nvPr/>
        </p:nvSpPr>
        <p:spPr>
          <a:xfrm>
            <a:off x="4873752" y="3584448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1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-&gt; Add B-&gt;</a:t>
            </a:r>
            <a:r>
              <a:rPr lang="en-US" sz="1100" dirty="0">
                <a:solidFill>
                  <a:srgbClr val="1A1A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ε</a:t>
            </a:r>
            <a:r>
              <a:rPr lang="en-US" sz="11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to M[B, $]</a:t>
            </a:r>
            <a:endParaRPr lang="en-US" sz="1100" dirty="0"/>
          </a:p>
        </p:txBody>
      </p:sp>
      <p:sp>
        <p:nvSpPr>
          <p:cNvPr id="53" name="Shape 51"/>
          <p:cNvSpPr/>
          <p:nvPr/>
        </p:nvSpPr>
        <p:spPr>
          <a:xfrm>
            <a:off x="274320" y="4663440"/>
            <a:ext cx="8595360" cy="32004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4" name="Text 52"/>
          <p:cNvSpPr/>
          <p:nvPr/>
        </p:nvSpPr>
        <p:spPr>
          <a:xfrm>
            <a:off x="457200" y="468172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Blue = FIRST rule  |  Teal = FOLLOW rule (when e in FIRST)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EEF2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5855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365760" y="91440"/>
            <a:ext cx="8229600" cy="619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 2 — LL(1) Table &amp; Parse Trace for 'aabb'</a:t>
            </a:r>
            <a:endParaRPr lang="en-US" sz="22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07110300"/>
              </p:ext>
            </p:extLst>
          </p:nvPr>
        </p:nvGraphicFramePr>
        <p:xfrm>
          <a:off x="182881" y="873252"/>
          <a:ext cx="5669280" cy="1371600"/>
        </p:xfrm>
        <a:graphic>
          <a:graphicData uri="http://schemas.openxmlformats.org/drawingml/2006/table">
            <a:tbl>
              <a:tblPr/>
              <a:tblGrid>
                <a:gridCol w="6400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916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916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72473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AAAA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AAA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AAA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AAA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4A8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a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AAAA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AAA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AAA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AAA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4A8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b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AAAA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AAA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AAA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AAA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4A8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$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AAAA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AAA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AAA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AAA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4A8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1E2761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S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AAAA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AAA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AAA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AAA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E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A1A2E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S-&gt;aAB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AAAA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AAA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AAA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AAA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A1A2E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S-&gt;bA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AAAA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AAA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AAA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AAA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A1A2E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S-&gt;ε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AAAA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AAA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AAA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AAA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1E2761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A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AAAA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AAA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AAA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AAA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E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A1A2E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A-&gt;aAb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AAAA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AAA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AAA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AAA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A1A2E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A-&gt;ε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AAAA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AAA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AAA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AAA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A1A2E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A-&gt;ε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AAAA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AAA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AAA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AAA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1E2761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B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AAAA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AAA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AAA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AAA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E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AAAA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AAA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AAA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AAA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A1A2E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B-&gt;bB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AAAA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AAA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AAA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AAA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A1A2E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B-&gt;ε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AAAA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AAA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AAA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AAA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5943600" y="848360"/>
            <a:ext cx="2743200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4F8EF7"/>
            </a:solidFill>
            <a:prstDash val="solid"/>
          </a:ln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6" name="Text 3"/>
          <p:cNvSpPr/>
          <p:nvPr/>
        </p:nvSpPr>
        <p:spPr>
          <a:xfrm>
            <a:off x="6126480" y="1091323"/>
            <a:ext cx="2651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E4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Notes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6172200" y="1389888"/>
            <a:ext cx="26517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cells have at most 1 production. Grammar IS LL(1). 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91440" y="2327148"/>
            <a:ext cx="8595360" cy="347472"/>
          </a:xfrm>
          <a:prstGeom prst="rect">
            <a:avLst/>
          </a:prstGeom>
          <a:solidFill>
            <a:srgbClr val="2E4A8F"/>
          </a:solidFill>
          <a:ln w="12700">
            <a:solidFill>
              <a:srgbClr val="2E4A8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Text 6"/>
          <p:cNvSpPr/>
          <p:nvPr/>
        </p:nvSpPr>
        <p:spPr>
          <a:xfrm>
            <a:off x="91440" y="2284406"/>
            <a:ext cx="822960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Parse Trace — Input: '</a:t>
            </a:r>
            <a:r>
              <a:rPr lang="en-US" sz="130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aabb</a:t>
            </a: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'</a:t>
            </a:r>
            <a:endParaRPr lang="en-US" sz="1300" dirty="0"/>
          </a:p>
        </p:txBody>
      </p:sp>
      <p:graphicFrame>
        <p:nvGraphicFramePr>
          <p:cNvPr id="25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12915478"/>
              </p:ext>
            </p:extLst>
          </p:nvPr>
        </p:nvGraphicFramePr>
        <p:xfrm>
          <a:off x="91440" y="2747773"/>
          <a:ext cx="8595360" cy="2766060"/>
        </p:xfrm>
        <a:graphic>
          <a:graphicData uri="http://schemas.openxmlformats.org/drawingml/2006/table">
            <a:tbl>
              <a:tblPr/>
              <a:tblGrid>
                <a:gridCol w="16459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373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2120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91193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Stack</a:t>
                      </a:r>
                      <a:endParaRPr lang="en-US" sz="10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AAAA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AAA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AAA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AAA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Input</a:t>
                      </a:r>
                      <a:endParaRPr lang="en-US" sz="10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AAAA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AAA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AAA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AAA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Action</a:t>
                      </a:r>
                      <a:endParaRPr lang="en-US" sz="10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AAAA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AAA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AAA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AAA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91193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A1A2E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$S</a:t>
                      </a:r>
                      <a:endParaRPr lang="en-US" sz="10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AAAA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AAA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AAA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AAA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A1A2E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aabb$</a:t>
                      </a:r>
                      <a:endParaRPr lang="en-US" sz="10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AAAA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AAA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AAA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AAA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A1A2E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S-&gt;aAB   [M[S,a]]</a:t>
                      </a:r>
                      <a:endParaRPr lang="en-US" sz="10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AAAA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AAA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AAA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AAA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91193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A1A2E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$BAa</a:t>
                      </a:r>
                      <a:endParaRPr lang="en-US" sz="10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AAAA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AAA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AAA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AAA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A1A2E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aabb$</a:t>
                      </a:r>
                      <a:endParaRPr lang="en-US" sz="10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AAAA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AAA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AAA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AAA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A1A2E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Pop a</a:t>
                      </a:r>
                      <a:endParaRPr lang="en-US" sz="10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AAAA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AAA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AAA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AAA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91193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A1A2E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$BA</a:t>
                      </a:r>
                      <a:endParaRPr lang="en-US" sz="10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AAAA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AAA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AAA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AAA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A1A2E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abb$</a:t>
                      </a:r>
                      <a:endParaRPr lang="en-US" sz="10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AAAA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AAA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AAA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AAA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A1A2E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A-&gt;aAb   [M[A,a]]</a:t>
                      </a:r>
                      <a:endParaRPr lang="en-US" sz="10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AAAA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AAA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AAA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AAA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91193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A1A2E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$BbAa</a:t>
                      </a:r>
                      <a:endParaRPr lang="en-US" sz="10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AAAA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AAA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AAA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AAA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A1A2E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abb$</a:t>
                      </a:r>
                      <a:endParaRPr lang="en-US" sz="10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AAAA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AAA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AAA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AAA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A1A2E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Pop a</a:t>
                      </a:r>
                      <a:endParaRPr lang="en-US" sz="10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AAAA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AAA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AAA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AAA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91193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A1A2E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$BbA</a:t>
                      </a:r>
                      <a:endParaRPr lang="en-US" sz="10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AAAA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AAA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AAA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AAA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A1A2E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bb$</a:t>
                      </a:r>
                      <a:endParaRPr lang="en-US" sz="10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AAAA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AAA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AAA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AAA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A1A2E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A-&gt;ε     [M[A,b]]</a:t>
                      </a:r>
                      <a:endParaRPr lang="en-US" sz="10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AAAA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AAA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AAA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AAA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91193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A1A2E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$Bb</a:t>
                      </a:r>
                      <a:endParaRPr lang="en-US" sz="10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AAAA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AAA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AAA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AAA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A1A2E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bb$</a:t>
                      </a:r>
                      <a:endParaRPr lang="en-US" sz="10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AAAA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AAA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AAA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AAA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A1A2E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Pop b</a:t>
                      </a:r>
                      <a:endParaRPr lang="en-US" sz="10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AAAA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AAA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AAA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AAA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191193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A1A2E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$B</a:t>
                      </a:r>
                      <a:endParaRPr lang="en-US" sz="10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AAAA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AAA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AAA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AAA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A1A2E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b$</a:t>
                      </a:r>
                      <a:endParaRPr lang="en-US" sz="10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AAAA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AAA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AAA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AAA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A1A2E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B-&gt;bB    [M[B,b]]</a:t>
                      </a:r>
                      <a:endParaRPr lang="en-US" sz="10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AAAA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AAA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AAA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AAA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191193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A1A2E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$Bb</a:t>
                      </a:r>
                      <a:endParaRPr lang="en-US" sz="10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AAAA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AAA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AAA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AAA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A1A2E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b$</a:t>
                      </a:r>
                      <a:endParaRPr lang="en-US" sz="10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AAAA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AAA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AAA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AAA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A1A2E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Pop b</a:t>
                      </a:r>
                      <a:endParaRPr lang="en-US" sz="10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AAAA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AAA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AAA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AAA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191193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A1A2E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$B</a:t>
                      </a:r>
                      <a:endParaRPr lang="en-US" sz="10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AAAA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AAA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AAA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AAA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A1A2E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$</a:t>
                      </a:r>
                      <a:endParaRPr lang="en-US" sz="10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AAAA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AAA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AAA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AAA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A1A2E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B-&gt;ε     [M[B,$]]</a:t>
                      </a:r>
                      <a:endParaRPr lang="en-US" sz="10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AAAA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AAA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AAA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AAA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191193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A1A2E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$</a:t>
                      </a:r>
                      <a:endParaRPr lang="en-US" sz="10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AAAA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AAA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AAA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AAA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A1A2E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$</a:t>
                      </a:r>
                      <a:endParaRPr lang="en-US" sz="10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AAAA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AAA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AAA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AAA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A1A2E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Accepted!</a:t>
                      </a:r>
                      <a:endParaRPr lang="en-US" sz="10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AAAA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AAA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AAA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AAA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EEF2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365760" y="9144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 3 — Eliminate Left Recursion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274320" y="1005840"/>
            <a:ext cx="3931920" cy="1645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53E3E"/>
            </a:solidFill>
            <a:prstDash val="solid"/>
          </a:ln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274320" y="1005840"/>
            <a:ext cx="3931920" cy="384048"/>
          </a:xfrm>
          <a:prstGeom prst="rect">
            <a:avLst/>
          </a:prstGeom>
          <a:solidFill>
            <a:srgbClr val="E53E3E"/>
          </a:solidFill>
          <a:ln w="12700">
            <a:solidFill>
              <a:srgbClr val="E53E3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274320" y="1005840"/>
            <a:ext cx="3931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Original (Left Recursive)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1463040"/>
            <a:ext cx="3657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1A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 -&gt; (L) | a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A1A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 -&gt; L,S | S   !! Left Recursive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343400" y="1645920"/>
            <a:ext cx="457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2E4A8F"/>
                </a:solidFill>
              </a:rPr>
              <a:t>=&gt;</a:t>
            </a:r>
            <a:endParaRPr lang="en-US" sz="2200" dirty="0"/>
          </a:p>
        </p:txBody>
      </p:sp>
      <p:sp>
        <p:nvSpPr>
          <p:cNvPr id="9" name="Shape 7"/>
          <p:cNvSpPr/>
          <p:nvPr/>
        </p:nvSpPr>
        <p:spPr>
          <a:xfrm>
            <a:off x="4937760" y="1005840"/>
            <a:ext cx="3931920" cy="1645920"/>
          </a:xfrm>
          <a:prstGeom prst="rect">
            <a:avLst/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0" name="Shape 8"/>
          <p:cNvSpPr/>
          <p:nvPr/>
        </p:nvSpPr>
        <p:spPr>
          <a:xfrm>
            <a:off x="4937760" y="1005840"/>
            <a:ext cx="3931920" cy="38404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/>
          <p:nvPr/>
        </p:nvSpPr>
        <p:spPr>
          <a:xfrm>
            <a:off x="4937760" y="1005840"/>
            <a:ext cx="3931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Elimination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5120640" y="1463040"/>
            <a:ext cx="3657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1A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  -&gt; (L) | a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A1A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  -&gt; SL'</a:t>
            </a:r>
            <a:endParaRPr lang="en-US" sz="1300" dirty="0"/>
          </a:p>
          <a:p>
            <a:r>
              <a:rPr lang="en-US" sz="1300" dirty="0">
                <a:solidFill>
                  <a:srgbClr val="1A1A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L' -&gt; ,SL' | </a:t>
            </a:r>
            <a:r>
              <a:rPr lang="en-US" sz="1400" dirty="0">
                <a:solidFill>
                  <a:srgbClr val="1A1A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ε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274320" y="2747773"/>
            <a:ext cx="8595360" cy="2011680"/>
          </a:xfrm>
          <a:prstGeom prst="rect">
            <a:avLst/>
          </a:prstGeom>
          <a:solidFill>
            <a:srgbClr val="FFFFFF"/>
          </a:solidFill>
          <a:ln w="12700">
            <a:solidFill>
              <a:srgbClr val="2E4A8F"/>
            </a:solidFill>
            <a:prstDash val="solid"/>
          </a:ln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4" name="Shape 12"/>
          <p:cNvSpPr/>
          <p:nvPr/>
        </p:nvSpPr>
        <p:spPr>
          <a:xfrm>
            <a:off x="274320" y="2788920"/>
            <a:ext cx="8595360" cy="347472"/>
          </a:xfrm>
          <a:prstGeom prst="rect">
            <a:avLst/>
          </a:prstGeom>
          <a:solidFill>
            <a:srgbClr val="2E4A8F"/>
          </a:solidFill>
          <a:ln w="12700">
            <a:solidFill>
              <a:srgbClr val="2E4A8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" name="Text 13"/>
          <p:cNvSpPr/>
          <p:nvPr/>
        </p:nvSpPr>
        <p:spPr>
          <a:xfrm>
            <a:off x="274320" y="2788920"/>
            <a:ext cx="8595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&amp; FOLLOW Sets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57200" y="3200400"/>
            <a:ext cx="8229600" cy="1508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A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FIRST(S)  = { (, a }         FOLLOW(S)  = { $, ) }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A1A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FIRST(L)  = { (, a }         FOLLOW(L)  = { ) }</a:t>
            </a:r>
            <a:endParaRPr lang="en-US" sz="1200" dirty="0"/>
          </a:p>
          <a:p>
            <a:r>
              <a:rPr lang="en-US" sz="1200" dirty="0">
                <a:solidFill>
                  <a:srgbClr val="1A1A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FIRST(L') = { ,, ε }         FOLLOW(L') = FOLLOW(L) = { ) }</a:t>
            </a:r>
            <a:endParaRPr lang="en-US" sz="12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EEF2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365760" y="9144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 3 — LL(1) Table &amp; Parse Trace for '(a)'</a:t>
            </a:r>
            <a:endParaRPr lang="en-US" sz="2200" dirty="0"/>
          </a:p>
        </p:txBody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78118463"/>
              </p:ext>
            </p:extLst>
          </p:nvPr>
        </p:nvGraphicFramePr>
        <p:xfrm>
          <a:off x="274320" y="1005840"/>
          <a:ext cx="8595360" cy="1371600"/>
        </p:xfrm>
        <a:graphic>
          <a:graphicData uri="http://schemas.openxmlformats.org/drawingml/2006/table">
            <a:tbl>
              <a:tblPr/>
              <a:tblGrid>
                <a:gridCol w="6400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544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01168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429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AAAA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AAA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AAA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AAA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4A8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(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AAAA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AAA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AAA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AAA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4A8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)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AAAA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AAA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AAA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AAA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4A8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a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AAAA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AAA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AAA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AAA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4A8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,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AAAA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AAA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AAA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AAA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4A8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$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AAAA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AAA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AAA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AAA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4A8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1E2761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S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AAAA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AAA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AAA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AAA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E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S-&gt;(L)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AAAA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AAA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AAA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AAA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AAAA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AAA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AAA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AAA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S-&gt;a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AAAA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AAA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AAA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AAA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AAAA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AAA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AAA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AAA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AAAA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AAA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AAA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AAA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1E2761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L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AAAA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AAA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AAA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AAA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E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L-&gt;SL'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AAAA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AAA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AAA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AAA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AAAA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AAA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AAA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AAA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L-&gt;SL'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AAAA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AAA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AAA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AAA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AAAA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AAA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AAA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AAA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AAAA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AAA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AAA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AAA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1E2761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L'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AAAA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AAA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AAA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AAA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E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AAAA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AAA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AAA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AAA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L'-&gt;ε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AAAA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AAA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AAA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AAA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AAAA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AAA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AAA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AAA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L'-&gt;,SL'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AAAA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AAA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AAA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AAA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L'-&gt;ε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AAAA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AAA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AAA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AAA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274320" y="2468880"/>
            <a:ext cx="8595360" cy="347472"/>
          </a:xfrm>
          <a:prstGeom prst="rect">
            <a:avLst/>
          </a:prstGeom>
          <a:solidFill>
            <a:srgbClr val="2E4A8F"/>
          </a:solidFill>
          <a:ln w="12700">
            <a:solidFill>
              <a:srgbClr val="2E4A8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Text 3"/>
          <p:cNvSpPr/>
          <p:nvPr/>
        </p:nvSpPr>
        <p:spPr>
          <a:xfrm>
            <a:off x="457200" y="2487168"/>
            <a:ext cx="822960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Parse Trace — Input: '(a)$'</a:t>
            </a:r>
            <a:endParaRPr lang="en-US" sz="1300" dirty="0"/>
          </a:p>
        </p:txBody>
      </p:sp>
      <p:graphicFrame>
        <p:nvGraphicFramePr>
          <p:cNvPr id="29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36489863"/>
              </p:ext>
            </p:extLst>
          </p:nvPr>
        </p:nvGraphicFramePr>
        <p:xfrm>
          <a:off x="274320" y="2862072"/>
          <a:ext cx="8595360" cy="2331720"/>
        </p:xfrm>
        <a:graphic>
          <a:graphicData uri="http://schemas.openxmlformats.org/drawingml/2006/table">
            <a:tbl>
              <a:tblPr/>
              <a:tblGrid>
                <a:gridCol w="1828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9377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489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Stack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AAAA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AAA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AAA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AAA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Input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AAAA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AAA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AAA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AAA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Action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AAAA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AAA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AAA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AAA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489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$S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AAAA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AAA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AAA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AAA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(a)$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AAAA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AAA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AAA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AAA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S-&gt;(L)   [M[S,(]]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AAAA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AAA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AAA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AAA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489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$)L(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AAAA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AAA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AAA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AAA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(a)$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AAAA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AAA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AAA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AAA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Pop (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AAAA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AAA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AAA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AAA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489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$)L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AAAA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AAA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AAA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AAA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a)$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AAAA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AAA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AAA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AAA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L-&gt;SL'  [M[L,a]]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AAAA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AAA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AAA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AAA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489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$)L'S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AAAA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AAA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AAA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AAA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a)$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AAAA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AAA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AAA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AAA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S-&gt;a    [M[S,a]]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AAAA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AAA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AAA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AAA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489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$)L'a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AAAA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AAA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AAA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AAA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a)$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AAAA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AAA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AAA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AAA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Pop a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AAAA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AAA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AAA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AAA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489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$)L'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AAAA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AAA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AAA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AAA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)$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AAAA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AAA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AAA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AAA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L'-&gt;ε   [M[L',)]]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AAAA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AAA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AAA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AAA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489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$)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AAAA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AAA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AAA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AAA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)$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AAAA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AAA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AAA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AAA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Pop )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AAAA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AAA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AAA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AAA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489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$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AAAA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AAA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AAA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AAA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$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AAAA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AAA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AAA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AAA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Accepted!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AAAA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AAA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AAA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AAA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EEF2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Shape 2">
            <a:extLst>
              <a:ext uri="{FF2B5EF4-FFF2-40B4-BE49-F238E27FC236}">
                <a16:creationId xmlns:a16="http://schemas.microsoft.com/office/drawing/2014/main" id="{DC63925A-23B3-7D9F-D8EA-B40D4EE1EEF2}"/>
              </a:ext>
            </a:extLst>
          </p:cNvPr>
          <p:cNvSpPr/>
          <p:nvPr/>
        </p:nvSpPr>
        <p:spPr>
          <a:xfrm>
            <a:off x="341053" y="960120"/>
            <a:ext cx="3931920" cy="2377440"/>
          </a:xfrm>
          <a:prstGeom prst="rect">
            <a:avLst/>
          </a:prstGeom>
          <a:solidFill>
            <a:srgbClr val="FFFFFF"/>
          </a:solidFill>
          <a:ln w="12700">
            <a:solidFill>
              <a:srgbClr val="2E4A8F"/>
            </a:solidFill>
            <a:prstDash val="solid"/>
          </a:ln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r>
              <a:rPr lang="en-US" dirty="0">
                <a:solidFill>
                  <a:srgbClr val="1A1A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  -&gt; TE’</a:t>
            </a:r>
          </a:p>
          <a:p>
            <a:endParaRPr lang="en-US" dirty="0">
              <a:solidFill>
                <a:srgbClr val="1A1A2E"/>
              </a:solidFill>
              <a:latin typeface="Consolas" pitchFamily="34" charset="0"/>
            </a:endParaRPr>
          </a:p>
          <a:p>
            <a:r>
              <a:rPr lang="en-US" dirty="0">
                <a:solidFill>
                  <a:srgbClr val="1A1A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  -&gt; E + T | T</a:t>
            </a:r>
            <a:endParaRPr lang="en-US" dirty="0"/>
          </a:p>
          <a:p>
            <a:r>
              <a:rPr lang="en-US" dirty="0">
                <a:solidFill>
                  <a:srgbClr val="1A1A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 -&gt; T * F | F</a:t>
            </a:r>
            <a:endParaRPr lang="en-US" dirty="0"/>
          </a:p>
          <a:p>
            <a:r>
              <a:rPr lang="en-US" dirty="0">
                <a:solidFill>
                  <a:srgbClr val="1A1A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  -&gt; (E) | id</a:t>
            </a:r>
            <a:endParaRPr lang="en-US" dirty="0"/>
          </a:p>
          <a:p>
            <a:endParaRPr lang="en-US" dirty="0"/>
          </a:p>
        </p:txBody>
      </p:sp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365760" y="9144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 3 — Expression Grammar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663440" y="1005840"/>
            <a:ext cx="3931920" cy="2377440"/>
          </a:xfrm>
          <a:prstGeom prst="rect">
            <a:avLst/>
          </a:prstGeom>
          <a:solidFill>
            <a:srgbClr val="FFFFFF"/>
          </a:solidFill>
          <a:ln w="12700">
            <a:solidFill>
              <a:srgbClr val="2E4A8F"/>
            </a:solidFill>
            <a:prstDash val="solid"/>
          </a:ln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4705465" y="1005840"/>
            <a:ext cx="3931920" cy="384048"/>
          </a:xfrm>
          <a:prstGeom prst="rect">
            <a:avLst/>
          </a:prstGeom>
          <a:solidFill>
            <a:srgbClr val="2E4A8F"/>
          </a:solidFill>
          <a:ln w="12700">
            <a:solidFill>
              <a:srgbClr val="2E4A8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4431145" y="1051560"/>
            <a:ext cx="3931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Grammar (after LR removal)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979785" y="1435608"/>
            <a:ext cx="36576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1A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  -&gt; TE'</a:t>
            </a:r>
            <a:endParaRPr lang="en-US" sz="1300" dirty="0"/>
          </a:p>
          <a:p>
            <a:r>
              <a:rPr lang="en-US" sz="1300" dirty="0">
                <a:solidFill>
                  <a:srgbClr val="1A1A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E' -&gt; +TE' | </a:t>
            </a:r>
            <a:r>
              <a:rPr lang="en-US" sz="1200" dirty="0">
                <a:solidFill>
                  <a:srgbClr val="1A1A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ε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A1A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  -&gt; FT'</a:t>
            </a:r>
            <a:endParaRPr lang="en-US" sz="1300" dirty="0"/>
          </a:p>
          <a:p>
            <a:r>
              <a:rPr lang="en-US" sz="1300" dirty="0">
                <a:solidFill>
                  <a:srgbClr val="1A1A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T' -&gt; *FT' | </a:t>
            </a:r>
            <a:r>
              <a:rPr lang="en-US" sz="1200" dirty="0">
                <a:solidFill>
                  <a:srgbClr val="1A1A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ε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A1A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  -&gt; (E) | id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389120" y="1005840"/>
            <a:ext cx="44805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274320" y="3520440"/>
            <a:ext cx="8595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FOLLOW Sets</a:t>
            </a:r>
            <a:endParaRPr lang="en-US" sz="1300" dirty="0"/>
          </a:p>
        </p:txBody>
      </p:sp>
      <p:sp>
        <p:nvSpPr>
          <p:cNvPr id="17" name="Shape 3">
            <a:extLst>
              <a:ext uri="{FF2B5EF4-FFF2-40B4-BE49-F238E27FC236}">
                <a16:creationId xmlns:a16="http://schemas.microsoft.com/office/drawing/2014/main" id="{DA5D23B0-704F-4124-D3D8-3D6F1929B7D8}"/>
              </a:ext>
            </a:extLst>
          </p:cNvPr>
          <p:cNvSpPr/>
          <p:nvPr/>
        </p:nvSpPr>
        <p:spPr>
          <a:xfrm>
            <a:off x="362065" y="1042416"/>
            <a:ext cx="3931920" cy="384048"/>
          </a:xfrm>
          <a:prstGeom prst="rect">
            <a:avLst/>
          </a:prstGeom>
          <a:solidFill>
            <a:srgbClr val="2E4A8F"/>
          </a:solidFill>
          <a:ln w="12700">
            <a:solidFill>
              <a:srgbClr val="2E4A8F"/>
            </a:solidFill>
            <a:prstDash val="solid"/>
          </a:ln>
        </p:spPr>
        <p:txBody>
          <a:bodyPr/>
          <a:lstStyle/>
          <a:p>
            <a:r>
              <a:rPr lang="en-US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Grammar </a:t>
            </a:r>
            <a:endParaRPr lang="en-US" dirty="0"/>
          </a:p>
          <a:p>
            <a:endParaRPr lang="en-IN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EF2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5760918-2AF9-FEEB-A3E1-CB5683B9C3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9AFCA101-29EA-1F2C-A2AD-FDCB2D678821}"/>
              </a:ext>
            </a:extLst>
          </p:cNvPr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01AD5277-AB1A-927D-E5E2-00F532469B8D}"/>
              </a:ext>
            </a:extLst>
          </p:cNvPr>
          <p:cNvSpPr/>
          <p:nvPr/>
        </p:nvSpPr>
        <p:spPr>
          <a:xfrm>
            <a:off x="365760" y="9144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 3 — Expression Grammar</a:t>
            </a:r>
            <a:endParaRPr lang="en-US" sz="2400" dirty="0"/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B9D33F4E-E0D2-5897-853B-F715E2190A33}"/>
              </a:ext>
            </a:extLst>
          </p:cNvPr>
          <p:cNvSpPr/>
          <p:nvPr/>
        </p:nvSpPr>
        <p:spPr>
          <a:xfrm>
            <a:off x="274320" y="1005840"/>
            <a:ext cx="3931920" cy="2377440"/>
          </a:xfrm>
          <a:prstGeom prst="rect">
            <a:avLst/>
          </a:prstGeom>
          <a:solidFill>
            <a:srgbClr val="FFFFFF"/>
          </a:solidFill>
          <a:ln w="12700">
            <a:solidFill>
              <a:srgbClr val="2E4A8F"/>
            </a:solidFill>
            <a:prstDash val="solid"/>
          </a:ln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AC2037D2-4AA4-E3EF-C062-ECF657C9C09C}"/>
              </a:ext>
            </a:extLst>
          </p:cNvPr>
          <p:cNvSpPr/>
          <p:nvPr/>
        </p:nvSpPr>
        <p:spPr>
          <a:xfrm>
            <a:off x="274320" y="1005840"/>
            <a:ext cx="3931920" cy="384048"/>
          </a:xfrm>
          <a:prstGeom prst="rect">
            <a:avLst/>
          </a:prstGeom>
          <a:solidFill>
            <a:srgbClr val="2E4A8F"/>
          </a:solidFill>
          <a:ln w="12700">
            <a:solidFill>
              <a:srgbClr val="2E4A8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9783826F-92CD-D539-68D2-0BD0C43E319E}"/>
              </a:ext>
            </a:extLst>
          </p:cNvPr>
          <p:cNvSpPr/>
          <p:nvPr/>
        </p:nvSpPr>
        <p:spPr>
          <a:xfrm>
            <a:off x="274320" y="1005840"/>
            <a:ext cx="3931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Grammar (after LR removal)</a:t>
            </a:r>
            <a:endParaRPr lang="en-US" sz="1200" dirty="0"/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AE108CD8-9A93-9359-D238-091C6FFE5B2E}"/>
              </a:ext>
            </a:extLst>
          </p:cNvPr>
          <p:cNvSpPr/>
          <p:nvPr/>
        </p:nvSpPr>
        <p:spPr>
          <a:xfrm>
            <a:off x="457200" y="1463040"/>
            <a:ext cx="36576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1A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  -&gt; TE'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A1A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E' -&gt; +TE' | e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A1A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  -&gt; FT'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A1A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T' -&gt; *FT' | e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A1A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  -&gt; (E) | id</a:t>
            </a:r>
            <a:endParaRPr lang="en-US" sz="1300" dirty="0"/>
          </a:p>
        </p:txBody>
      </p:sp>
      <p:sp>
        <p:nvSpPr>
          <p:cNvPr id="8" name="Shape 6">
            <a:extLst>
              <a:ext uri="{FF2B5EF4-FFF2-40B4-BE49-F238E27FC236}">
                <a16:creationId xmlns:a16="http://schemas.microsoft.com/office/drawing/2014/main" id="{89346F4B-9182-4680-1FFA-D05ED9822127}"/>
              </a:ext>
            </a:extLst>
          </p:cNvPr>
          <p:cNvSpPr/>
          <p:nvPr/>
        </p:nvSpPr>
        <p:spPr>
          <a:xfrm>
            <a:off x="4389120" y="1005840"/>
            <a:ext cx="4480560" cy="2377440"/>
          </a:xfrm>
          <a:prstGeom prst="rect">
            <a:avLst/>
          </a:prstGeom>
          <a:solidFill>
            <a:srgbClr val="FFFFFF"/>
          </a:solidFill>
          <a:ln w="12700">
            <a:solidFill>
              <a:srgbClr val="4F8EF7"/>
            </a:solidFill>
            <a:prstDash val="solid"/>
          </a:ln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9" name="Shape 7">
            <a:extLst>
              <a:ext uri="{FF2B5EF4-FFF2-40B4-BE49-F238E27FC236}">
                <a16:creationId xmlns:a16="http://schemas.microsoft.com/office/drawing/2014/main" id="{BC7567B2-08A2-0C5B-54BA-FCD887CADB03}"/>
              </a:ext>
            </a:extLst>
          </p:cNvPr>
          <p:cNvSpPr/>
          <p:nvPr/>
        </p:nvSpPr>
        <p:spPr>
          <a:xfrm>
            <a:off x="4389120" y="1005840"/>
            <a:ext cx="4480560" cy="384048"/>
          </a:xfrm>
          <a:prstGeom prst="rect">
            <a:avLst/>
          </a:prstGeom>
          <a:solidFill>
            <a:srgbClr val="4F8EF7"/>
          </a:solidFill>
          <a:ln w="12700">
            <a:solidFill>
              <a:srgbClr val="4F8EF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Text 8">
            <a:extLst>
              <a:ext uri="{FF2B5EF4-FFF2-40B4-BE49-F238E27FC236}">
                <a16:creationId xmlns:a16="http://schemas.microsoft.com/office/drawing/2014/main" id="{8375EDDD-679E-00B3-16C8-55299C230B90}"/>
              </a:ext>
            </a:extLst>
          </p:cNvPr>
          <p:cNvSpPr/>
          <p:nvPr/>
        </p:nvSpPr>
        <p:spPr>
          <a:xfrm>
            <a:off x="4389120" y="1005840"/>
            <a:ext cx="44805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Sets</a:t>
            </a:r>
            <a:endParaRPr lang="en-US" sz="1300" dirty="0"/>
          </a:p>
        </p:txBody>
      </p:sp>
      <p:sp>
        <p:nvSpPr>
          <p:cNvPr id="11" name="Text 9">
            <a:extLst>
              <a:ext uri="{FF2B5EF4-FFF2-40B4-BE49-F238E27FC236}">
                <a16:creationId xmlns:a16="http://schemas.microsoft.com/office/drawing/2014/main" id="{5278A46E-36E1-6632-7F5B-3A7AC548F8A9}"/>
              </a:ext>
            </a:extLst>
          </p:cNvPr>
          <p:cNvSpPr/>
          <p:nvPr/>
        </p:nvSpPr>
        <p:spPr>
          <a:xfrm>
            <a:off x="4572000" y="1463040"/>
            <a:ext cx="41148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A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FIRST(E)  = { (, id }</a:t>
            </a:r>
            <a:endParaRPr lang="en-US" sz="1200" dirty="0"/>
          </a:p>
          <a:p>
            <a:r>
              <a:rPr lang="en-US" sz="1200" dirty="0">
                <a:solidFill>
                  <a:srgbClr val="1A1A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FIRST(E') = { +, ε }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A1A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FIRST(T)  = { (, id }</a:t>
            </a:r>
            <a:endParaRPr lang="en-US" sz="1200" dirty="0"/>
          </a:p>
          <a:p>
            <a:r>
              <a:rPr lang="en-US" sz="1200" dirty="0">
                <a:solidFill>
                  <a:srgbClr val="1A1A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FIRST(T') = { *, ε }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A1A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FIRST(F)  = { (, id }</a:t>
            </a:r>
            <a:endParaRPr lang="en-US" sz="1200" dirty="0"/>
          </a:p>
        </p:txBody>
      </p:sp>
      <p:sp>
        <p:nvSpPr>
          <p:cNvPr id="12" name="Shape 10">
            <a:extLst>
              <a:ext uri="{FF2B5EF4-FFF2-40B4-BE49-F238E27FC236}">
                <a16:creationId xmlns:a16="http://schemas.microsoft.com/office/drawing/2014/main" id="{E24E6415-6CBB-0342-C12D-0B86BEE8262F}"/>
              </a:ext>
            </a:extLst>
          </p:cNvPr>
          <p:cNvSpPr/>
          <p:nvPr/>
        </p:nvSpPr>
        <p:spPr>
          <a:xfrm>
            <a:off x="274320" y="3520440"/>
            <a:ext cx="859536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3" name="Shape 11">
            <a:extLst>
              <a:ext uri="{FF2B5EF4-FFF2-40B4-BE49-F238E27FC236}">
                <a16:creationId xmlns:a16="http://schemas.microsoft.com/office/drawing/2014/main" id="{ED42656F-07AD-C0D0-DC8A-B84F97770F18}"/>
              </a:ext>
            </a:extLst>
          </p:cNvPr>
          <p:cNvSpPr/>
          <p:nvPr/>
        </p:nvSpPr>
        <p:spPr>
          <a:xfrm>
            <a:off x="274320" y="3520440"/>
            <a:ext cx="8595360" cy="34747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" name="Text 12">
            <a:extLst>
              <a:ext uri="{FF2B5EF4-FFF2-40B4-BE49-F238E27FC236}">
                <a16:creationId xmlns:a16="http://schemas.microsoft.com/office/drawing/2014/main" id="{89CAB59D-7724-889C-C51D-F717045A8DAC}"/>
              </a:ext>
            </a:extLst>
          </p:cNvPr>
          <p:cNvSpPr/>
          <p:nvPr/>
        </p:nvSpPr>
        <p:spPr>
          <a:xfrm>
            <a:off x="274320" y="3520440"/>
            <a:ext cx="8595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FOLLOW Sets</a:t>
            </a:r>
            <a:endParaRPr lang="en-US" sz="1300" dirty="0"/>
          </a:p>
        </p:txBody>
      </p:sp>
      <p:sp>
        <p:nvSpPr>
          <p:cNvPr id="15" name="Text 13">
            <a:extLst>
              <a:ext uri="{FF2B5EF4-FFF2-40B4-BE49-F238E27FC236}">
                <a16:creationId xmlns:a16="http://schemas.microsoft.com/office/drawing/2014/main" id="{DBAB90C5-ECB9-7FD0-8A93-12C3E950DA83}"/>
              </a:ext>
            </a:extLst>
          </p:cNvPr>
          <p:cNvSpPr/>
          <p:nvPr/>
        </p:nvSpPr>
        <p:spPr>
          <a:xfrm>
            <a:off x="457200" y="3913632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A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FOLLOW(E)={$,)}  FOLLOW(E')={$,)}  FOLLOW(T)={+,$,)}  FOLLOW(T')={+,$,)}  FOLLOW(F)={*,+,$,)}</a:t>
            </a:r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424336963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EEF2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365760" y="9144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 3 — LL(1) Parsing Table</a:t>
            </a:r>
            <a:endParaRPr lang="en-US" sz="2400" dirty="0"/>
          </a:p>
        </p:txBody>
      </p:sp>
      <p:graphicFrame>
        <p:nvGraphicFramePr>
          <p:cNvPr id="1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52705205"/>
              </p:ext>
            </p:extLst>
          </p:nvPr>
        </p:nvGraphicFramePr>
        <p:xfrm>
          <a:off x="91440" y="1005840"/>
          <a:ext cx="8961120" cy="2194560"/>
        </p:xfrm>
        <a:graphic>
          <a:graphicData uri="http://schemas.openxmlformats.org/drawingml/2006/table">
            <a:tbl>
              <a:tblPr/>
              <a:tblGrid>
                <a:gridCol w="6400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344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344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23444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87452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AAAA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AAA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AAA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AAA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4A8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id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AAAA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AAA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AAA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AAA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4A8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+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AAAA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AAA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AAA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AAA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4A8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*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AAAA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AAA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AAA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AAA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4A8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(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AAAA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AAA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AAA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AAA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4A8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)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AAAA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AAA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AAA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AAA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4A8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$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AAAA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AAA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AAA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AAA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4A8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1E2761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E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AAAA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AAA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AAA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AAA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E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E-&gt;TE'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AAAA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AAA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AAA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AAA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AAAA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AAA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AAA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AAA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AAAA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AAA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AAA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AAA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E-&gt;TE'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AAAA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AAA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AAA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AAA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AAAA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AAA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AAA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AAA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AAAA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AAA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AAA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AAA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1E2761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E'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AAAA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AAA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AAA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AAA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E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AAAA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AAA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AAA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AAA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E'-&gt;+TE'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AAAA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AAA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AAA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AAA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AAAA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AAA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AAA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AAA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AAAA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AAA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AAA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AAA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E'-&gt;ε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AAAA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AAA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AAA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AAA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E'-&gt;ε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AAAA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AAA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AAA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AAA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1E2761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T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AAAA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AAA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AAA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AAA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E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T-&gt;FT'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AAAA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AAA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AAA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AAA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AAAA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AAA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AAA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AAA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AAAA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AAA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AAA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AAA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T-&gt;FT'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AAAA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AAA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AAA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AAA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AAAA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AAA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AAA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AAA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AAAA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AAA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AAA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AAA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1E2761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T'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AAAA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AAA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AAA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AAA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E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AAAA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AAA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AAA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AAA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T'-&gt;ε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AAAA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AAA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AAA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AAA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T'-&gt;*FT'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AAAA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AAA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AAA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AAA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AAAA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AAA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AAA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AAA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T'-&gt;ε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AAAA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AAA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AAA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AAA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>
                          <a:solidFill>
                            <a:srgbClr val="1A1A2E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T'-&gt;ε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AAAA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AAA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AAA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AAA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1E2761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F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AAAA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AAA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AAA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AAA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E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F-&gt;id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AAAA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AAA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AAA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AAA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AAAA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AAA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AAA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AAA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AAAA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AAA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AAA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AAA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F-&gt;(E)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AAAA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AAA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AAA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AAA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AAAA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AAA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AAA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AAA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AAAA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AAA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AAA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AAA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274320" y="3291840"/>
            <a:ext cx="8595360" cy="347472"/>
          </a:xfrm>
          <a:prstGeom prst="rect">
            <a:avLst/>
          </a:prstGeom>
          <a:solidFill>
            <a:srgbClr val="2E4A8F"/>
          </a:solidFill>
          <a:ln w="12700">
            <a:solidFill>
              <a:srgbClr val="2E4A8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Text 3"/>
          <p:cNvSpPr/>
          <p:nvPr/>
        </p:nvSpPr>
        <p:spPr>
          <a:xfrm>
            <a:off x="457200" y="3310128"/>
            <a:ext cx="822960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Parse Trace — Input: 'id + id $'</a:t>
            </a:r>
            <a:endParaRPr lang="en-US" sz="13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3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73146370"/>
              </p:ext>
            </p:extLst>
          </p:nvPr>
        </p:nvGraphicFramePr>
        <p:xfrm>
          <a:off x="548640" y="553905"/>
          <a:ext cx="8595360" cy="3329940"/>
        </p:xfrm>
        <a:graphic>
          <a:graphicData uri="http://schemas.openxmlformats.org/drawingml/2006/table">
            <a:tbl>
              <a:tblPr/>
              <a:tblGrid>
                <a:gridCol w="19202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8463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Stack</a:t>
                      </a:r>
                      <a:endParaRPr lang="en-US" sz="9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AAAA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AAA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AAA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AAA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Input</a:t>
                      </a:r>
                      <a:endParaRPr lang="en-US" sz="9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AAAA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AAA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AAA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AAA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Action</a:t>
                      </a:r>
                      <a:endParaRPr lang="en-US" sz="9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AAAA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AAA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AAA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AAA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1A1A2E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$E</a:t>
                      </a:r>
                      <a:endParaRPr lang="en-US" sz="9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AAAA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AAA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AAA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AAA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1A1A2E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id+id$</a:t>
                      </a:r>
                      <a:endParaRPr lang="en-US" sz="9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AAAA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AAA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AAA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AAA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1A1A2E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E-&gt;TE'</a:t>
                      </a:r>
                      <a:endParaRPr lang="en-US" sz="9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AAAA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AAA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AAA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AAA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1A1A2E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$E'T</a:t>
                      </a:r>
                      <a:endParaRPr lang="en-US" sz="9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AAAA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AAA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AAA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AAA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1A1A2E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id+id$</a:t>
                      </a:r>
                      <a:endParaRPr lang="en-US" sz="9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AAAA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AAA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AAA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AAA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1A1A2E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T-&gt;FT'</a:t>
                      </a:r>
                      <a:endParaRPr lang="en-US" sz="9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AAAA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AAA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AAA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AAA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1A1A2E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$E'T'F</a:t>
                      </a:r>
                      <a:endParaRPr lang="en-US" sz="9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AAAA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AAA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AAA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AAA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1A1A2E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id+id$</a:t>
                      </a:r>
                      <a:endParaRPr lang="en-US" sz="9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AAAA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AAA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AAA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AAA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1A1A2E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F-&gt;id</a:t>
                      </a:r>
                      <a:endParaRPr lang="en-US" sz="9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AAAA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AAA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AAA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AAA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1A1A2E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$E'T'id</a:t>
                      </a:r>
                      <a:endParaRPr lang="en-US" sz="9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AAAA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AAA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AAA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AAA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1A1A2E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id+id$</a:t>
                      </a:r>
                      <a:endParaRPr lang="en-US" sz="9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AAAA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AAA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AAA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AAA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1A1A2E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Pop id</a:t>
                      </a:r>
                      <a:endParaRPr lang="en-US" sz="9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AAAA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AAA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AAA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AAA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1A1A2E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$E'T'</a:t>
                      </a:r>
                      <a:endParaRPr lang="en-US" sz="9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AAAA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AAA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AAA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AAA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1A1A2E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+id$</a:t>
                      </a:r>
                      <a:endParaRPr lang="en-US" sz="9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AAAA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AAA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AAA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AAA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1A1A2E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T'-&gt;</a:t>
                      </a:r>
                      <a:r>
                        <a:rPr lang="en-US" sz="1000" dirty="0">
                          <a:solidFill>
                            <a:srgbClr val="1A1A2E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ε</a:t>
                      </a:r>
                      <a:endParaRPr lang="en-US" sz="9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AAAA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AAA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AAA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AAA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1A1A2E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$E'</a:t>
                      </a:r>
                      <a:endParaRPr lang="en-US" sz="9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AAAA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AAA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AAA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AAA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1A1A2E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+id$</a:t>
                      </a:r>
                      <a:endParaRPr lang="en-US" sz="9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AAAA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AAA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AAA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AAA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1A1A2E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E'-&gt;+TE'</a:t>
                      </a:r>
                      <a:endParaRPr lang="en-US" sz="9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AAAA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AAA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AAA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AAA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1A1A2E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$E'T+</a:t>
                      </a:r>
                      <a:endParaRPr lang="en-US" sz="9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AAAA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AAA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AAA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AAA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1A1A2E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+id$</a:t>
                      </a:r>
                      <a:endParaRPr lang="en-US" sz="9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AAAA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AAA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AAA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AAA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1A1A2E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Pop +</a:t>
                      </a:r>
                      <a:endParaRPr lang="en-US" sz="9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AAAA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AAA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AAA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AAA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1A1A2E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$E'T</a:t>
                      </a:r>
                      <a:endParaRPr lang="en-US" sz="9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AAAA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AAA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AAA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AAA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1A1A2E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id$</a:t>
                      </a:r>
                      <a:endParaRPr lang="en-US" sz="9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AAAA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AAA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AAA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AAA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1A1A2E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T-&gt;FT'</a:t>
                      </a:r>
                      <a:endParaRPr lang="en-US" sz="9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AAAA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AAA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AAA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AAA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1A1A2E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$E'T'F</a:t>
                      </a:r>
                      <a:endParaRPr lang="en-US" sz="9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AAAA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AAA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AAA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AAA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1A1A2E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id$</a:t>
                      </a:r>
                      <a:endParaRPr lang="en-US" sz="9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AAAA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AAA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AAA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AAA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1A1A2E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F-&gt;id</a:t>
                      </a:r>
                      <a:endParaRPr lang="en-US" sz="9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AAAA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AAA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AAA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AAA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1A1A2E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$E'T'id</a:t>
                      </a:r>
                      <a:endParaRPr lang="en-US" sz="9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AAAA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AAA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AAA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AAA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1A1A2E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id$</a:t>
                      </a:r>
                      <a:endParaRPr lang="en-US" sz="9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AAAA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AAA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AAA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AAA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1A1A2E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Pop id</a:t>
                      </a:r>
                      <a:endParaRPr lang="en-US" sz="9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AAAA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AAA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AAA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AAA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1A1A2E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$E'T'</a:t>
                      </a:r>
                      <a:endParaRPr lang="en-US" sz="9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AAAA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AAA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AAA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AAA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1A1A2E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$</a:t>
                      </a:r>
                      <a:endParaRPr lang="en-US" sz="9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AAAA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AAA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AAA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AAA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1A1A2E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T'-&gt;</a:t>
                      </a:r>
                      <a:r>
                        <a:rPr lang="en-US" sz="1000" dirty="0">
                          <a:solidFill>
                            <a:srgbClr val="1A1A2E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ε</a:t>
                      </a:r>
                      <a:endParaRPr lang="en-US" sz="9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AAAA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AAA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AAA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AAA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1A1A2E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$E'</a:t>
                      </a:r>
                      <a:endParaRPr lang="en-US" sz="9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AAAA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AAA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AAA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AAA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1A1A2E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$</a:t>
                      </a:r>
                      <a:endParaRPr lang="en-US" sz="9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AAAA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AAA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AAA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AAA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1A1A2E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E'-&gt;</a:t>
                      </a:r>
                      <a:r>
                        <a:rPr lang="en-US" sz="1000" dirty="0">
                          <a:solidFill>
                            <a:srgbClr val="1A1A2E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ε</a:t>
                      </a:r>
                      <a:endParaRPr lang="en-US" sz="9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AAAA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AAA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AAA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AAA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1A1A2E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$</a:t>
                      </a:r>
                      <a:endParaRPr lang="en-US" sz="9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AAAA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AAA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AAA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AAA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1A1A2E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$</a:t>
                      </a:r>
                      <a:endParaRPr lang="en-US" sz="9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AAAA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AAA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AAA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AAA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1A1A2E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Accepted!</a:t>
                      </a:r>
                      <a:endParaRPr lang="en-US" sz="9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AAAA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AAA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AAA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AAA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90955631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274320" y="0"/>
            <a:ext cx="8595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Parse Tree — Input: id + id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0" y="822960"/>
            <a:ext cx="9144000" cy="64008"/>
          </a:xfrm>
          <a:prstGeom prst="rect">
            <a:avLst/>
          </a:prstGeom>
          <a:solidFill>
            <a:srgbClr val="4FC3F7"/>
          </a:solidFill>
          <a:ln w="12700">
            <a:solidFill>
              <a:srgbClr val="4FC3F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4" name="Text 22"/>
          <p:cNvSpPr/>
          <p:nvPr/>
        </p:nvSpPr>
        <p:spPr>
          <a:xfrm>
            <a:off x="6492240" y="23317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2926080" y="30175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 err="1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4480560" y="23317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5394960" y="37033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 err="1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6492240" y="30175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ε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228600" y="1005840"/>
            <a:ext cx="2377440" cy="2011680"/>
          </a:xfrm>
          <a:prstGeom prst="rect">
            <a:avLst/>
          </a:prstGeom>
          <a:solidFill>
            <a:srgbClr val="ECEFF1"/>
          </a:solidFill>
          <a:ln w="12700">
            <a:solidFill>
              <a:srgbClr val="CFD8D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8" name="Text 36"/>
          <p:cNvSpPr/>
          <p:nvPr/>
        </p:nvSpPr>
        <p:spPr>
          <a:xfrm>
            <a:off x="320040" y="105156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Legend</a:t>
            </a:r>
            <a:endParaRPr lang="en-US" sz="1200" dirty="0"/>
          </a:p>
        </p:txBody>
      </p:sp>
      <p:sp>
        <p:nvSpPr>
          <p:cNvPr id="39" name="Shape 37"/>
          <p:cNvSpPr/>
          <p:nvPr/>
        </p:nvSpPr>
        <p:spPr>
          <a:xfrm>
            <a:off x="320040" y="1463040"/>
            <a:ext cx="228600" cy="228600"/>
          </a:xfrm>
          <a:prstGeom prst="ellipse">
            <a:avLst/>
          </a:prstGeom>
          <a:solidFill>
            <a:srgbClr val="1A1A2E"/>
          </a:solidFill>
          <a:ln w="12700">
            <a:solidFill>
              <a:srgbClr val="4FC3F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0" name="Text 38"/>
          <p:cNvSpPr/>
          <p:nvPr/>
        </p:nvSpPr>
        <p:spPr>
          <a:xfrm>
            <a:off x="621792" y="146304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Non-terminal (E, T, F, E')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320040" y="1810512"/>
            <a:ext cx="228600" cy="228600"/>
          </a:xfrm>
          <a:prstGeom prst="ellipse">
            <a:avLst/>
          </a:prstGeom>
          <a:solidFill>
            <a:srgbClr val="00796B"/>
          </a:solidFill>
          <a:ln w="12700">
            <a:solidFill>
              <a:srgbClr val="4FC3F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2" name="Text 40"/>
          <p:cNvSpPr/>
          <p:nvPr/>
        </p:nvSpPr>
        <p:spPr>
          <a:xfrm>
            <a:off x="621792" y="1810512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Terminal (id)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320040" y="2157984"/>
            <a:ext cx="228600" cy="228600"/>
          </a:xfrm>
          <a:prstGeom prst="ellipse">
            <a:avLst/>
          </a:prstGeom>
          <a:solidFill>
            <a:srgbClr val="AD1457"/>
          </a:solidFill>
          <a:ln w="12700">
            <a:solidFill>
              <a:srgbClr val="4FC3F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4" name="Text 42"/>
          <p:cNvSpPr/>
          <p:nvPr/>
        </p:nvSpPr>
        <p:spPr>
          <a:xfrm>
            <a:off x="621792" y="2157984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Operator (+)</a:t>
            </a:r>
            <a:endParaRPr lang="en-US" sz="1000" dirty="0"/>
          </a:p>
        </p:txBody>
      </p:sp>
      <p:sp>
        <p:nvSpPr>
          <p:cNvPr id="45" name="Shape 43"/>
          <p:cNvSpPr/>
          <p:nvPr/>
        </p:nvSpPr>
        <p:spPr>
          <a:xfrm>
            <a:off x="320040" y="2505456"/>
            <a:ext cx="228600" cy="228600"/>
          </a:xfrm>
          <a:prstGeom prst="ellipse">
            <a:avLst/>
          </a:prstGeom>
          <a:solidFill>
            <a:srgbClr val="F57F17"/>
          </a:solidFill>
          <a:ln w="12700">
            <a:solidFill>
              <a:srgbClr val="4FC3F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6" name="Text 44"/>
          <p:cNvSpPr/>
          <p:nvPr/>
        </p:nvSpPr>
        <p:spPr>
          <a:xfrm>
            <a:off x="621792" y="2505456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Empty (ε)</a:t>
            </a:r>
            <a:endParaRPr lang="en-US" sz="1000" dirty="0"/>
          </a:p>
        </p:txBody>
      </p:sp>
      <p:sp>
        <p:nvSpPr>
          <p:cNvPr id="47" name="Text 45"/>
          <p:cNvSpPr/>
          <p:nvPr/>
        </p:nvSpPr>
        <p:spPr>
          <a:xfrm>
            <a:off x="228600" y="4480560"/>
            <a:ext cx="8686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Leaf nodes (left-to-right): id + id</a:t>
            </a:r>
            <a:endParaRPr lang="en-US" sz="1300" dirty="0"/>
          </a:p>
        </p:txBody>
      </p:sp>
      <p:pic>
        <p:nvPicPr>
          <p:cNvPr id="49" name="Picture 48">
            <a:extLst>
              <a:ext uri="{FF2B5EF4-FFF2-40B4-BE49-F238E27FC236}">
                <a16:creationId xmlns:a16="http://schemas.microsoft.com/office/drawing/2014/main" id="{BBE18074-DEFA-9FBB-8672-4DD88C3A73D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63832" y="1115568"/>
            <a:ext cx="3894349" cy="3136392"/>
          </a:xfrm>
          <a:prstGeom prst="rect">
            <a:avLst/>
          </a:prstGeom>
        </p:spPr>
      </p:pic>
      <p:sp>
        <p:nvSpPr>
          <p:cNvPr id="50" name="TextBox 49">
            <a:extLst>
              <a:ext uri="{FF2B5EF4-FFF2-40B4-BE49-F238E27FC236}">
                <a16:creationId xmlns:a16="http://schemas.microsoft.com/office/drawing/2014/main" id="{72F93DD2-4329-C635-10D2-BD77EDB976EF}"/>
              </a:ext>
            </a:extLst>
          </p:cNvPr>
          <p:cNvSpPr txBox="1"/>
          <p:nvPr/>
        </p:nvSpPr>
        <p:spPr>
          <a:xfrm>
            <a:off x="320040" y="3445164"/>
            <a:ext cx="2194560" cy="4924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3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Constructed based on the table in previous slide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274320" y="0"/>
            <a:ext cx="8595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Step-by-Step Derivation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0" y="822960"/>
            <a:ext cx="9144000" cy="64008"/>
          </a:xfrm>
          <a:prstGeom prst="rect">
            <a:avLst/>
          </a:prstGeom>
          <a:solidFill>
            <a:srgbClr val="4FC3F7"/>
          </a:solidFill>
          <a:ln w="12700">
            <a:solidFill>
              <a:srgbClr val="4FC3F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274320" y="1005840"/>
            <a:ext cx="4206240" cy="822960"/>
          </a:xfrm>
          <a:prstGeom prst="rect">
            <a:avLst/>
          </a:prstGeom>
          <a:solidFill>
            <a:srgbClr val="FFFFFF"/>
          </a:solidFill>
          <a:ln w="10160">
            <a:solidFill>
              <a:srgbClr val="E0E0E0"/>
            </a:solidFill>
            <a:prstDash val="solid"/>
          </a:ln>
          <a:effectLst>
            <a:outerShdw blurRad="38100" dist="127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6" name="Shape 4"/>
          <p:cNvSpPr/>
          <p:nvPr/>
        </p:nvSpPr>
        <p:spPr>
          <a:xfrm>
            <a:off x="365760" y="1188720"/>
            <a:ext cx="457200" cy="457200"/>
          </a:xfrm>
          <a:prstGeom prst="ellipse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365760" y="11887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1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914400" y="105156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1A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914400" y="141732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 → T E'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274320" y="1965960"/>
            <a:ext cx="4206240" cy="822960"/>
          </a:xfrm>
          <a:prstGeom prst="rect">
            <a:avLst/>
          </a:prstGeom>
          <a:solidFill>
            <a:srgbClr val="FFFFFF"/>
          </a:solidFill>
          <a:ln w="10160">
            <a:solidFill>
              <a:srgbClr val="E0E0E0"/>
            </a:solidFill>
            <a:prstDash val="solid"/>
          </a:ln>
          <a:effectLst>
            <a:outerShdw blurRad="38100" dist="127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1" name="Shape 9"/>
          <p:cNvSpPr/>
          <p:nvPr/>
        </p:nvSpPr>
        <p:spPr>
          <a:xfrm>
            <a:off x="365760" y="2148840"/>
            <a:ext cx="457200" cy="457200"/>
          </a:xfrm>
          <a:prstGeom prst="ellipse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/>
          <p:nvPr/>
        </p:nvSpPr>
        <p:spPr>
          <a:xfrm>
            <a:off x="365760" y="21488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2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914400" y="201168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1A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 E'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914400" y="237744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 → F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274320" y="2926080"/>
            <a:ext cx="4206240" cy="822960"/>
          </a:xfrm>
          <a:prstGeom prst="rect">
            <a:avLst/>
          </a:prstGeom>
          <a:solidFill>
            <a:srgbClr val="FFFFFF"/>
          </a:solidFill>
          <a:ln w="10160">
            <a:solidFill>
              <a:srgbClr val="E0E0E0"/>
            </a:solidFill>
            <a:prstDash val="solid"/>
          </a:ln>
          <a:effectLst>
            <a:outerShdw blurRad="38100" dist="127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6" name="Shape 14"/>
          <p:cNvSpPr/>
          <p:nvPr/>
        </p:nvSpPr>
        <p:spPr>
          <a:xfrm>
            <a:off x="365760" y="3108960"/>
            <a:ext cx="457200" cy="457200"/>
          </a:xfrm>
          <a:prstGeom prst="ellipse">
            <a:avLst/>
          </a:prstGeom>
          <a:solidFill>
            <a:srgbClr val="00796B"/>
          </a:solidFill>
          <a:ln w="12700">
            <a:solidFill>
              <a:srgbClr val="00796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" name="Text 15"/>
          <p:cNvSpPr/>
          <p:nvPr/>
        </p:nvSpPr>
        <p:spPr>
          <a:xfrm>
            <a:off x="365760" y="31089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3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914400" y="297180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1A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 E'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914400" y="333756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 → id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274320" y="3886200"/>
            <a:ext cx="4206240" cy="822960"/>
          </a:xfrm>
          <a:prstGeom prst="rect">
            <a:avLst/>
          </a:prstGeom>
          <a:solidFill>
            <a:srgbClr val="FFFFFF"/>
          </a:solidFill>
          <a:ln w="10160">
            <a:solidFill>
              <a:srgbClr val="E0E0E0"/>
            </a:solidFill>
            <a:prstDash val="solid"/>
          </a:ln>
          <a:effectLst>
            <a:outerShdw blurRad="38100" dist="127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1" name="Shape 19"/>
          <p:cNvSpPr/>
          <p:nvPr/>
        </p:nvSpPr>
        <p:spPr>
          <a:xfrm>
            <a:off x="365760" y="4069080"/>
            <a:ext cx="457200" cy="457200"/>
          </a:xfrm>
          <a:prstGeom prst="ellipse">
            <a:avLst/>
          </a:prstGeom>
          <a:solidFill>
            <a:srgbClr val="00796B"/>
          </a:solidFill>
          <a:ln w="12700">
            <a:solidFill>
              <a:srgbClr val="00796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2" name="Text 20"/>
          <p:cNvSpPr/>
          <p:nvPr/>
        </p:nvSpPr>
        <p:spPr>
          <a:xfrm>
            <a:off x="365760" y="40690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4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914400" y="393192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1A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id E'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914400" y="429768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 id, advance input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4754880" y="1005840"/>
            <a:ext cx="4206240" cy="822960"/>
          </a:xfrm>
          <a:prstGeom prst="rect">
            <a:avLst/>
          </a:prstGeom>
          <a:solidFill>
            <a:srgbClr val="FFFFFF"/>
          </a:solidFill>
          <a:ln w="10160">
            <a:solidFill>
              <a:srgbClr val="E0E0E0"/>
            </a:solidFill>
            <a:prstDash val="solid"/>
          </a:ln>
          <a:effectLst>
            <a:outerShdw blurRad="38100" dist="127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6" name="Shape 24"/>
          <p:cNvSpPr/>
          <p:nvPr/>
        </p:nvSpPr>
        <p:spPr>
          <a:xfrm>
            <a:off x="4846320" y="1188720"/>
            <a:ext cx="457200" cy="457200"/>
          </a:xfrm>
          <a:prstGeom prst="ellipse">
            <a:avLst/>
          </a:prstGeom>
          <a:solidFill>
            <a:srgbClr val="AD1457"/>
          </a:solidFill>
          <a:ln w="12700">
            <a:solidFill>
              <a:srgbClr val="AD145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7" name="Text 25"/>
          <p:cNvSpPr/>
          <p:nvPr/>
        </p:nvSpPr>
        <p:spPr>
          <a:xfrm>
            <a:off x="4846320" y="11887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5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5394960" y="105156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1A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E'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5394960" y="141732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E' → + T E'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4754880" y="1965960"/>
            <a:ext cx="4206240" cy="822960"/>
          </a:xfrm>
          <a:prstGeom prst="rect">
            <a:avLst/>
          </a:prstGeom>
          <a:solidFill>
            <a:srgbClr val="FFFFFF"/>
          </a:solidFill>
          <a:ln w="10160">
            <a:solidFill>
              <a:srgbClr val="E0E0E0"/>
            </a:solidFill>
            <a:prstDash val="solid"/>
          </a:ln>
          <a:effectLst>
            <a:outerShdw blurRad="38100" dist="127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1" name="Shape 29"/>
          <p:cNvSpPr/>
          <p:nvPr/>
        </p:nvSpPr>
        <p:spPr>
          <a:xfrm>
            <a:off x="4846320" y="2148840"/>
            <a:ext cx="457200" cy="457200"/>
          </a:xfrm>
          <a:prstGeom prst="ellipse">
            <a:avLst/>
          </a:prstGeom>
          <a:solidFill>
            <a:srgbClr val="AD1457"/>
          </a:solidFill>
          <a:ln w="12700">
            <a:solidFill>
              <a:srgbClr val="AD145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2" name="Text 30"/>
          <p:cNvSpPr/>
          <p:nvPr/>
        </p:nvSpPr>
        <p:spPr>
          <a:xfrm>
            <a:off x="4846320" y="21488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6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5394960" y="201168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1A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 T E'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5394960" y="237744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 +, advance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4754880" y="2926080"/>
            <a:ext cx="4206240" cy="822960"/>
          </a:xfrm>
          <a:prstGeom prst="rect">
            <a:avLst/>
          </a:prstGeom>
          <a:solidFill>
            <a:srgbClr val="FFFFFF"/>
          </a:solidFill>
          <a:ln w="10160">
            <a:solidFill>
              <a:srgbClr val="E0E0E0"/>
            </a:solidFill>
            <a:prstDash val="solid"/>
          </a:ln>
          <a:effectLst>
            <a:outerShdw blurRad="38100" dist="127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6" name="Shape 34"/>
          <p:cNvSpPr/>
          <p:nvPr/>
        </p:nvSpPr>
        <p:spPr>
          <a:xfrm>
            <a:off x="4846320" y="3108960"/>
            <a:ext cx="457200" cy="457200"/>
          </a:xfrm>
          <a:prstGeom prst="ellipse">
            <a:avLst/>
          </a:prstGeom>
          <a:solidFill>
            <a:srgbClr val="00796B"/>
          </a:solidFill>
          <a:ln w="12700">
            <a:solidFill>
              <a:srgbClr val="00796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7" name="Text 35"/>
          <p:cNvSpPr/>
          <p:nvPr/>
        </p:nvSpPr>
        <p:spPr>
          <a:xfrm>
            <a:off x="4846320" y="31089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7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5394960" y="297180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1A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 E'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5394960" y="333756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 → F → id, match id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4754880" y="3886200"/>
            <a:ext cx="4206240" cy="822960"/>
          </a:xfrm>
          <a:prstGeom prst="rect">
            <a:avLst/>
          </a:prstGeom>
          <a:solidFill>
            <a:srgbClr val="FFFFFF"/>
          </a:solidFill>
          <a:ln w="10160">
            <a:solidFill>
              <a:srgbClr val="E0E0E0"/>
            </a:solidFill>
            <a:prstDash val="solid"/>
          </a:ln>
          <a:effectLst>
            <a:outerShdw blurRad="38100" dist="127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41" name="Shape 39"/>
          <p:cNvSpPr/>
          <p:nvPr/>
        </p:nvSpPr>
        <p:spPr>
          <a:xfrm>
            <a:off x="4846320" y="4069080"/>
            <a:ext cx="457200" cy="457200"/>
          </a:xfrm>
          <a:prstGeom prst="ellipse">
            <a:avLst/>
          </a:prstGeom>
          <a:solidFill>
            <a:srgbClr val="F57F17"/>
          </a:solidFill>
          <a:ln w="12700">
            <a:solidFill>
              <a:srgbClr val="F57F1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2" name="Text 40"/>
          <p:cNvSpPr/>
          <p:nvPr/>
        </p:nvSpPr>
        <p:spPr>
          <a:xfrm>
            <a:off x="4846320" y="40690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8</a:t>
            </a:r>
            <a:endParaRPr lang="en-US" sz="1200" dirty="0"/>
          </a:p>
        </p:txBody>
      </p:sp>
      <p:sp>
        <p:nvSpPr>
          <p:cNvPr id="43" name="Text 41"/>
          <p:cNvSpPr/>
          <p:nvPr/>
        </p:nvSpPr>
        <p:spPr>
          <a:xfrm>
            <a:off x="5394960" y="393192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1A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E'</a:t>
            </a:r>
            <a:endParaRPr lang="en-US" sz="1200" dirty="0"/>
          </a:p>
        </p:txBody>
      </p:sp>
      <p:sp>
        <p:nvSpPr>
          <p:cNvPr id="44" name="Text 42"/>
          <p:cNvSpPr/>
          <p:nvPr/>
        </p:nvSpPr>
        <p:spPr>
          <a:xfrm>
            <a:off x="5394960" y="429768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E' → ε</a:t>
            </a:r>
            <a:endParaRPr lang="en-US" sz="11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-48006"/>
            <a:ext cx="2926080" cy="5143500"/>
          </a:xfrm>
          <a:prstGeom prst="rect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0" y="1371600"/>
            <a:ext cx="2926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4FC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Parse Tree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0" y="1920240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Basics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1188720" y="2468880"/>
            <a:ext cx="548640" cy="54864"/>
          </a:xfrm>
          <a:prstGeom prst="rect">
            <a:avLst/>
          </a:prstGeom>
          <a:solidFill>
            <a:srgbClr val="4FC3F7"/>
          </a:solidFill>
          <a:ln w="12700">
            <a:solidFill>
              <a:srgbClr val="4FC3F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Shape 5"/>
          <p:cNvSpPr/>
          <p:nvPr/>
        </p:nvSpPr>
        <p:spPr>
          <a:xfrm>
            <a:off x="3291840" y="320040"/>
            <a:ext cx="5486400" cy="132588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8" name="Shape 6"/>
          <p:cNvSpPr/>
          <p:nvPr/>
        </p:nvSpPr>
        <p:spPr>
          <a:xfrm>
            <a:off x="3291840" y="320040"/>
            <a:ext cx="64008" cy="1325880"/>
          </a:xfrm>
          <a:prstGeom prst="rect">
            <a:avLst/>
          </a:prstGeom>
          <a:solidFill>
            <a:srgbClr val="4FC3F7"/>
          </a:solidFill>
          <a:ln w="12700">
            <a:solidFill>
              <a:srgbClr val="4FC3F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Text 7"/>
          <p:cNvSpPr/>
          <p:nvPr/>
        </p:nvSpPr>
        <p:spPr>
          <a:xfrm>
            <a:off x="3456432" y="411480"/>
            <a:ext cx="5212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Definition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3456432" y="795528"/>
            <a:ext cx="5120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4242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parse tree (derivation tree) graphically shows how a grammar derives a string.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3291840" y="1828800"/>
            <a:ext cx="5486400" cy="132588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2" name="Shape 10"/>
          <p:cNvSpPr/>
          <p:nvPr/>
        </p:nvSpPr>
        <p:spPr>
          <a:xfrm>
            <a:off x="3291840" y="1828800"/>
            <a:ext cx="64008" cy="1325880"/>
          </a:xfrm>
          <a:prstGeom prst="rect">
            <a:avLst/>
          </a:prstGeom>
          <a:solidFill>
            <a:srgbClr val="4FC3F7"/>
          </a:solidFill>
          <a:ln w="12700">
            <a:solidFill>
              <a:srgbClr val="4FC3F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/>
          <p:nvPr/>
        </p:nvSpPr>
        <p:spPr>
          <a:xfrm>
            <a:off x="3456432" y="1920240"/>
            <a:ext cx="5212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3456432" y="2304288"/>
            <a:ext cx="5120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4242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Root = start symbol (E). Internal nodes = non-terminals. Leaves = terminals (id, +, ε).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3291840" y="3337560"/>
            <a:ext cx="5486400" cy="132588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6" name="Shape 14"/>
          <p:cNvSpPr/>
          <p:nvPr/>
        </p:nvSpPr>
        <p:spPr>
          <a:xfrm>
            <a:off x="3291840" y="3337560"/>
            <a:ext cx="64008" cy="1325880"/>
          </a:xfrm>
          <a:prstGeom prst="rect">
            <a:avLst/>
          </a:prstGeom>
          <a:solidFill>
            <a:srgbClr val="4FC3F7"/>
          </a:solidFill>
          <a:ln w="12700">
            <a:solidFill>
              <a:srgbClr val="4FC3F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" name="Text 15"/>
          <p:cNvSpPr/>
          <p:nvPr/>
        </p:nvSpPr>
        <p:spPr>
          <a:xfrm>
            <a:off x="3456432" y="3429000"/>
            <a:ext cx="5212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Acceptance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3456432" y="3813048"/>
            <a:ext cx="5120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4242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String is accepted if it contains only $ after parsing. The parser will generate a parse tree.</a:t>
            </a:r>
            <a:endParaRPr lang="en-US" sz="12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577</TotalTime>
  <Words>2240</Words>
  <Application>Microsoft Office PowerPoint</Application>
  <PresentationFormat>On-screen Show (16:9)</PresentationFormat>
  <Paragraphs>440</Paragraphs>
  <Slides>22</Slides>
  <Notes>21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7" baseType="lpstr">
      <vt:lpstr>Arial</vt:lpstr>
      <vt:lpstr>Calibri</vt:lpstr>
      <vt:lpstr>Consolas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LL(1) Parsers</dc:title>
  <cp:lastModifiedBy>Anusuya R</cp:lastModifiedBy>
  <cp:revision>10</cp:revision>
  <dcterms:created xsi:type="dcterms:W3CDTF">2026-03-01T03:24:35Z</dcterms:created>
  <dcterms:modified xsi:type="dcterms:W3CDTF">2026-03-02T05:08:26Z</dcterms:modified>
</cp:coreProperties>
</file>