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0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24"/>
    <p:sldId id="278" r:id="rId25"/>
    <p:sldId id="27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9CB535-06BC-40A7-BCAF-7E554E44C47F}" v="21" dt="2025-12-11T04:09:19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129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uya R" userId="85eefe040dbd19ca" providerId="LiveId" clId="{F6C0FBD5-51B7-4E53-9C14-EFF993B86CB3}"/>
    <pc:docChg chg="undo custSel addSld modSld">
      <pc:chgData name="Anusuya R" userId="85eefe040dbd19ca" providerId="LiveId" clId="{F6C0FBD5-51B7-4E53-9C14-EFF993B86CB3}" dt="2025-12-12T03:25:21.972" v="549" actId="20577"/>
      <pc:docMkLst>
        <pc:docMk/>
      </pc:docMkLst>
      <pc:sldChg chg="modSp mod">
        <pc:chgData name="Anusuya R" userId="85eefe040dbd19ca" providerId="LiveId" clId="{F6C0FBD5-51B7-4E53-9C14-EFF993B86CB3}" dt="2025-12-12T03:20:04.031" v="373" actId="113"/>
        <pc:sldMkLst>
          <pc:docMk/>
          <pc:sldMk cId="883351602" sldId="270"/>
        </pc:sldMkLst>
        <pc:spChg chg="mod">
          <ac:chgData name="Anusuya R" userId="85eefe040dbd19ca" providerId="LiveId" clId="{F6C0FBD5-51B7-4E53-9C14-EFF993B86CB3}" dt="2025-12-12T03:20:04.031" v="373" actId="113"/>
          <ac:spMkLst>
            <pc:docMk/>
            <pc:sldMk cId="883351602" sldId="270"/>
            <ac:spMk id="3" creationId="{87C422B3-8CC4-5D48-728B-58E34D0410CF}"/>
          </ac:spMkLst>
        </pc:spChg>
      </pc:sldChg>
      <pc:sldChg chg="modSp new mod">
        <pc:chgData name="Anusuya R" userId="85eefe040dbd19ca" providerId="LiveId" clId="{F6C0FBD5-51B7-4E53-9C14-EFF993B86CB3}" dt="2025-12-12T03:18:30.418" v="308" actId="20577"/>
        <pc:sldMkLst>
          <pc:docMk/>
          <pc:sldMk cId="713326749" sldId="274"/>
        </pc:sldMkLst>
        <pc:spChg chg="mod">
          <ac:chgData name="Anusuya R" userId="85eefe040dbd19ca" providerId="LiveId" clId="{F6C0FBD5-51B7-4E53-9C14-EFF993B86CB3}" dt="2025-12-11T03:47:09.101" v="16" actId="20577"/>
          <ac:spMkLst>
            <pc:docMk/>
            <pc:sldMk cId="713326749" sldId="274"/>
            <ac:spMk id="2" creationId="{0E8743DC-5144-48EB-055E-35604022BF11}"/>
          </ac:spMkLst>
        </pc:spChg>
        <pc:spChg chg="mod">
          <ac:chgData name="Anusuya R" userId="85eefe040dbd19ca" providerId="LiveId" clId="{F6C0FBD5-51B7-4E53-9C14-EFF993B86CB3}" dt="2025-12-12T03:18:30.418" v="308" actId="20577"/>
          <ac:spMkLst>
            <pc:docMk/>
            <pc:sldMk cId="713326749" sldId="274"/>
            <ac:spMk id="3" creationId="{CB77D1BD-5BF1-6414-86C6-EB37D2F1567E}"/>
          </ac:spMkLst>
        </pc:spChg>
      </pc:sldChg>
      <pc:sldChg chg="modSp new mod">
        <pc:chgData name="Anusuya R" userId="85eefe040dbd19ca" providerId="LiveId" clId="{F6C0FBD5-51B7-4E53-9C14-EFF993B86CB3}" dt="2025-12-12T03:17:26.502" v="286" actId="207"/>
        <pc:sldMkLst>
          <pc:docMk/>
          <pc:sldMk cId="1581684206" sldId="275"/>
        </pc:sldMkLst>
        <pc:spChg chg="mod">
          <ac:chgData name="Anusuya R" userId="85eefe040dbd19ca" providerId="LiveId" clId="{F6C0FBD5-51B7-4E53-9C14-EFF993B86CB3}" dt="2025-12-12T03:17:26.502" v="286" actId="207"/>
          <ac:spMkLst>
            <pc:docMk/>
            <pc:sldMk cId="1581684206" sldId="275"/>
            <ac:spMk id="3" creationId="{157CC5C8-C60C-714B-F1C8-BE8610CCC478}"/>
          </ac:spMkLst>
        </pc:spChg>
      </pc:sldChg>
      <pc:sldChg chg="modSp new mod">
        <pc:chgData name="Anusuya R" userId="85eefe040dbd19ca" providerId="LiveId" clId="{F6C0FBD5-51B7-4E53-9C14-EFF993B86CB3}" dt="2025-12-12T03:16:31.046" v="276" actId="108"/>
        <pc:sldMkLst>
          <pc:docMk/>
          <pc:sldMk cId="358831760" sldId="276"/>
        </pc:sldMkLst>
        <pc:spChg chg="mod">
          <ac:chgData name="Anusuya R" userId="85eefe040dbd19ca" providerId="LiveId" clId="{F6C0FBD5-51B7-4E53-9C14-EFF993B86CB3}" dt="2025-12-12T03:16:31.046" v="276" actId="108"/>
          <ac:spMkLst>
            <pc:docMk/>
            <pc:sldMk cId="358831760" sldId="276"/>
            <ac:spMk id="3" creationId="{6540BE5F-E35F-2565-79FD-4F213FD605E5}"/>
          </ac:spMkLst>
        </pc:spChg>
      </pc:sldChg>
      <pc:sldChg chg="addSp modSp new mod">
        <pc:chgData name="Anusuya R" userId="85eefe040dbd19ca" providerId="LiveId" clId="{F6C0FBD5-51B7-4E53-9C14-EFF993B86CB3}" dt="2025-12-12T03:23:56.605" v="374" actId="113"/>
        <pc:sldMkLst>
          <pc:docMk/>
          <pc:sldMk cId="747998907" sldId="277"/>
        </pc:sldMkLst>
        <pc:spChg chg="mod">
          <ac:chgData name="Anusuya R" userId="85eefe040dbd19ca" providerId="LiveId" clId="{F6C0FBD5-51B7-4E53-9C14-EFF993B86CB3}" dt="2025-12-12T03:23:56.605" v="374" actId="113"/>
          <ac:spMkLst>
            <pc:docMk/>
            <pc:sldMk cId="747998907" sldId="277"/>
            <ac:spMk id="3" creationId="{14856442-3C15-7775-21F4-2C484C1ACEF5}"/>
          </ac:spMkLst>
        </pc:spChg>
        <pc:spChg chg="add">
          <ac:chgData name="Anusuya R" userId="85eefe040dbd19ca" providerId="LiveId" clId="{F6C0FBD5-51B7-4E53-9C14-EFF993B86CB3}" dt="2025-12-11T04:07:07.621" v="237"/>
          <ac:spMkLst>
            <pc:docMk/>
            <pc:sldMk cId="747998907" sldId="277"/>
            <ac:spMk id="4" creationId="{DBA64B41-1C8C-77FD-4CD4-3ADC81129677}"/>
          </ac:spMkLst>
        </pc:spChg>
      </pc:sldChg>
      <pc:sldChg chg="modSp new mod">
        <pc:chgData name="Anusuya R" userId="85eefe040dbd19ca" providerId="LiveId" clId="{F6C0FBD5-51B7-4E53-9C14-EFF993B86CB3}" dt="2025-12-12T03:16:53.324" v="280" actId="108"/>
        <pc:sldMkLst>
          <pc:docMk/>
          <pc:sldMk cId="4062030348" sldId="278"/>
        </pc:sldMkLst>
        <pc:spChg chg="mod">
          <ac:chgData name="Anusuya R" userId="85eefe040dbd19ca" providerId="LiveId" clId="{F6C0FBD5-51B7-4E53-9C14-EFF993B86CB3}" dt="2025-12-12T03:16:53.324" v="280" actId="108"/>
          <ac:spMkLst>
            <pc:docMk/>
            <pc:sldMk cId="4062030348" sldId="278"/>
            <ac:spMk id="3" creationId="{5CEE9FF2-5293-D527-7C17-F8D0B87073F3}"/>
          </ac:spMkLst>
        </pc:spChg>
      </pc:sldChg>
      <pc:sldChg chg="modSp new mod">
        <pc:chgData name="Anusuya R" userId="85eefe040dbd19ca" providerId="LiveId" clId="{F6C0FBD5-51B7-4E53-9C14-EFF993B86CB3}" dt="2025-12-12T03:17:03.308" v="282" actId="207"/>
        <pc:sldMkLst>
          <pc:docMk/>
          <pc:sldMk cId="2322151566" sldId="279"/>
        </pc:sldMkLst>
        <pc:spChg chg="mod">
          <ac:chgData name="Anusuya R" userId="85eefe040dbd19ca" providerId="LiveId" clId="{F6C0FBD5-51B7-4E53-9C14-EFF993B86CB3}" dt="2025-12-12T03:17:03.308" v="282" actId="207"/>
          <ac:spMkLst>
            <pc:docMk/>
            <pc:sldMk cId="2322151566" sldId="279"/>
            <ac:spMk id="3" creationId="{A7A36C54-9F52-C808-4B35-9BF623FC4F29}"/>
          </ac:spMkLst>
        </pc:spChg>
      </pc:sldChg>
      <pc:sldChg chg="modSp new mod">
        <pc:chgData name="Anusuya R" userId="85eefe040dbd19ca" providerId="LiveId" clId="{F6C0FBD5-51B7-4E53-9C14-EFF993B86CB3}" dt="2025-12-12T03:25:21.972" v="549" actId="20577"/>
        <pc:sldMkLst>
          <pc:docMk/>
          <pc:sldMk cId="1346080314" sldId="280"/>
        </pc:sldMkLst>
        <pc:spChg chg="mod">
          <ac:chgData name="Anusuya R" userId="85eefe040dbd19ca" providerId="LiveId" clId="{F6C0FBD5-51B7-4E53-9C14-EFF993B86CB3}" dt="2025-12-12T03:25:21.972" v="549" actId="20577"/>
          <ac:spMkLst>
            <pc:docMk/>
            <pc:sldMk cId="1346080314" sldId="280"/>
            <ac:spMk id="3" creationId="{1C311794-4EEA-A597-815C-42E9D4DD205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79EE6-65FB-6199-A7C2-08BC12C8D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DEEE9D-4788-0564-B291-D0DF7AD2C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6244D-5694-0A8F-E988-3A8F22A19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BC39-7C0E-4741-985B-894808E4D6C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74448-3A74-0EF0-8F98-787C1851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4E373-2E31-AFAE-50AF-14FF086D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11172-B071-4126-9D03-F030679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181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319-959F-2DFC-186E-A1A11EA4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C3473-4633-2717-9CE1-D67927C5B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CAD70-31D3-BFB6-7988-E678D714E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BC39-7C0E-4741-985B-894808E4D6C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BEE5E-6099-F2A5-3870-096640B44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FD183-D1D8-88CE-E1ED-DF82BB12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11172-B071-4126-9D03-F030679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448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B262A-553D-4ED9-5ABC-3C44D5925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6499A-0C2B-38EF-6C73-E0C3E5106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7B07C-EBED-83C0-04F3-56D82826D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BC39-7C0E-4741-985B-894808E4D6C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0E3A6-F726-B755-17F5-7A3A597D3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62658-1172-0482-DC39-5F9029EE0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11172-B071-4126-9D03-F030679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111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8CC34-DBE6-77A7-A952-EC0FA2D53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41DB5-9BFF-C7A0-2EAC-588074D5F3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8CE15-1C58-451B-D670-E5FC24B03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96C28-8245-1AAD-E4F1-46F4DF573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BC39-7C0E-4741-985B-894808E4D6C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059D4-0E3E-35FA-F977-DDCEE2B1E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F79AC-F362-35D9-CB45-794939287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11172-B071-4126-9D03-F030679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730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63CEB-3587-0AC5-2096-93DDDA3D4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F7B18-67E0-BED1-8BFB-27D887287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820881-016C-7C7B-BF58-F136D0D46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443EFD-1D19-2C67-09EA-A0CFBE23E2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B02BFF-654A-CC12-B2CF-D0F01BE6D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56C317-4F80-B5B2-EEA8-52B93C91B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BC39-7C0E-4741-985B-894808E4D6C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C9F329-16DB-C6BE-2F22-47986D68D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51864F-8FAA-3774-2441-DA76D90D6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11172-B071-4126-9D03-F030679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572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F5EEE-174F-3543-9995-4AB7E5E95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96B1C-6BDE-B579-8EDC-141D0440E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BC39-7C0E-4741-985B-894808E4D6C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2ADCC-16DF-75D1-1F67-EC7E67F11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33DB7-59FE-09EC-0481-3F5F58812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11172-B071-4126-9D03-F030679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434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407667-9F7E-D8A4-AF83-C938E886B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BC39-7C0E-4741-985B-894808E4D6C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24D720-020F-9D8E-FEF9-2F7FF41D6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F1A60-AC94-22F9-DDBD-7AD7C3F4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11172-B071-4126-9D03-F030679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92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DD0DA-54E9-0216-7AE9-0C6D28631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DAD7E-A408-2B85-4C22-B5FFC74B6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221E10-7E3C-B58B-6BD8-48FA160B6A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199CC-E34B-9FB4-DEBA-E2001A3AA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BC39-7C0E-4741-985B-894808E4D6C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85CE2-7F57-BE4F-AA4E-2C484DC1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BDB2A-D735-DAE0-03DD-72B42F3AA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11172-B071-4126-9D03-F030679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107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4015B-1646-6126-5315-533907B5D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F50ACC-5400-0413-0898-20BEB77CAE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9D80F-43FC-9797-6AD1-99DF808BC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BDFB5-1F5D-7839-9F48-7010620F1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BC39-7C0E-4741-985B-894808E4D6C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E9E86-8AAA-D877-4FCE-7747DC2DC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084B5-DEBF-7005-534C-74C22CB6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11172-B071-4126-9D03-F030679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320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8063-42E7-6A4F-761F-73F1EFC18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12351-7D0D-8068-1A2D-4B3DDD078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45548-44F7-B978-1A41-32C740710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BC39-7C0E-4741-985B-894808E4D6C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051F3-5A2B-65C3-46A1-D5D7887F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70B2B-8B8F-8E7B-208C-A6193851B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11172-B071-4126-9D03-F030679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632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86191F-7D7F-7352-8294-F8C50FBE51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91217-EB9E-53BD-DFA5-29955391B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83A44-A2F9-18AA-AAEE-60762FA0F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BC39-7C0E-4741-985B-894808E4D6C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E58C5-F1DC-6717-A4CB-A4004D97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77AEC-0D3C-1FF9-8877-544927339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11172-B071-4126-9D03-F030679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990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101191-7FA9-8403-BE2C-94FC81019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9BDD6-A7C4-DDF7-D936-15572423F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FCDD1-7181-AEE3-F5B9-20F8D36DA9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F7BC39-7C0E-4741-985B-894808E4D6CF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91F8E-DC17-2756-0E12-66003D2FD8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8A6E8-4FA2-4919-7693-4E397C2DA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A11172-B071-4126-9D03-F030679D97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021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585E7-2FF4-6EC7-BDFD-048C54429C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Compiler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8456D1-C24F-B001-2BEF-D57E8E7163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949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BD64D-3E10-8CD7-5AD9-B36D4E908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51A56-7F68-F99E-A4C0-2768D78B2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02217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compiler is a program that reads a program written in a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language.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translates this program into an equivalent program in a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language.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translation, the compiler also detects and reports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in the source program.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a translated program that can be executed independently.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C1F51A-5154-B3C2-5A0D-19FD1BCD9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417" y="2560085"/>
            <a:ext cx="2367207" cy="297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92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166DA-9E98-4D94-7DFC-D72BC8E5A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96A7A-F224-E173-9C0C-9E55888A0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target program is an executable machine-language program, it can then be called by the user to process inputs and produce outputs.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99A4B8-795B-2178-1C12-F74BA6C1A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496" y="3124184"/>
            <a:ext cx="5512904" cy="171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322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47281-AED8-C722-D1CB-DD89079BF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Interpreter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D156B-D485-05A3-335A-06E0960C1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961861"/>
            <a:ext cx="10704442" cy="3215102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interpreter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produce a translated target program.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Instead, it directly executes the operations specified in the source program.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happens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by line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instruction by instruction.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separate output program is generated; the interpreter acts as the executor of the source code.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6D7641-0414-6DC1-2E0A-A1133023F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25217"/>
            <a:ext cx="9533222" cy="163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24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0547-2B62-2556-CB1C-09534165F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F4FB8-088E-6F52-47F1-C26685396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Compiler</a:t>
            </a:r>
          </a:p>
          <a:p>
            <a:r>
              <a:rPr lang="en-US" dirty="0"/>
              <a:t>Produces a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machine-language target program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en-US" dirty="0"/>
              <a:t>The generated program runs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much faster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/>
              <a:t>when mapping inputs to outputs.</a:t>
            </a:r>
          </a:p>
          <a:p>
            <a:r>
              <a:rPr lang="en-US" dirty="0"/>
              <a:t>Fast execution because translation happens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once</a:t>
            </a:r>
            <a:r>
              <a:rPr lang="en-US" dirty="0"/>
              <a:t>, before running the program.</a:t>
            </a:r>
          </a:p>
          <a:p>
            <a:r>
              <a:rPr lang="en-US" b="1" dirty="0">
                <a:solidFill>
                  <a:srgbClr val="FF0000"/>
                </a:solidFill>
              </a:rPr>
              <a:t>Interpreter</a:t>
            </a:r>
          </a:p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Directly executes </a:t>
            </a:r>
            <a:r>
              <a:rPr lang="en-US" dirty="0"/>
              <a:t>the source program, statement by statement.</a:t>
            </a:r>
          </a:p>
          <a:p>
            <a:r>
              <a:rPr lang="en-US" dirty="0"/>
              <a:t>Generally provides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better error diagnostics.</a:t>
            </a:r>
          </a:p>
          <a:p>
            <a:r>
              <a:rPr lang="en-US" dirty="0"/>
              <a:t>Errors are easier to detect because execution happens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line by line.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1299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4C1FD-EE9B-EFD9-7984-61F9BA54D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6BE4A-7658-0562-05E3-8AF026524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53001" cy="4351338"/>
          </a:xfrm>
        </p:spPr>
        <p:txBody>
          <a:bodyPr>
            <a:normAutofit/>
          </a:bodyPr>
          <a:lstStyle/>
          <a:p>
            <a:pPr algn="just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Compilation + Interpretation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uses a hybrid approach combining both compilation and interpretation.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Java source program is first compiled into bytecode, an intermediate form.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Java Virtual Machine (JVM) then interprets the bytecode.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97CC1B-BA11-2AFF-4C59-F7DB011FD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984" y="2001079"/>
            <a:ext cx="5830956" cy="401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06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1E7A9-262E-D7D8-8034-9FCAD05CD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861" y="219351"/>
            <a:ext cx="10515600" cy="681797"/>
          </a:xfrm>
        </p:spPr>
        <p:txBody>
          <a:bodyPr>
            <a:normAutofit fontScale="90000"/>
          </a:bodyPr>
          <a:lstStyle/>
          <a:p>
            <a:r>
              <a:rPr lang="en-IN" sz="4900" b="1" dirty="0">
                <a:solidFill>
                  <a:srgbClr val="C00000"/>
                </a:solidFill>
              </a:rPr>
              <a:t>Language Processing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CE7452-E4D0-1FC1-9EDD-D68C2FD9D6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0904" y="901148"/>
            <a:ext cx="10827025" cy="559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326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A96E-0DE3-00C8-6EE3-4F62B82C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D073-080C-F838-3C49-65A7DA119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Preprocessor</a:t>
            </a:r>
          </a:p>
          <a:p>
            <a:r>
              <a:rPr lang="en-US" dirty="0"/>
              <a:t>Collects and prepares the source program before compilation.</a:t>
            </a:r>
          </a:p>
          <a:p>
            <a:r>
              <a:rPr lang="en-US" dirty="0"/>
              <a:t>Expands </a:t>
            </a:r>
            <a:r>
              <a:rPr lang="en-US" sz="2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macros</a:t>
            </a:r>
            <a:r>
              <a:rPr lang="en-US" dirty="0"/>
              <a:t> (shorthand notations) into full source statements.</a:t>
            </a:r>
          </a:p>
          <a:p>
            <a:r>
              <a:rPr lang="en-US" dirty="0"/>
              <a:t>Produces a </a:t>
            </a:r>
            <a:r>
              <a:rPr lang="en-US" sz="2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modified source program </a:t>
            </a:r>
            <a:r>
              <a:rPr lang="en-US" dirty="0"/>
              <a:t>as input to the compiler.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3733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14731-7CD2-FA94-A80C-19F149FE1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A20DF-BB94-480A-C067-0C38ED0AF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6886" y="1868557"/>
            <a:ext cx="5946913" cy="4308406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Whenever sum(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seen it is replaced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the line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c=sum(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)*sum(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be replaced with </a:t>
            </a: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</a:t>
            </a:r>
            <a:r>
              <a:rPr lang="en-IN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IN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whose result after evaluation will be c=17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259A4E-B010-95D1-A936-8D727D4C1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65" y="1690688"/>
            <a:ext cx="4267948" cy="425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064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3C10-CEC6-FE3C-6F0F-6F283DCE2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E5EDB-5358-0E0F-7CA8-AD86D8C00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Assembler</a:t>
            </a:r>
          </a:p>
          <a:p>
            <a:pPr algn="just"/>
            <a:r>
              <a:rPr lang="en-US" dirty="0"/>
              <a:t>Converts the assembly program into </a:t>
            </a:r>
            <a:r>
              <a:rPr lang="en-US" sz="2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relocatable machine code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Output: </a:t>
            </a:r>
            <a:r>
              <a:rPr lang="en-US" sz="2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object files </a:t>
            </a:r>
            <a:r>
              <a:rPr lang="en-US" dirty="0"/>
              <a:t>that can be placed at different memory locations.</a:t>
            </a:r>
          </a:p>
          <a:p>
            <a:pPr algn="just"/>
            <a:r>
              <a:rPr lang="en-IN" dirty="0"/>
              <a:t>Translates </a:t>
            </a:r>
            <a:r>
              <a:rPr lang="en-IN" sz="2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mnemonics → opcodes </a:t>
            </a:r>
            <a:r>
              <a:rPr lang="en-IN" dirty="0"/>
              <a:t>(e.g., ADD → machine instruction).</a:t>
            </a:r>
          </a:p>
          <a:p>
            <a:pPr algn="just"/>
            <a:r>
              <a:rPr lang="en-US" dirty="0"/>
              <a:t>Replaces </a:t>
            </a:r>
            <a:r>
              <a:rPr lang="en-US" sz="2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symbolic names </a:t>
            </a:r>
            <a:r>
              <a:rPr lang="en-US" dirty="0"/>
              <a:t>(labels, variables) with </a:t>
            </a:r>
            <a:r>
              <a:rPr lang="en-US" sz="2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actual memory addresses.</a:t>
            </a:r>
          </a:p>
          <a:p>
            <a:pPr algn="just"/>
            <a:r>
              <a:rPr lang="en-US" dirty="0"/>
              <a:t>Checks for </a:t>
            </a:r>
            <a:r>
              <a:rPr lang="en-US" sz="2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syntax and semantic errors </a:t>
            </a:r>
            <a:r>
              <a:rPr lang="en-US" dirty="0"/>
              <a:t>in assembly code.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0643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00EEA-88E4-BE41-42CB-5C28E222D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66A97-146B-3010-5D31-2AED76047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Converts code like this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To machine understandable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26D273-5F6D-2CB9-FDBE-F1D98510F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578" y="1690688"/>
            <a:ext cx="1797142" cy="20448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69C274-4345-1F34-6E64-B4C6E7E4D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062" y="4349649"/>
            <a:ext cx="2171812" cy="196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401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7CFEF-0875-3ED6-8169-C962C1E3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84547-53E6-15C9-4183-4CAB6F81F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Linker</a:t>
            </a:r>
          </a:p>
          <a:p>
            <a:r>
              <a:rPr lang="en-US" dirty="0"/>
              <a:t>Combines multiple relocatable object files and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library files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en-US" dirty="0"/>
              <a:t>Resolves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external references</a:t>
            </a:r>
            <a:r>
              <a:rPr lang="en-US" dirty="0"/>
              <a:t>, such as functions or variables located in other files.</a:t>
            </a:r>
          </a:p>
          <a:p>
            <a:r>
              <a:rPr lang="en-US" dirty="0"/>
              <a:t>Produces a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single executable program</a:t>
            </a:r>
            <a:r>
              <a:rPr lang="en-US" dirty="0"/>
              <a:t>.</a:t>
            </a: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Loader</a:t>
            </a:r>
          </a:p>
          <a:p>
            <a:r>
              <a:rPr lang="en-US" dirty="0"/>
              <a:t>Loads the executable program into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memory.</a:t>
            </a:r>
          </a:p>
          <a:p>
            <a:r>
              <a:rPr lang="en-US" dirty="0"/>
              <a:t>Prepares it for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execution</a:t>
            </a:r>
            <a:r>
              <a:rPr lang="en-US" dirty="0"/>
              <a:t> by assigning memory locations and setting up the environment.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6784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EF9F6A-D047-3938-458A-B1FC00AC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Phases of A Compiler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39E96-3159-4D3C-10AA-A32C2E271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endParaRPr lang="en-IN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A995FA-AC24-C6B2-46B1-4CE0A9C81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713" y="640080"/>
            <a:ext cx="7075514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05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BB26D-A18E-53D4-EEB0-D1EB6B308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B0F6C-1C15-4C12-9608-6B08B3225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Lexical Analyzer</a:t>
            </a:r>
          </a:p>
          <a:p>
            <a:r>
              <a:rPr lang="en-US" dirty="0"/>
              <a:t>Reads the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stream of characters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/>
              <a:t>in the source program.</a:t>
            </a:r>
          </a:p>
          <a:p>
            <a:r>
              <a:rPr lang="en-US" dirty="0"/>
              <a:t>Groups characters into meaningful units called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lexemes.</a:t>
            </a:r>
          </a:p>
          <a:p>
            <a:r>
              <a:rPr lang="en-US" dirty="0"/>
              <a:t>Produces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tokens</a:t>
            </a:r>
            <a:r>
              <a:rPr lang="en-US" dirty="0"/>
              <a:t> for the syntax analyzer</a:t>
            </a:r>
          </a:p>
          <a:p>
            <a:r>
              <a:rPr lang="en-US" b="1" dirty="0">
                <a:solidFill>
                  <a:srgbClr val="FF0000"/>
                </a:solidFill>
              </a:rPr>
              <a:t>Semantic Analyzer</a:t>
            </a:r>
          </a:p>
          <a:p>
            <a:r>
              <a:rPr lang="en-US" dirty="0"/>
              <a:t>Uses the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syntax tree </a:t>
            </a:r>
            <a:r>
              <a:rPr lang="en-US" dirty="0"/>
              <a:t>and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symbol table </a:t>
            </a:r>
            <a:r>
              <a:rPr lang="en-US" dirty="0"/>
              <a:t>to check semantic consistency.</a:t>
            </a:r>
          </a:p>
          <a:p>
            <a:r>
              <a:rPr lang="en-US" dirty="0"/>
              <a:t>Ensures the program follows the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language rules </a:t>
            </a:r>
            <a:r>
              <a:rPr lang="en-US" dirty="0"/>
              <a:t>(types, declarations, scope).</a:t>
            </a:r>
          </a:p>
          <a:p>
            <a:r>
              <a:rPr lang="en-US" dirty="0"/>
              <a:t>Collects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type information </a:t>
            </a:r>
            <a:r>
              <a:rPr lang="en-US" dirty="0"/>
              <a:t>and stores it in:</a:t>
            </a:r>
          </a:p>
          <a:p>
            <a:pPr lvl="1"/>
            <a:r>
              <a:rPr lang="en-US" dirty="0"/>
              <a:t>the </a:t>
            </a: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syntax tree</a:t>
            </a:r>
            <a:r>
              <a:rPr lang="en-US" dirty="0"/>
              <a:t>, or</a:t>
            </a:r>
          </a:p>
          <a:p>
            <a:pPr lvl="1"/>
            <a:r>
              <a:rPr lang="en-US" dirty="0"/>
              <a:t>the </a:t>
            </a: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symbol table</a:t>
            </a:r>
          </a:p>
          <a:p>
            <a:r>
              <a:rPr lang="en-US" dirty="0"/>
              <a:t>Information collected is later used in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intermediate code generation.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0803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95635-7166-BF26-4AD1-4FAA20D89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422B3-8CC4-5D48-728B-58E34D041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Intermediate Representations (IR)</a:t>
            </a:r>
          </a:p>
          <a:p>
            <a:r>
              <a:rPr lang="en-US" dirty="0"/>
              <a:t>A compiler may create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one or more intermediate representations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en-US" dirty="0"/>
              <a:t>IR helps bridge the gap between high-level language and machine code.</a:t>
            </a:r>
          </a:p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Syntax trees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/>
              <a:t>are a common intermediate form.</a:t>
            </a:r>
          </a:p>
          <a:p>
            <a:r>
              <a:rPr lang="en-US" dirty="0"/>
              <a:t>Used during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syntax analysis </a:t>
            </a:r>
            <a:r>
              <a:rPr lang="en-US" dirty="0"/>
              <a:t>and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semantic analysis.</a:t>
            </a:r>
          </a:p>
          <a:p>
            <a:r>
              <a:rPr lang="en-US" dirty="0"/>
              <a:t>Converts validated syntax tree to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machine-independent IR.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3351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0B1D2-2848-3DF0-2756-4E90A331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D5A7-3368-45BE-589B-B16E6B065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Machine-Independent Code Optimization</a:t>
            </a:r>
          </a:p>
          <a:p>
            <a:r>
              <a:rPr lang="en-US" dirty="0"/>
              <a:t>Improves the intermediate code so better target code is produced.</a:t>
            </a:r>
          </a:p>
          <a:p>
            <a:r>
              <a:rPr lang="en-US" dirty="0"/>
              <a:t>“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Better</a:t>
            </a:r>
            <a:r>
              <a:rPr lang="en-US" dirty="0"/>
              <a:t>” may mean: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faster execution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smaller code size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lower power consumption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630758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8769-C0CD-5062-6791-EBE543884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70571-CF91-7B7F-EA85-E743A6BB6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Code Generator</a:t>
            </a:r>
          </a:p>
          <a:p>
            <a:r>
              <a:rPr lang="en-US" dirty="0"/>
              <a:t>Takes the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intermediate representation</a:t>
            </a:r>
            <a:r>
              <a:rPr lang="en-US" dirty="0"/>
              <a:t> as input.</a:t>
            </a:r>
          </a:p>
          <a:p>
            <a:r>
              <a:rPr lang="en-US" dirty="0"/>
              <a:t>Maps it to the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target language </a:t>
            </a:r>
            <a:r>
              <a:rPr lang="en-US" dirty="0"/>
              <a:t>(often machine code).</a:t>
            </a:r>
          </a:p>
          <a:p>
            <a:r>
              <a:rPr lang="en-US" dirty="0"/>
              <a:t>Assigns registers or memory locations to variables.</a:t>
            </a:r>
          </a:p>
          <a:p>
            <a:r>
              <a:rPr lang="en-US" dirty="0"/>
              <a:t>Converts IR instructions into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machine instructions </a:t>
            </a:r>
            <a:r>
              <a:rPr lang="en-US" dirty="0"/>
              <a:t>that perform the same actions.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551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7493-D64C-8797-0E89-ED44B2A6E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4519F-84BB-3DA9-80FF-78886FA9C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Role of the Symbol Table</a:t>
            </a:r>
          </a:p>
          <a:p>
            <a:r>
              <a:rPr lang="en-US" dirty="0"/>
              <a:t>Records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variable names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/>
              <a:t>used in the source program.</a:t>
            </a:r>
          </a:p>
          <a:p>
            <a:r>
              <a:rPr lang="en-US" dirty="0"/>
              <a:t>Stores attributes such as:</a:t>
            </a:r>
          </a:p>
          <a:p>
            <a:pPr lvl="1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Data type</a:t>
            </a:r>
          </a:p>
          <a:p>
            <a:pPr lvl="1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Storage information</a:t>
            </a:r>
          </a:p>
          <a:p>
            <a:pPr lvl="1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Scope (where the variable can be used)</a:t>
            </a:r>
          </a:p>
          <a:p>
            <a:pPr lvl="1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For procedures:</a:t>
            </a:r>
          </a:p>
          <a:p>
            <a:pPr lvl="2"/>
            <a:r>
              <a:rPr lang="en-US" b="1" dirty="0">
                <a:solidFill>
                  <a:srgbClr val="C00000"/>
                </a:solidFill>
              </a:rPr>
              <a:t>Number and types of arguments</a:t>
            </a:r>
          </a:p>
          <a:p>
            <a:pPr lvl="2"/>
            <a:r>
              <a:rPr lang="en-US" b="1" dirty="0">
                <a:solidFill>
                  <a:srgbClr val="C00000"/>
                </a:solidFill>
              </a:rPr>
              <a:t>Calling method (</a:t>
            </a:r>
            <a:r>
              <a:rPr lang="en-US" b="1" i="1" dirty="0">
                <a:solidFill>
                  <a:srgbClr val="C00000"/>
                </a:solidFill>
              </a:rPr>
              <a:t>call by value</a:t>
            </a:r>
            <a:r>
              <a:rPr lang="en-US" b="1" dirty="0">
                <a:solidFill>
                  <a:srgbClr val="C00000"/>
                </a:solidFill>
              </a:rPr>
              <a:t> or </a:t>
            </a:r>
            <a:r>
              <a:rPr lang="en-US" b="1" i="1" dirty="0">
                <a:solidFill>
                  <a:srgbClr val="C00000"/>
                </a:solidFill>
              </a:rPr>
              <a:t>call by reference</a:t>
            </a:r>
            <a:r>
              <a:rPr lang="en-US" b="1" dirty="0">
                <a:solidFill>
                  <a:srgbClr val="C00000"/>
                </a:solidFill>
              </a:rPr>
              <a:t>)</a:t>
            </a:r>
          </a:p>
          <a:p>
            <a:pPr lvl="2"/>
            <a:r>
              <a:rPr lang="en-US" b="1" dirty="0">
                <a:solidFill>
                  <a:srgbClr val="C00000"/>
                </a:solidFill>
              </a:rPr>
              <a:t>Return type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0571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743DC-5144-48EB-055E-35604022B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Lexical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7D1BD-5BF1-6414-86C6-EB37D2F15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First phase of a compiler; reads input characters of the source program</a:t>
            </a:r>
            <a:br>
              <a:rPr lang="en-US" dirty="0"/>
            </a:br>
            <a:r>
              <a:rPr lang="en-US" dirty="0"/>
              <a:t>• Groups characters into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lexemes</a:t>
            </a:r>
            <a:r>
              <a:rPr lang="en-US" dirty="0"/>
              <a:t> and produces a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sequence of tokens</a:t>
            </a:r>
            <a:br>
              <a:rPr lang="en-US" dirty="0"/>
            </a:br>
            <a:r>
              <a:rPr lang="en-US" dirty="0"/>
              <a:t>• Sends tokens to the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parser</a:t>
            </a:r>
            <a:r>
              <a:rPr lang="en-US" dirty="0"/>
              <a:t> for syntax analysis</a:t>
            </a:r>
            <a:br>
              <a:rPr lang="en-US" dirty="0"/>
            </a:br>
            <a:r>
              <a:rPr lang="en-US" dirty="0"/>
              <a:t>• Interacts with the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symbol table</a:t>
            </a:r>
          </a:p>
          <a:p>
            <a:pPr marL="185737" indent="0">
              <a:buNone/>
            </a:pPr>
            <a:r>
              <a:rPr lang="en-US" b="1" dirty="0"/>
              <a:t>  </a:t>
            </a:r>
            <a:r>
              <a:rPr lang="en-US" dirty="0"/>
              <a:t>Inserts identifiers when discovered</a:t>
            </a:r>
            <a:br>
              <a:rPr lang="en-US" dirty="0"/>
            </a:br>
            <a:r>
              <a:rPr lang="en-US" dirty="0"/>
              <a:t>   May read identifier information to determine the correct token</a:t>
            </a:r>
            <a:br>
              <a:rPr lang="en-US" dirty="0"/>
            </a:br>
            <a:r>
              <a:rPr lang="en-US" dirty="0"/>
              <a:t>• Parser usually calls the lexical analyzer using 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getNextToken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()</a:t>
            </a:r>
            <a:br>
              <a:rPr lang="en-US" dirty="0"/>
            </a:br>
            <a:r>
              <a:rPr lang="en-US" dirty="0"/>
              <a:t>• Performs extra tasks during scanning:</a:t>
            </a:r>
            <a:br>
              <a:rPr lang="en-US" dirty="0"/>
            </a:br>
            <a:r>
              <a:rPr lang="en-US" dirty="0"/>
              <a:t> –  Removes comments</a:t>
            </a:r>
            <a:br>
              <a:rPr lang="en-US" dirty="0"/>
            </a:br>
            <a:r>
              <a:rPr lang="en-US" dirty="0"/>
              <a:t> – Removes whitespace (blank, newline, tab)</a:t>
            </a:r>
            <a:br>
              <a:rPr lang="en-US" dirty="0"/>
            </a:br>
            <a:r>
              <a:rPr lang="en-US" dirty="0"/>
              <a:t> – Tracks line numbers for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error reporting</a:t>
            </a:r>
            <a:br>
              <a:rPr lang="en-US" dirty="0"/>
            </a:br>
            <a:r>
              <a:rPr lang="en-US" dirty="0"/>
              <a:t> – May insert error messages into a copy of the source program</a:t>
            </a:r>
            <a:br>
              <a:rPr lang="en-US" dirty="0"/>
            </a:br>
            <a:r>
              <a:rPr lang="en-US" dirty="0"/>
              <a:t> – May expand macros if a macro-preprocessor is used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3326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4023F-2567-B908-272E-7150E3FE3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CC5C8-C60C-714B-F1C8-BE8610CCC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Lexical analyzers are often divided into two stages: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1.Scanning (Simple tasks)</a:t>
            </a:r>
          </a:p>
          <a:p>
            <a:pPr indent="36513"/>
            <a:r>
              <a:rPr lang="en-US" b="1" dirty="0"/>
              <a:t>  </a:t>
            </a:r>
            <a:r>
              <a:rPr lang="en-US" dirty="0"/>
              <a:t>Performs operations that do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not</a:t>
            </a:r>
            <a:r>
              <a:rPr lang="en-US" dirty="0"/>
              <a:t> require tokenization such as: 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   • Removes comments</a:t>
            </a:r>
            <a:br>
              <a:rPr lang="en-US" dirty="0"/>
            </a:br>
            <a:r>
              <a:rPr lang="en-US" dirty="0"/>
              <a:t>   • Compresses multiple whitespace characters into one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2. Lexical Analysis Proper (Main task)</a:t>
            </a:r>
          </a:p>
          <a:p>
            <a:pPr marL="457200" lvl="1" indent="0">
              <a:buNone/>
            </a:pPr>
            <a:r>
              <a:rPr lang="en-US" dirty="0"/>
              <a:t>• Receives cleaned input from the scanner</a:t>
            </a:r>
            <a:br>
              <a:rPr lang="en-US" dirty="0"/>
            </a:br>
            <a:r>
              <a:rPr lang="en-US" dirty="0"/>
              <a:t>• Identifies lexemes</a:t>
            </a:r>
            <a:br>
              <a:rPr lang="en-US" dirty="0"/>
            </a:br>
            <a:r>
              <a:rPr lang="en-US" dirty="0"/>
              <a:t>• Produces </a:t>
            </a:r>
            <a:r>
              <a:rPr lang="en-US" b="1" dirty="0"/>
              <a:t>tokens</a:t>
            </a:r>
            <a:r>
              <a:rPr lang="en-US" dirty="0"/>
              <a:t> for the parser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1684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A3F57-CD85-273E-EFD3-5AB9EB49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0BE5F-E35F-2565-79FD-4F213FD60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dirty="0"/>
              <a:t>Lexeme: </a:t>
            </a:r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lexeme</a:t>
            </a:r>
            <a:r>
              <a:rPr lang="en-US" dirty="0"/>
              <a:t> is the </a:t>
            </a:r>
            <a:r>
              <a:rPr lang="en-US" b="1" dirty="0">
                <a:solidFill>
                  <a:srgbClr val="FF0000"/>
                </a:solidFill>
              </a:rPr>
              <a:t>actual sequence of characters </a:t>
            </a:r>
            <a:r>
              <a:rPr lang="en-US" dirty="0"/>
              <a:t>in the program that matches a pattern.</a:t>
            </a:r>
          </a:p>
          <a:p>
            <a:pPr marL="0" indent="0">
              <a:buNone/>
            </a:pPr>
            <a:r>
              <a:rPr lang="en-IN" dirty="0"/>
              <a:t>Example: int marks = 90;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"int"  </a:t>
            </a:r>
            <a:r>
              <a:rPr lang="en-IN" dirty="0"/>
              <a:t>matches pattern for keyword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"marks"  </a:t>
            </a:r>
            <a:r>
              <a:rPr lang="en-IN" dirty="0"/>
              <a:t>matches pattern for identifier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"="</a:t>
            </a:r>
            <a:r>
              <a:rPr lang="en-IN" dirty="0"/>
              <a:t> matches pattern for assignment operator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"90"  </a:t>
            </a:r>
            <a:r>
              <a:rPr lang="en-IN" dirty="0"/>
              <a:t>matches pattern for number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";"</a:t>
            </a:r>
            <a:r>
              <a:rPr lang="en-IN" dirty="0"/>
              <a:t>  matches pattern for semicolon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Lexeme is the actual text that appears in the source program.</a:t>
            </a:r>
            <a:endParaRPr lang="en-I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831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E4D47-3AFA-1E3D-F173-A703FC12E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56442-3C15-7775-21F4-2C484C1AC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Tokens</a:t>
            </a:r>
          </a:p>
          <a:p>
            <a:pPr marL="0" indent="0">
              <a:buNone/>
            </a:pPr>
            <a:r>
              <a:rPr lang="en-US" dirty="0"/>
              <a:t>A token is a pair consisting of a token name and an optional attribute value</a:t>
            </a:r>
          </a:p>
          <a:p>
            <a:pPr marL="0" indent="0">
              <a:buNone/>
            </a:pPr>
            <a:r>
              <a:rPr lang="en-US" dirty="0"/>
              <a:t>Token name is symbol representing a lexical unit.</a:t>
            </a:r>
          </a:p>
          <a:p>
            <a:pPr marL="0" indent="0">
              <a:buNone/>
            </a:pPr>
            <a:r>
              <a:rPr lang="en-US" dirty="0"/>
              <a:t>Example: sum = a + 10;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ID, attribute = “sum”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ASSIGN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ID, attribute = “a”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PLUS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NUM, attribute = 10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SEMICOLON</a:t>
            </a:r>
          </a:p>
        </p:txBody>
      </p:sp>
    </p:spTree>
    <p:extLst>
      <p:ext uri="{BB962C8B-B14F-4D97-AF65-F5344CB8AC3E}">
        <p14:creationId xmlns:p14="http://schemas.microsoft.com/office/powerpoint/2010/main" val="747998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0316-B6B1-3706-C050-A05E3ED5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11794-4EEA-A597-815C-42E9D4DD2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Keywords – if, while, return, etc.</a:t>
            </a:r>
          </a:p>
          <a:p>
            <a:r>
              <a:rPr lang="en-IN" dirty="0"/>
              <a:t>Identifiers – variable names, function names</a:t>
            </a:r>
          </a:p>
          <a:p>
            <a:r>
              <a:rPr lang="en-IN" dirty="0"/>
              <a:t>Literals – numbers, characters, strings</a:t>
            </a:r>
          </a:p>
          <a:p>
            <a:r>
              <a:rPr lang="en-IN" dirty="0"/>
              <a:t>Operators -+,-,*,..</a:t>
            </a:r>
          </a:p>
          <a:p>
            <a:r>
              <a:rPr lang="en-IN" dirty="0"/>
              <a:t>Punctuation – (,),{, , ; ,</a:t>
            </a:r>
          </a:p>
        </p:txBody>
      </p:sp>
    </p:spTree>
    <p:extLst>
      <p:ext uri="{BB962C8B-B14F-4D97-AF65-F5344CB8AC3E}">
        <p14:creationId xmlns:p14="http://schemas.microsoft.com/office/powerpoint/2010/main" val="1346080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55005-DB4D-B59E-5CC8-47D7E7076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E9FF2-5293-D527-7C17-F8D0B8707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Patterns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pattern</a:t>
            </a:r>
            <a:r>
              <a:rPr lang="en-US" dirty="0"/>
              <a:t> describes what form lexemes of a token can take.</a:t>
            </a:r>
          </a:p>
          <a:p>
            <a:r>
              <a:rPr lang="en-US" dirty="0"/>
              <a:t>For </a:t>
            </a:r>
            <a:r>
              <a:rPr lang="en-US" b="1" dirty="0">
                <a:solidFill>
                  <a:srgbClr val="FF0000"/>
                </a:solidFill>
              </a:rPr>
              <a:t>keywords</a:t>
            </a:r>
            <a:r>
              <a:rPr lang="en-US" dirty="0"/>
              <a:t>, the pattern is the exact word.</a:t>
            </a:r>
            <a:br>
              <a:rPr lang="en-US" dirty="0"/>
            </a:b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Pattern for token </a:t>
            </a:r>
            <a:r>
              <a:rPr lang="en-US" b="1" dirty="0">
                <a:solidFill>
                  <a:srgbClr val="FF0000"/>
                </a:solidFill>
              </a:rPr>
              <a:t>IF</a:t>
            </a:r>
            <a:r>
              <a:rPr lang="en-US" dirty="0"/>
              <a:t> is "if".</a:t>
            </a:r>
          </a:p>
          <a:p>
            <a:r>
              <a:rPr lang="en-US" dirty="0"/>
              <a:t>For </a:t>
            </a:r>
            <a:r>
              <a:rPr lang="en-US" b="1" dirty="0">
                <a:solidFill>
                  <a:srgbClr val="FF0000"/>
                </a:solidFill>
              </a:rPr>
              <a:t>identifiers</a:t>
            </a:r>
            <a:r>
              <a:rPr lang="en-US" dirty="0"/>
              <a:t>, pattern is a rule that matches many strings.</a:t>
            </a:r>
            <a:br>
              <a:rPr lang="en-US" dirty="0"/>
            </a:br>
            <a:r>
              <a:rPr lang="en-US" dirty="0"/>
              <a:t>Example pattern for identifiers:</a:t>
            </a:r>
          </a:p>
          <a:p>
            <a:pPr marL="0" indent="0">
              <a:buNone/>
            </a:pPr>
            <a:r>
              <a:rPr lang="en-IN" dirty="0"/>
              <a:t>letter (letter | digit)*</a:t>
            </a:r>
          </a:p>
          <a:p>
            <a:pPr marL="0" indent="0">
              <a:buNone/>
            </a:pPr>
            <a:r>
              <a:rPr lang="en-US" dirty="0"/>
              <a:t>This matches:</a:t>
            </a:r>
            <a:br>
              <a:rPr lang="en-US" dirty="0"/>
            </a:br>
            <a:r>
              <a:rPr lang="en-US" dirty="0"/>
              <a:t>x, total1, value123, </a:t>
            </a:r>
            <a:r>
              <a:rPr lang="en-US" dirty="0" err="1"/>
              <a:t>abc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2030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C973-2D14-AE37-0C02-6BB8D47FC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36C54-9F52-C808-4B35-9BF623FC4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b="1" dirty="0">
                <a:solidFill>
                  <a:srgbClr val="FF0000"/>
                </a:solidFill>
              </a:rPr>
              <a:t>numbers</a:t>
            </a:r>
            <a:r>
              <a:rPr lang="en-US" dirty="0"/>
              <a:t>, pattern could be:</a:t>
            </a:r>
          </a:p>
          <a:p>
            <a:r>
              <a:rPr lang="en-IN" dirty="0"/>
              <a:t>digit digit*</a:t>
            </a:r>
          </a:p>
          <a:p>
            <a:r>
              <a:rPr lang="en-US" dirty="0"/>
              <a:t>This matches:</a:t>
            </a:r>
            <a:br>
              <a:rPr lang="en-US" dirty="0"/>
            </a:br>
            <a:r>
              <a:rPr lang="en-US" dirty="0"/>
              <a:t>5, 23, 7890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the rule or template used to recognize lexemes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151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1155</Words>
  <Application>Microsoft Office PowerPoint</Application>
  <PresentationFormat>Widescreen</PresentationFormat>
  <Paragraphs>131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Times New Roman</vt:lpstr>
      <vt:lpstr>Wingdings</vt:lpstr>
      <vt:lpstr>Office Theme</vt:lpstr>
      <vt:lpstr>Compiler Design</vt:lpstr>
      <vt:lpstr>Compiler</vt:lpstr>
      <vt:lpstr>PowerPoint Presentation</vt:lpstr>
      <vt:lpstr>Interpreter</vt:lpstr>
      <vt:lpstr>PowerPoint Presentation</vt:lpstr>
      <vt:lpstr>PowerPoint Presentation</vt:lpstr>
      <vt:lpstr>Language Processing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Phases of A Compiler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Lexical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Anusuya R</dc:creator>
  <cp:lastModifiedBy>Anusuya R</cp:lastModifiedBy>
  <cp:revision>1</cp:revision>
  <dcterms:created xsi:type="dcterms:W3CDTF">2025-12-09T05:50:48Z</dcterms:created>
  <dcterms:modified xsi:type="dcterms:W3CDTF">2025-12-12T03:27:53Z</dcterms:modified>
</cp:coreProperties>
</file>