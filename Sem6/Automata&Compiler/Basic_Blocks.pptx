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0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1156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43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FD478-1419-DCF2-F698-F49D16D8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EEBC9-06FD-AE6F-5D1C-FFF789F0A8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94A7F9-D7E5-F772-D8FC-FD99B34B3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CFCE6-226F-B327-9DD7-773B89A8D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12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FCD700-2AFA-932A-F650-03FCFDA1B721}"/>
              </a:ext>
            </a:extLst>
          </p:cNvPr>
          <p:cNvSpPr txBox="1"/>
          <p:nvPr/>
        </p:nvSpPr>
        <p:spPr>
          <a:xfrm>
            <a:off x="2733964" y="1560945"/>
            <a:ext cx="41378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</a:rPr>
              <a:t>Basic Blocks</a:t>
            </a:r>
          </a:p>
        </p:txBody>
      </p:sp>
    </p:spTree>
    <p:extLst>
      <p:ext uri="{BB962C8B-B14F-4D97-AF65-F5344CB8AC3E}">
        <p14:creationId xmlns:p14="http://schemas.microsoft.com/office/powerpoint/2010/main" val="118175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Basic Block?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8503920" cy="960120"/>
          </a:xfrm>
          <a:prstGeom prst="rect">
            <a:avLst/>
          </a:prstGeom>
          <a:solidFill>
            <a:srgbClr val="FFFFFF"/>
          </a:solidFill>
          <a:ln w="31750">
            <a:solidFill>
              <a:srgbClr val="0F8B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137160" cy="9601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8686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124712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block is a maximal sequence of consecutive three-address instructions such that control enters only at the beginning and leaves only at the end no branches in, no jumps out except at the last instruction.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920240"/>
            <a:ext cx="2743200" cy="4572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143000" y="2487168"/>
            <a:ext cx="1097280" cy="1097280"/>
          </a:xfrm>
          <a:prstGeom prst="ellipse">
            <a:avLst/>
          </a:prstGeom>
          <a:solidFill>
            <a:srgbClr val="0F8B8D">
              <a:alpha val="15000"/>
            </a:srgbClr>
          </a:solidFill>
          <a:ln w="12700">
            <a:solidFill>
              <a:srgbClr val="0F8B8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43000" y="248716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" y="370332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can only enter at the very first instruction (the leader). There are no jump targets in the middle.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2002074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3246120" y="1920240"/>
            <a:ext cx="274320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55848" y="1920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Straight-Line Code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069080" y="2487168"/>
            <a:ext cx="1097280" cy="1097280"/>
          </a:xfrm>
          <a:prstGeom prst="ellipse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069080" y="248716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55848" y="370332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instructions between entry and exit execute sequentially. No conditional or unconditional branches in the middle.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1920240"/>
            <a:ext cx="2743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72200" y="1920240"/>
            <a:ext cx="2743200" cy="4572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81928" y="192024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Exit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95160" y="2487168"/>
            <a:ext cx="1097280" cy="1097280"/>
          </a:xfrm>
          <a:prstGeom prst="ellipse">
            <a:avLst/>
          </a:prstGeom>
          <a:solidFill>
            <a:srgbClr val="2ECC71">
              <a:alpha val="15000"/>
            </a:srgbClr>
          </a:solidFill>
          <a:ln w="12700">
            <a:solidFill>
              <a:srgbClr val="2ECC71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995160" y="248716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81928" y="3703320"/>
            <a:ext cx="2523744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 exits only from the last instruction — either a branch, a goto, or just falling through to the next block.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Basic Blocks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8B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502920" cy="5029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 Length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" y="128016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block is as long as possible . we never split a block unnecessarily. We extend it until we must stop (at a branch or a new leader).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" y="1783080"/>
            <a:ext cx="4069080" cy="246888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i=0, j=0, k=i+j   →  all 3 are one block (no branches)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1480" y="2331720"/>
            <a:ext cx="502920" cy="50292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Internal Branches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9768" y="269748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instruction inside the block (except the last) can be a conditional or unconditional branch. No other instruction can be a jump target.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" y="3200400"/>
            <a:ext cx="4069080" cy="246888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21868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if x&gt;0 goto L   →  must end the block here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65760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1480" y="3749040"/>
            <a:ext cx="502920" cy="50292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9768" y="411480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first instruction of a basic block can be the target of a jump from elsewhere. Jumping into the middle of a block would split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9768" y="4617720"/>
            <a:ext cx="4069080" cy="246888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463600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L: x = a+b   →  L is the entry; x=a+b starts a new block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82296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937760" y="914400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914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Execution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56048" y="128016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instruction of a block executes, all remaining instructions execute in order. Partial execution of a block cannot occur at runtime.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56048" y="1783080"/>
            <a:ext cx="4069080" cy="246888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29200" y="180136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Enables whole-block optimizations: code motion, CSE, DCE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24028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37760" y="2331720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 / Successor Blocks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956048" y="269748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are connected by edges forming the CFG. A block may have multiple successors (via conditional branch) and multiple predecessors (join point).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56048" y="3200400"/>
            <a:ext cx="4069080" cy="246888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029200" y="321868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if-else: B1 → {B2 (true), B3 (false)};  B2,B3 → B4 (merge)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657600"/>
            <a:ext cx="42519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37760" y="3749040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3776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32120" y="3749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Optimizations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4956048" y="4114800"/>
            <a:ext cx="4069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block, compilers can freely reorder, eliminate redundant operations, propagate constants, and allocate registers without correctness concerns.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956048" y="4617720"/>
            <a:ext cx="4069080" cy="246888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29200" y="4636008"/>
            <a:ext cx="39319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t1=a+b; t2=a+b  →  t2=t1  (CSE within block)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Leaders — The Key Step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37160" cy="5669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822960"/>
            <a:ext cx="8138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is the first instruction of a basic block. Once all leaders are identified, each basic block = leader instruction + all instructions up to (but not including) the next leader.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274320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F8B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508760"/>
            <a:ext cx="2743200" cy="45720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29768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Instruction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43000" y="2084832"/>
            <a:ext cx="1097280" cy="1097280"/>
          </a:xfrm>
          <a:prstGeom prst="ellipse">
            <a:avLst/>
          </a:prstGeom>
          <a:solidFill>
            <a:srgbClr val="0F8B8D">
              <a:alpha val="12000"/>
            </a:srgbClr>
          </a:solidFill>
          <a:ln w="12700">
            <a:solidFill>
              <a:srgbClr val="0F8B8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43000" y="208483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9768" y="32918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very first instruction of the program is always a leader. There is no way to skip 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" y="3977640"/>
            <a:ext cx="2523744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4632" y="400507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Always applies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42336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 starts → Instruction 1 is a leader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63240" y="2834640"/>
            <a:ext cx="13716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26664" y="269748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200400" y="1508760"/>
            <a:ext cx="274320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200400" y="1508760"/>
            <a:ext cx="274320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310128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94760" y="1508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Target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023360" y="2084832"/>
            <a:ext cx="1097280" cy="1097280"/>
          </a:xfrm>
          <a:prstGeom prst="ellipse">
            <a:avLst/>
          </a:prstGeom>
          <a:solidFill>
            <a:srgbClr val="E07B39">
              <a:alpha val="12000"/>
            </a:srgbClr>
          </a:solidFill>
          <a:ln w="12700">
            <a:solidFill>
              <a:srgbClr val="E07B3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023360" y="208483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310128" y="32918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instruction that is the target of a conditional or unconditional jump (goto, if-goto) is a leader.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3977640"/>
            <a:ext cx="2523744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364992" y="400507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if x goto L  →  L is a leader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64992" y="42336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L5  →  instruction at L5 is a leader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943600" y="2834640"/>
            <a:ext cx="13716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07024" y="269748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80760" y="1508760"/>
            <a:ext cx="2743200" cy="342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080760" y="1508760"/>
            <a:ext cx="27432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190488" y="1508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75120" y="1508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Branch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03720" y="2084832"/>
            <a:ext cx="1097280" cy="1097280"/>
          </a:xfrm>
          <a:prstGeom prst="ellipse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03720" y="2084832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190488" y="3291840"/>
            <a:ext cx="2523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immediately following a conditional or unconditional branch is a leader (fall-through path).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0488" y="3977640"/>
            <a:ext cx="2523744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45352" y="4005072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Instruction after if/goto is a leader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45352" y="42336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a&gt;b goto L;  NEXT →  NEXT is a leader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Three-Address Code → Basic Blocks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38404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Steps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384048" cy="34747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298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List of 3-address instructions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" y="1645920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1773936"/>
            <a:ext cx="384048" cy="3474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7739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LEADERS using the 3 rules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" y="2121408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384048" cy="3474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24942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249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leader instruction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" y="2596896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" y="2724912"/>
            <a:ext cx="384048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272491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27249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leader L, start a new block B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" y="3072384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384048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320040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32004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instructions from L up to (not including) the next leader into B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" y="3547872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7200" y="3675888"/>
            <a:ext cx="384048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367588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32688" y="36758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 4-5 for every leader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" y="4023360"/>
            <a:ext cx="0" cy="12801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7200" y="4151376"/>
            <a:ext cx="384048" cy="34747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41513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" y="4151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Set of basic blocks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63440" y="804672"/>
            <a:ext cx="4160520" cy="4160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00600" y="804672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1234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leaders = { 1 }  // instruction 1 always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54880" y="14401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54880" y="16459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range(1, len(code)):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18516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code[i] is branch: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54880" y="20574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leaders.add(target of branch)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54880" y="22631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leaders.add(i + 1)  # fall-thru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754880" y="2468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54880" y="26746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blocks = []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54880" y="28803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sorted_leaders = sorted(leaders)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54880" y="30861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j, lead in enumerate(sorted_leaders):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754880" y="32918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next = sorted_leaders[j+1]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34975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if j+1 &lt; len else END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54880" y="37033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blocks.append(code[lead : next])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54880" y="39090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754880" y="41148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blocks  // done!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Step 1: Identify Leaders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502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3716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832104"/>
            <a:ext cx="813816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compute sum of 1..N and check if it's even. Let's find all leaders and basic blocks.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41148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Three-Address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848193"/>
            <a:ext cx="4114800" cy="162383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" y="182880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" y="18288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06654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8096" y="206654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30428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8096" y="230428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 &gt; N goto (8)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523744"/>
            <a:ext cx="4114800" cy="23774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" y="254203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" y="254203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sum + 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277977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" y="27797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i + 1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" y="301752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" y="301752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(3)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236976"/>
            <a:ext cx="4114800" cy="23774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325526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" y="325526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sum mod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4048" y="349300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8096" y="349300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t1 == 0 goto (12)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712464"/>
            <a:ext cx="4114800" cy="23774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84048" y="373075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" y="3730752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"odd"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" y="396849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68096" y="396849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(13)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87952"/>
            <a:ext cx="4114800" cy="23774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84048" y="420624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" y="420624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"even"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425696"/>
            <a:ext cx="4114800" cy="23774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84048" y="44439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" y="4443984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148590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663440" y="1417320"/>
            <a:ext cx="4160520" cy="347472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00600" y="1417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Found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709160" y="1828800"/>
            <a:ext cx="4069080" cy="420624"/>
          </a:xfrm>
          <a:prstGeom prst="rect">
            <a:avLst/>
          </a:prstGeom>
          <a:solidFill>
            <a:srgbClr val="EDF2F7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709160" y="1828800"/>
            <a:ext cx="91440" cy="42062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892040" y="18470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 1:  i = 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20482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First instruction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2747448"/>
            <a:ext cx="4069080" cy="420624"/>
          </a:xfrm>
          <a:prstGeom prst="rect">
            <a:avLst/>
          </a:prstGeom>
          <a:solidFill>
            <a:srgbClr val="EDF2F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709160" y="2304288"/>
            <a:ext cx="91440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846320" y="2765645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 4:  sum = sum + i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56048" y="2996253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— After 'if i&gt;N goto'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96028" y="3213423"/>
            <a:ext cx="4069080" cy="420624"/>
          </a:xfrm>
          <a:prstGeom prst="rect">
            <a:avLst/>
          </a:prstGeom>
          <a:solidFill>
            <a:srgbClr val="EDF2F7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709160" y="2779776"/>
            <a:ext cx="91440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892040" y="3240855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 8:  t1 = sum mod 2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926330" y="3433641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Target of 'goto (8)'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54880" y="3661479"/>
            <a:ext cx="4069080" cy="420624"/>
          </a:xfrm>
          <a:prstGeom prst="rect">
            <a:avLst/>
          </a:prstGeom>
          <a:solidFill>
            <a:srgbClr val="EDF2F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709160" y="3255264"/>
            <a:ext cx="91440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892040" y="3652335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 10: print "odd"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4869180" y="3880797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 — After 'if t1==0 goto'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732020" y="4117848"/>
            <a:ext cx="4069080" cy="420624"/>
          </a:xfrm>
          <a:prstGeom prst="rect">
            <a:avLst/>
          </a:prstGeom>
          <a:solidFill>
            <a:srgbClr val="EDF2F7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709160" y="3730752"/>
            <a:ext cx="91440" cy="42062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926330" y="41711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 12: print "even"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956048" y="43555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Target of 'goto (12)'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732020" y="4538472"/>
            <a:ext cx="4069080" cy="420624"/>
          </a:xfrm>
          <a:prstGeom prst="rect">
            <a:avLst/>
          </a:prstGeom>
          <a:solidFill>
            <a:srgbClr val="EDF2F7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4709160" y="4206240"/>
            <a:ext cx="91440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846320" y="45659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 13: halt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892040" y="47762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Target of '</a:t>
            </a:r>
            <a:r>
              <a:rPr lang="en-US" sz="950" i="1" dirty="0" err="1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</a:t>
            </a:r>
            <a:r>
              <a:rPr lang="en-US" sz="9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(13)'</a:t>
            </a:r>
            <a:endParaRPr lang="en-US" sz="950" dirty="0"/>
          </a:p>
        </p:txBody>
      </p:sp>
      <p:sp>
        <p:nvSpPr>
          <p:cNvPr id="67" name="Shape 41">
            <a:extLst>
              <a:ext uri="{FF2B5EF4-FFF2-40B4-BE49-F238E27FC236}">
                <a16:creationId xmlns:a16="http://schemas.microsoft.com/office/drawing/2014/main" id="{2AE3BF80-3D5C-AF34-A503-BB7DE7701C94}"/>
              </a:ext>
            </a:extLst>
          </p:cNvPr>
          <p:cNvSpPr/>
          <p:nvPr/>
        </p:nvSpPr>
        <p:spPr>
          <a:xfrm>
            <a:off x="4800600" y="2331905"/>
            <a:ext cx="4069080" cy="420624"/>
          </a:xfrm>
          <a:prstGeom prst="rect">
            <a:avLst/>
          </a:prstGeom>
          <a:solidFill>
            <a:srgbClr val="EDF2F7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43">
            <a:extLst>
              <a:ext uri="{FF2B5EF4-FFF2-40B4-BE49-F238E27FC236}">
                <a16:creationId xmlns:a16="http://schemas.microsoft.com/office/drawing/2014/main" id="{ED5C25E4-C598-BD6C-3389-C6F1BFAA452E}"/>
              </a:ext>
            </a:extLst>
          </p:cNvPr>
          <p:cNvSpPr/>
          <p:nvPr/>
        </p:nvSpPr>
        <p:spPr>
          <a:xfrm>
            <a:off x="4869180" y="2294775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</a:t>
            </a:r>
            <a:r>
              <a:rPr lang="en-US" sz="1050" b="1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3:  </a:t>
            </a:r>
            <a:endParaRPr lang="en-US" sz="1050" dirty="0"/>
          </a:p>
        </p:txBody>
      </p:sp>
      <p:sp>
        <p:nvSpPr>
          <p:cNvPr id="69" name="Text 44">
            <a:extLst>
              <a:ext uri="{FF2B5EF4-FFF2-40B4-BE49-F238E27FC236}">
                <a16:creationId xmlns:a16="http://schemas.microsoft.com/office/drawing/2014/main" id="{84FE6E18-4908-D543-CFE6-646B2EFFEDFE}"/>
              </a:ext>
            </a:extLst>
          </p:cNvPr>
          <p:cNvSpPr/>
          <p:nvPr/>
        </p:nvSpPr>
        <p:spPr>
          <a:xfrm>
            <a:off x="4846320" y="250545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2— Target of  Line 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1E79CE-5FEA-42BB-6283-1BAC388D1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F1EDAE-0586-6A7E-3CCD-C25734293B8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ECDDF06-84D0-32AB-68A8-BAB500D3A35B}"/>
              </a:ext>
            </a:extLst>
          </p:cNvPr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Step 2: Form the Blocks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E521A9-9883-CA58-4702-CEA3FF0DD409}"/>
              </a:ext>
            </a:extLst>
          </p:cNvPr>
          <p:cNvSpPr/>
          <p:nvPr/>
        </p:nvSpPr>
        <p:spPr>
          <a:xfrm>
            <a:off x="320040" y="804672"/>
            <a:ext cx="4251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0F8B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DCAD110-43B9-C3F8-EF1F-CE76CF9D336B}"/>
              </a:ext>
            </a:extLst>
          </p:cNvPr>
          <p:cNvSpPr/>
          <p:nvPr/>
        </p:nvSpPr>
        <p:spPr>
          <a:xfrm>
            <a:off x="320040" y="804672"/>
            <a:ext cx="4251960" cy="38404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F9BD2A-7CC9-A753-16AF-32D8893A3088}"/>
              </a:ext>
            </a:extLst>
          </p:cNvPr>
          <p:cNvSpPr/>
          <p:nvPr/>
        </p:nvSpPr>
        <p:spPr>
          <a:xfrm>
            <a:off x="429768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F7B70D-6C5F-6F0C-BB3A-7CCC341201B1}"/>
              </a:ext>
            </a:extLst>
          </p:cNvPr>
          <p:cNvSpPr/>
          <p:nvPr/>
        </p:nvSpPr>
        <p:spPr>
          <a:xfrm>
            <a:off x="978408" y="8046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58D922-CD16-09C8-FC6C-2E4157BDF1F5}"/>
              </a:ext>
            </a:extLst>
          </p:cNvPr>
          <p:cNvSpPr/>
          <p:nvPr/>
        </p:nvSpPr>
        <p:spPr>
          <a:xfrm>
            <a:off x="484632" y="1243584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580C4E4-BCC4-1E0D-B234-98CFFBFD9CC9}"/>
              </a:ext>
            </a:extLst>
          </p:cNvPr>
          <p:cNvSpPr/>
          <p:nvPr/>
        </p:nvSpPr>
        <p:spPr>
          <a:xfrm>
            <a:off x="484632" y="1444752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0</a:t>
            </a:r>
            <a:endParaRPr lang="en-US" sz="1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F3C7AA-4FB8-DB46-3E05-26B3AD2F2B6D}"/>
              </a:ext>
            </a:extLst>
          </p:cNvPr>
          <p:cNvSpPr/>
          <p:nvPr/>
        </p:nvSpPr>
        <p:spPr>
          <a:xfrm>
            <a:off x="484632" y="1645920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DE278AC-42D0-339A-F69F-3CD94A8BADB1}"/>
              </a:ext>
            </a:extLst>
          </p:cNvPr>
          <p:cNvSpPr/>
          <p:nvPr/>
        </p:nvSpPr>
        <p:spPr>
          <a:xfrm>
            <a:off x="429768" y="1847088"/>
            <a:ext cx="4023360" cy="237744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0A6F405-3DAE-E56B-7E21-5F470FE26E81}"/>
              </a:ext>
            </a:extLst>
          </p:cNvPr>
          <p:cNvSpPr/>
          <p:nvPr/>
        </p:nvSpPr>
        <p:spPr>
          <a:xfrm>
            <a:off x="320040" y="2249424"/>
            <a:ext cx="4251960" cy="752407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66B16D8B-59F3-DE73-47AA-C4D44B2C5FE0}"/>
              </a:ext>
            </a:extLst>
          </p:cNvPr>
          <p:cNvSpPr/>
          <p:nvPr/>
        </p:nvSpPr>
        <p:spPr>
          <a:xfrm>
            <a:off x="320040" y="2249424"/>
            <a:ext cx="4251960" cy="3840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0C7E8BB-71C5-2FB5-7A39-B123326E9537}"/>
              </a:ext>
            </a:extLst>
          </p:cNvPr>
          <p:cNvSpPr/>
          <p:nvPr/>
        </p:nvSpPr>
        <p:spPr>
          <a:xfrm>
            <a:off x="429768" y="22494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19A83F-FF2E-ED40-C157-06868E1E6B0C}"/>
              </a:ext>
            </a:extLst>
          </p:cNvPr>
          <p:cNvSpPr/>
          <p:nvPr/>
        </p:nvSpPr>
        <p:spPr>
          <a:xfrm>
            <a:off x="978408" y="2249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A0773B7-84D7-0689-9D6B-84D22071F9B4}"/>
              </a:ext>
            </a:extLst>
          </p:cNvPr>
          <p:cNvSpPr/>
          <p:nvPr/>
        </p:nvSpPr>
        <p:spPr>
          <a:xfrm>
            <a:off x="484632" y="2688336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00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N  </a:t>
            </a:r>
            <a:r>
              <a:rPr lang="en-US" sz="100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BF788B7-4D7C-286C-15BB-D56C88B139B0}"/>
              </a:ext>
            </a:extLst>
          </p:cNvPr>
          <p:cNvSpPr/>
          <p:nvPr/>
        </p:nvSpPr>
        <p:spPr>
          <a:xfrm>
            <a:off x="484632" y="2889504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6AE48D-9F8D-C78E-586F-D5A0E5D28782}"/>
              </a:ext>
            </a:extLst>
          </p:cNvPr>
          <p:cNvSpPr/>
          <p:nvPr/>
        </p:nvSpPr>
        <p:spPr>
          <a:xfrm>
            <a:off x="484632" y="3090672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4793BDB-3433-404A-C4FC-9D8EB82DDCB6}"/>
              </a:ext>
            </a:extLst>
          </p:cNvPr>
          <p:cNvSpPr/>
          <p:nvPr/>
        </p:nvSpPr>
        <p:spPr>
          <a:xfrm>
            <a:off x="320040" y="3056695"/>
            <a:ext cx="4251960" cy="1963361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677E310-1FA2-A0FD-CD8F-4A8CD3DF700E}"/>
              </a:ext>
            </a:extLst>
          </p:cNvPr>
          <p:cNvSpPr/>
          <p:nvPr/>
        </p:nvSpPr>
        <p:spPr>
          <a:xfrm>
            <a:off x="315468" y="3075316"/>
            <a:ext cx="4251960" cy="273653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r>
              <a:rPr lang="en-IN" dirty="0"/>
              <a:t>B3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7CAE0D3-9A22-89BE-AAA0-A853C518A510}"/>
              </a:ext>
            </a:extLst>
          </p:cNvPr>
          <p:cNvSpPr/>
          <p:nvPr/>
        </p:nvSpPr>
        <p:spPr>
          <a:xfrm>
            <a:off x="429768" y="36941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D0E177A-A70E-5380-BEA0-793A661F4696}"/>
              </a:ext>
            </a:extLst>
          </p:cNvPr>
          <p:cNvSpPr/>
          <p:nvPr/>
        </p:nvSpPr>
        <p:spPr>
          <a:xfrm>
            <a:off x="978408" y="3090672"/>
            <a:ext cx="34747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32C5122-47E1-1FF4-401E-2B4A4F6DF16B}"/>
              </a:ext>
            </a:extLst>
          </p:cNvPr>
          <p:cNvSpPr/>
          <p:nvPr/>
        </p:nvSpPr>
        <p:spPr>
          <a:xfrm>
            <a:off x="429768" y="3474720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sum + </a:t>
            </a:r>
            <a:r>
              <a:rPr lang="en-US" sz="100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3B93946-544A-E600-0E0F-22267D37466D}"/>
              </a:ext>
            </a:extLst>
          </p:cNvPr>
          <p:cNvSpPr/>
          <p:nvPr/>
        </p:nvSpPr>
        <p:spPr>
          <a:xfrm>
            <a:off x="429768" y="3752016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0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+ 1</a:t>
            </a:r>
            <a:endParaRPr lang="en-US" sz="10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7C72D61-E281-0715-E42D-FDB8068CFB0A}"/>
              </a:ext>
            </a:extLst>
          </p:cNvPr>
          <p:cNvSpPr/>
          <p:nvPr/>
        </p:nvSpPr>
        <p:spPr>
          <a:xfrm>
            <a:off x="429768" y="4736592"/>
            <a:ext cx="4023360" cy="237744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CD5EC87C-8A05-B3BA-A913-E9666E12E4D6}"/>
              </a:ext>
            </a:extLst>
          </p:cNvPr>
          <p:cNvSpPr/>
          <p:nvPr/>
        </p:nvSpPr>
        <p:spPr>
          <a:xfrm>
            <a:off x="4782312" y="804672"/>
            <a:ext cx="4251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E80CD4C4-FD42-40A1-4245-5D534E0AE13B}"/>
              </a:ext>
            </a:extLst>
          </p:cNvPr>
          <p:cNvSpPr/>
          <p:nvPr/>
        </p:nvSpPr>
        <p:spPr>
          <a:xfrm>
            <a:off x="4782312" y="804672"/>
            <a:ext cx="42519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5A1452AB-611F-0013-B533-1E851DD085BB}"/>
              </a:ext>
            </a:extLst>
          </p:cNvPr>
          <p:cNvSpPr/>
          <p:nvPr/>
        </p:nvSpPr>
        <p:spPr>
          <a:xfrm>
            <a:off x="4892040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4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E8F0FEC-8357-6153-8507-11E4CDE277AB}"/>
              </a:ext>
            </a:extLst>
          </p:cNvPr>
          <p:cNvSpPr/>
          <p:nvPr/>
        </p:nvSpPr>
        <p:spPr>
          <a:xfrm>
            <a:off x="5440680" y="8046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B7DEEBE-BA8A-F903-4C08-806FD3578E31}"/>
              </a:ext>
            </a:extLst>
          </p:cNvPr>
          <p:cNvSpPr/>
          <p:nvPr/>
        </p:nvSpPr>
        <p:spPr>
          <a:xfrm>
            <a:off x="4946904" y="1243584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874514C-0B31-5491-65AA-E062CD1AB2C1}"/>
              </a:ext>
            </a:extLst>
          </p:cNvPr>
          <p:cNvSpPr/>
          <p:nvPr/>
        </p:nvSpPr>
        <p:spPr>
          <a:xfrm>
            <a:off x="4946904" y="1444752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018987C-4E15-B950-D60B-645D486D1091}"/>
              </a:ext>
            </a:extLst>
          </p:cNvPr>
          <p:cNvSpPr/>
          <p:nvPr/>
        </p:nvSpPr>
        <p:spPr>
          <a:xfrm>
            <a:off x="4892040" y="1847088"/>
            <a:ext cx="4023360" cy="237744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F10A5F7-C17D-7755-85B5-177B6EF54C19}"/>
              </a:ext>
            </a:extLst>
          </p:cNvPr>
          <p:cNvSpPr/>
          <p:nvPr/>
        </p:nvSpPr>
        <p:spPr>
          <a:xfrm>
            <a:off x="4736592" y="2289946"/>
            <a:ext cx="4251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A8224BA-F0E0-9766-125D-78BB0445F05B}"/>
              </a:ext>
            </a:extLst>
          </p:cNvPr>
          <p:cNvSpPr/>
          <p:nvPr/>
        </p:nvSpPr>
        <p:spPr>
          <a:xfrm>
            <a:off x="4782312" y="2249424"/>
            <a:ext cx="425196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F4808E9E-370E-B957-66A0-7381B5C6DD92}"/>
              </a:ext>
            </a:extLst>
          </p:cNvPr>
          <p:cNvSpPr/>
          <p:nvPr/>
        </p:nvSpPr>
        <p:spPr>
          <a:xfrm>
            <a:off x="4892040" y="22494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26691C1-D504-4100-D30B-5CC66149603B}"/>
              </a:ext>
            </a:extLst>
          </p:cNvPr>
          <p:cNvSpPr/>
          <p:nvPr/>
        </p:nvSpPr>
        <p:spPr>
          <a:xfrm>
            <a:off x="5440680" y="224942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BF95F23-17D5-21DF-5C8F-388C68CF23DF}"/>
              </a:ext>
            </a:extLst>
          </p:cNvPr>
          <p:cNvSpPr/>
          <p:nvPr/>
        </p:nvSpPr>
        <p:spPr>
          <a:xfrm>
            <a:off x="4946904" y="2688336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DA70861B-8487-A4FD-C7BB-3C14E41EAECC}"/>
              </a:ext>
            </a:extLst>
          </p:cNvPr>
          <p:cNvSpPr/>
          <p:nvPr/>
        </p:nvSpPr>
        <p:spPr>
          <a:xfrm>
            <a:off x="4736592" y="3694176"/>
            <a:ext cx="4251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136B1C60-5DB0-15C2-7B55-A25A31CE4CA0}"/>
              </a:ext>
            </a:extLst>
          </p:cNvPr>
          <p:cNvSpPr/>
          <p:nvPr/>
        </p:nvSpPr>
        <p:spPr>
          <a:xfrm>
            <a:off x="4782312" y="3694176"/>
            <a:ext cx="425196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DB1C18F-5E0F-0649-D96D-EFCAC6FFBBE0}"/>
              </a:ext>
            </a:extLst>
          </p:cNvPr>
          <p:cNvSpPr/>
          <p:nvPr/>
        </p:nvSpPr>
        <p:spPr>
          <a:xfrm>
            <a:off x="4892040" y="36941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4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3D37D42-860A-3C24-F4B0-AC9A1B7B79DC}"/>
              </a:ext>
            </a:extLst>
          </p:cNvPr>
          <p:cNvSpPr/>
          <p:nvPr/>
        </p:nvSpPr>
        <p:spPr>
          <a:xfrm>
            <a:off x="5440680" y="36941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12202B1-EF8E-D0CF-0BAE-817BE08DC900}"/>
              </a:ext>
            </a:extLst>
          </p:cNvPr>
          <p:cNvSpPr/>
          <p:nvPr/>
        </p:nvSpPr>
        <p:spPr>
          <a:xfrm>
            <a:off x="4892040" y="4736592"/>
            <a:ext cx="4023360" cy="237744"/>
          </a:xfrm>
          <a:prstGeom prst="rect">
            <a:avLst/>
          </a:prstGeom>
          <a:solidFill>
            <a:srgbClr val="EDF2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4D7244-8ABA-1F6D-3488-468FBE21D464}"/>
              </a:ext>
            </a:extLst>
          </p:cNvPr>
          <p:cNvSpPr txBox="1"/>
          <p:nvPr/>
        </p:nvSpPr>
        <p:spPr>
          <a:xfrm>
            <a:off x="427459" y="3938820"/>
            <a:ext cx="45766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en-US" sz="1000" dirty="0" err="1">
                <a:solidFill>
                  <a:srgbClr val="2D3748"/>
                </a:solidFill>
                <a:latin typeface="Consolas" pitchFamily="34" charset="0"/>
              </a:rPr>
              <a:t>goto</a:t>
            </a:r>
            <a:r>
              <a:rPr lang="en-US" sz="1000" dirty="0">
                <a:solidFill>
                  <a:srgbClr val="2D3748"/>
                </a:solidFill>
                <a:latin typeface="Consolas" pitchFamily="34" charset="0"/>
              </a:rPr>
              <a:t> (3)</a:t>
            </a: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DD10D338-78E1-24CD-E2B9-D805D2EFE26F}"/>
              </a:ext>
            </a:extLst>
          </p:cNvPr>
          <p:cNvSpPr/>
          <p:nvPr/>
        </p:nvSpPr>
        <p:spPr>
          <a:xfrm>
            <a:off x="4892040" y="1549908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t1 == 0  </a:t>
            </a:r>
            <a:r>
              <a:rPr lang="en-US" sz="100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12</a:t>
            </a:r>
            <a:endParaRPr lang="en-US" sz="1000" dirty="0"/>
          </a:p>
        </p:txBody>
      </p:sp>
      <p:sp>
        <p:nvSpPr>
          <p:cNvPr id="58" name="Text 32">
            <a:extLst>
              <a:ext uri="{FF2B5EF4-FFF2-40B4-BE49-F238E27FC236}">
                <a16:creationId xmlns:a16="http://schemas.microsoft.com/office/drawing/2014/main" id="{54E85B06-247B-9ECA-F774-7A800CF94E72}"/>
              </a:ext>
            </a:extLst>
          </p:cNvPr>
          <p:cNvSpPr/>
          <p:nvPr/>
        </p:nvSpPr>
        <p:spPr>
          <a:xfrm>
            <a:off x="4892040" y="2744493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"odd"</a:t>
            </a:r>
            <a:endParaRPr lang="en-US" sz="1000" dirty="0"/>
          </a:p>
        </p:txBody>
      </p:sp>
      <p:sp>
        <p:nvSpPr>
          <p:cNvPr id="59" name="Text 40">
            <a:extLst>
              <a:ext uri="{FF2B5EF4-FFF2-40B4-BE49-F238E27FC236}">
                <a16:creationId xmlns:a16="http://schemas.microsoft.com/office/drawing/2014/main" id="{84BD0E87-4D4A-0E4D-129E-B8E2D45F939E}"/>
              </a:ext>
            </a:extLst>
          </p:cNvPr>
          <p:cNvSpPr/>
          <p:nvPr/>
        </p:nvSpPr>
        <p:spPr>
          <a:xfrm>
            <a:off x="4892040" y="4216513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"even"</a:t>
            </a:r>
            <a:endParaRPr lang="en-US" sz="1000" dirty="0"/>
          </a:p>
        </p:txBody>
      </p:sp>
      <p:sp>
        <p:nvSpPr>
          <p:cNvPr id="60" name="Text 33">
            <a:extLst>
              <a:ext uri="{FF2B5EF4-FFF2-40B4-BE49-F238E27FC236}">
                <a16:creationId xmlns:a16="http://schemas.microsoft.com/office/drawing/2014/main" id="{5567F73C-4202-8C2A-FC00-F7CFD5C16DE2}"/>
              </a:ext>
            </a:extLst>
          </p:cNvPr>
          <p:cNvSpPr/>
          <p:nvPr/>
        </p:nvSpPr>
        <p:spPr>
          <a:xfrm>
            <a:off x="4946904" y="3001831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13</a:t>
            </a:r>
            <a:endParaRPr lang="en-US" sz="1000" dirty="0"/>
          </a:p>
        </p:txBody>
      </p:sp>
      <p:sp>
        <p:nvSpPr>
          <p:cNvPr id="61" name="Text 33">
            <a:extLst>
              <a:ext uri="{FF2B5EF4-FFF2-40B4-BE49-F238E27FC236}">
                <a16:creationId xmlns:a16="http://schemas.microsoft.com/office/drawing/2014/main" id="{F2F3BDE9-5BC6-54E3-AD50-71BE391EE3F9}"/>
              </a:ext>
            </a:extLst>
          </p:cNvPr>
          <p:cNvSpPr/>
          <p:nvPr/>
        </p:nvSpPr>
        <p:spPr>
          <a:xfrm>
            <a:off x="4892040" y="4487718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F571CD9B-F14F-4D60-7286-5AD034457406}"/>
              </a:ext>
            </a:extLst>
          </p:cNvPr>
          <p:cNvSpPr/>
          <p:nvPr/>
        </p:nvSpPr>
        <p:spPr>
          <a:xfrm>
            <a:off x="4892040" y="1331014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sum mod 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37004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Step 2: Form the Blocks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29768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" y="22494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29768" y="36941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8046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92040" y="224942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92040" y="369417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</a:t>
            </a:r>
            <a:endParaRPr lang="en-US" sz="1400" dirty="0"/>
          </a:p>
        </p:txBody>
      </p:sp>
      <p:sp>
        <p:nvSpPr>
          <p:cNvPr id="56" name="Shape 43">
            <a:extLst>
              <a:ext uri="{FF2B5EF4-FFF2-40B4-BE49-F238E27FC236}">
                <a16:creationId xmlns:a16="http://schemas.microsoft.com/office/drawing/2014/main" id="{07165E17-F94B-540C-357A-E2F92AB5FEA5}"/>
              </a:ext>
            </a:extLst>
          </p:cNvPr>
          <p:cNvSpPr/>
          <p:nvPr/>
        </p:nvSpPr>
        <p:spPr>
          <a:xfrm>
            <a:off x="228784" y="1302189"/>
            <a:ext cx="4251960" cy="132588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44">
            <a:extLst>
              <a:ext uri="{FF2B5EF4-FFF2-40B4-BE49-F238E27FC236}">
                <a16:creationId xmlns:a16="http://schemas.microsoft.com/office/drawing/2014/main" id="{C5E8277A-007C-A907-72C1-3FFE20C438F8}"/>
              </a:ext>
            </a:extLst>
          </p:cNvPr>
          <p:cNvSpPr/>
          <p:nvPr/>
        </p:nvSpPr>
        <p:spPr>
          <a:xfrm>
            <a:off x="228784" y="1264689"/>
            <a:ext cx="425196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</a:t>
            </a:r>
            <a:endParaRPr lang="en-IN" dirty="0"/>
          </a:p>
        </p:txBody>
      </p:sp>
      <p:sp>
        <p:nvSpPr>
          <p:cNvPr id="57" name="Text 40">
            <a:extLst>
              <a:ext uri="{FF2B5EF4-FFF2-40B4-BE49-F238E27FC236}">
                <a16:creationId xmlns:a16="http://schemas.microsoft.com/office/drawing/2014/main" id="{2E7058BB-A713-9EE9-62FD-AD34F30383E7}"/>
              </a:ext>
            </a:extLst>
          </p:cNvPr>
          <p:cNvSpPr/>
          <p:nvPr/>
        </p:nvSpPr>
        <p:spPr>
          <a:xfrm>
            <a:off x="320040" y="1853068"/>
            <a:ext cx="30175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Simple For Loop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43200" cy="4160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High-Level Code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912" y="1234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 = 0;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874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 &lt;= 10;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194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i++) {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25146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+= i;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28346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1546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print(sum);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90672" y="2377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3AC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804672"/>
            <a:ext cx="2286000" cy="4160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0" y="804672"/>
            <a:ext cx="22860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931920" y="8046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3-Address Code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1207008"/>
            <a:ext cx="2286000" cy="301752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904488" y="12252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24528" y="12252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04488" y="154533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24528" y="15453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04488" y="186537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24528" y="18653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 &gt; 10 </a:t>
            </a:r>
            <a:r>
              <a:rPr lang="en-US" sz="10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2167128"/>
            <a:ext cx="2286000" cy="301752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904488" y="218541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24528" y="21854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sum + 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04488" y="250545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24528" y="25054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t1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04488" y="282549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24528" y="282549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i + 1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04488" y="314553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24528" y="31455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0" y="3447288"/>
            <a:ext cx="2286000" cy="301752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904488" y="346557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24528" y="34655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sum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04488" y="3785616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24528" y="378561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754380"/>
            <a:ext cx="2468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00800" y="804672"/>
            <a:ext cx="246888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10528" y="804672"/>
            <a:ext cx="22494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Blocks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46520" y="1225296"/>
            <a:ext cx="2377440" cy="713231"/>
          </a:xfrm>
          <a:prstGeom prst="rect">
            <a:avLst/>
          </a:prstGeom>
          <a:solidFill>
            <a:srgbClr val="EDF2F7"/>
          </a:solidFill>
          <a:ln w="254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446520" y="1225296"/>
            <a:ext cx="2377440" cy="274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510528" y="1225296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— Init + test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10528" y="152704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= 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510528" y="173736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= 1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510528" y="194767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46520" y="2536858"/>
            <a:ext cx="2377440" cy="1084165"/>
          </a:xfrm>
          <a:prstGeom prst="rect">
            <a:avLst/>
          </a:prstGeom>
          <a:solidFill>
            <a:srgbClr val="EDF2F7"/>
          </a:solidFill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446520" y="2596896"/>
            <a:ext cx="2377440" cy="15544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10528" y="247802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— Loop body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510528" y="277977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t1=sum+i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510528" y="2990088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sum=t1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10528" y="3200400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i=i+1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510528" y="341071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46520" y="3730752"/>
            <a:ext cx="2377440" cy="1143000"/>
          </a:xfrm>
          <a:prstGeom prst="rect">
            <a:avLst/>
          </a:prstGeom>
          <a:solidFill>
            <a:srgbClr val="EDF2F7"/>
          </a:solidFill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446520" y="3730752"/>
            <a:ext cx="2377440" cy="2743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510528" y="37307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510528" y="4032504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sum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510528" y="4242816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635240" y="2368296"/>
            <a:ext cx="0" cy="22860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7635240" y="3621024"/>
            <a:ext cx="0" cy="109728"/>
          </a:xfrm>
          <a:prstGeom prst="line">
            <a:avLst/>
          </a:prstGeom>
          <a:noFill/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8778240" y="1499616"/>
            <a:ext cx="0" cy="182880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8503920" y="1499616"/>
            <a:ext cx="27432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503920" y="3328416"/>
            <a:ext cx="274320" cy="0"/>
          </a:xfrm>
          <a:prstGeom prst="line">
            <a:avLst/>
          </a:prstGeom>
          <a:noFill/>
          <a:ln w="19050">
            <a:solidFill>
              <a:srgbClr val="CCCCC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85953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edge</a:t>
            </a:r>
            <a:endParaRPr lang="en-US" sz="750" dirty="0"/>
          </a:p>
        </p:txBody>
      </p:sp>
      <p:sp>
        <p:nvSpPr>
          <p:cNvPr id="66" name="Shape 41">
            <a:extLst>
              <a:ext uri="{FF2B5EF4-FFF2-40B4-BE49-F238E27FC236}">
                <a16:creationId xmlns:a16="http://schemas.microsoft.com/office/drawing/2014/main" id="{7CF06177-5272-6ED5-1AAD-99480941021F}"/>
              </a:ext>
            </a:extLst>
          </p:cNvPr>
          <p:cNvSpPr/>
          <p:nvPr/>
        </p:nvSpPr>
        <p:spPr>
          <a:xfrm>
            <a:off x="6441948" y="1933355"/>
            <a:ext cx="2377440" cy="2743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</a:t>
            </a:r>
            <a:endParaRPr lang="en-I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A7FED28-C8D7-192B-10F1-3153CFCC9529}"/>
              </a:ext>
            </a:extLst>
          </p:cNvPr>
          <p:cNvSpPr txBox="1"/>
          <p:nvPr/>
        </p:nvSpPr>
        <p:spPr>
          <a:xfrm>
            <a:off x="6446520" y="2313432"/>
            <a:ext cx="269748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" dirty="0">
                <a:solidFill>
                  <a:srgbClr val="2D3748"/>
                </a:solidFill>
                <a:latin typeface="Consolas" pitchFamily="34" charset="0"/>
              </a:rPr>
              <a:t>if </a:t>
            </a:r>
            <a:r>
              <a:rPr lang="en-US" sz="950" dirty="0" err="1">
                <a:solidFill>
                  <a:srgbClr val="2D3748"/>
                </a:solidFill>
                <a:latin typeface="Consolas" pitchFamily="34" charset="0"/>
              </a:rPr>
              <a:t>i</a:t>
            </a:r>
            <a:r>
              <a:rPr lang="en-US" sz="950" dirty="0">
                <a:solidFill>
                  <a:srgbClr val="2D3748"/>
                </a:solidFill>
                <a:latin typeface="Consolas" pitchFamily="34" charset="0"/>
              </a:rPr>
              <a:t> &gt; 10 </a:t>
            </a:r>
            <a:r>
              <a:rPr lang="en-US" sz="950" dirty="0" err="1">
                <a:solidFill>
                  <a:srgbClr val="2D3748"/>
                </a:solidFill>
                <a:latin typeface="Consolas" pitchFamily="34" charset="0"/>
              </a:rPr>
              <a:t>goto</a:t>
            </a:r>
            <a:r>
              <a:rPr lang="en-US" sz="950" dirty="0">
                <a:solidFill>
                  <a:srgbClr val="2D3748"/>
                </a:solidFill>
                <a:latin typeface="Consolas" pitchFamily="34" charset="0"/>
              </a:rPr>
              <a:t> 8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— If-Else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200400" cy="416052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200400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8912" y="804672"/>
            <a:ext cx="2944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3-Address Code (if-else)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3200400" cy="28346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22529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22529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a - 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124358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F8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152704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152704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&lt; 0 goto 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810512"/>
            <a:ext cx="3200400" cy="28346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84048" y="182880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18288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*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184708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2130552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21305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y + 1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243230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24323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 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15768"/>
            <a:ext cx="3200400" cy="28346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" y="2734056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273405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-x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275234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4048" y="3035808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03580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y - 1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319272"/>
            <a:ext cx="3200400" cy="283464"/>
          </a:xfrm>
          <a:prstGeom prst="rect">
            <a:avLst/>
          </a:prstGeom>
          <a:solidFill>
            <a:srgbClr val="1C3A5E">
              <a:alpha val="90000"/>
            </a:srgbClr>
          </a:solidFill>
          <a:ln w="12700">
            <a:solidFill>
              <a:srgbClr val="1C3A5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84048" y="3337560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33375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z + x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335584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2+3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84048" y="3639312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63931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4048" y="3941064"/>
            <a:ext cx="347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394106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703320" y="804672"/>
            <a:ext cx="51206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F8B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3703320" y="804672"/>
            <a:ext cx="5120640" cy="3291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822192" y="80467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— Init + test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22192" y="117043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a - 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22192" y="138074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&lt; 0 </a:t>
            </a:r>
            <a:r>
              <a:rPr lang="en-US" sz="105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03320" y="1856232"/>
            <a:ext cx="51206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703320" y="1856232"/>
            <a:ext cx="5120640" cy="32918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822192" y="18562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— True branch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22192" y="222199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x * 2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822192" y="243230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y + 1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22192" y="264261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goto</a:t>
            </a: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03320" y="2907792"/>
            <a:ext cx="51206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3703320" y="2907792"/>
            <a:ext cx="5120640" cy="32918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822192" y="29077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— False branch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22192" y="327355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-x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822192" y="348386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y - 1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703320" y="3959352"/>
            <a:ext cx="512064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3703320" y="3959352"/>
            <a:ext cx="5120640" cy="32918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822192" y="39593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— Merge + exit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822192" y="4325112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z + x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822192" y="4535424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w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3822192" y="4745736"/>
            <a:ext cx="4846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halt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400800" y="1764792"/>
            <a:ext cx="0" cy="91440"/>
          </a:xfrm>
          <a:prstGeom prst="line">
            <a:avLst/>
          </a:prstGeom>
          <a:noFill/>
          <a:ln w="254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400800" y="2816352"/>
            <a:ext cx="0" cy="9144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400800" y="3867912"/>
            <a:ext cx="0" cy="9144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8732520" y="804672"/>
            <a:ext cx="0" cy="210312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8503920" y="2907792"/>
            <a:ext cx="22860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8503920" y="804672"/>
            <a:ext cx="228600" cy="0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1364</Words>
  <Application>Microsoft Office PowerPoint</Application>
  <PresentationFormat>On-screen Show (16:9)</PresentationFormat>
  <Paragraphs>255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Blocks — Complete Guide</dc:title>
  <dc:subject>PptxGenJS Presentation</dc:subject>
  <cp:lastModifiedBy>Anusuya R</cp:lastModifiedBy>
  <cp:revision>7</cp:revision>
  <dcterms:created xsi:type="dcterms:W3CDTF">2026-03-02T06:05:52Z</dcterms:created>
  <dcterms:modified xsi:type="dcterms:W3CDTF">2026-03-20T06:44:13Z</dcterms:modified>
</cp:coreProperties>
</file>