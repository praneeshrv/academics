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4" r:id="rId16"/>
    <p:sldId id="275" r:id="rId17"/>
    <p:sldId id="26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12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0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6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01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88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83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8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61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27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914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Parsing · Canonical Items · LR Parsing 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640080"/>
            <a:ext cx="2743200" cy="566928"/>
          </a:xfrm>
          <a:prstGeom prst="rect">
            <a:avLst/>
          </a:prstGeom>
          <a:solidFill>
            <a:srgbClr val="162950"/>
          </a:solidFill>
          <a:ln w="1016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09360" y="6400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Augmented Grammar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89888"/>
            <a:ext cx="2743200" cy="566928"/>
          </a:xfrm>
          <a:prstGeom prst="rect">
            <a:avLst/>
          </a:prstGeom>
          <a:solidFill>
            <a:srgbClr val="162950"/>
          </a:solidFill>
          <a:ln w="1016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09360" y="13898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Closure &amp; GOTO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39696"/>
            <a:ext cx="2743200" cy="566928"/>
          </a:xfrm>
          <a:prstGeom prst="rect">
            <a:avLst/>
          </a:prstGeom>
          <a:solidFill>
            <a:srgbClr val="162950"/>
          </a:solidFill>
          <a:ln w="1016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0" y="21396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Canonical LR(0) Items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889504"/>
            <a:ext cx="2743200" cy="566928"/>
          </a:xfrm>
          <a:prstGeom prst="rect">
            <a:avLst/>
          </a:prstGeom>
          <a:solidFill>
            <a:srgbClr val="162950"/>
          </a:solidFill>
          <a:ln w="1016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28895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LR(0) Parsing 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639312"/>
            <a:ext cx="2743200" cy="566928"/>
          </a:xfrm>
          <a:prstGeom prst="rect">
            <a:avLst/>
          </a:prstGeom>
          <a:solidFill>
            <a:srgbClr val="162950"/>
          </a:solidFill>
          <a:ln w="1016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36393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Worked Examples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 — Unit III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LR(0) Parsing?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Bottom-Up, Left-to-Right parsing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33142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393192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3657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Left-to-right scanning of input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Rightmost derivation in reverse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(0) — Zero tokens of lookahead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shift-reduce parser that uses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table built from LR(0) items.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uses a stack and makes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based only on the current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 No  need to peek ahead.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1143000"/>
            <a:ext cx="44348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34840" y="11430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177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207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15361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current input token and next state onto the stack.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2331720"/>
            <a:ext cx="44348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34840" y="2331720"/>
            <a:ext cx="64008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1772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7249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symbols matching RHS of a production, push LHS.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520440"/>
            <a:ext cx="44348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34840" y="352044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1772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fully consumed and start symbol is on stack.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Items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LR(0) item is a production with a dot (•) somewhere in its body. The dot tracks how far we've progressed.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64008" cy="2606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Grammar: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 → 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E + 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T * 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( E 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25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286000"/>
            <a:ext cx="42519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17720" y="2286000"/>
            <a:ext cx="64008" cy="2606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060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Items: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E • + 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 at start (initial item is kernel)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• E + 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at start — generated by closure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123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123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id 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416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at end — triggers a reduce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Operation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an item set to include all reachable items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56692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527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 set of LR(0) items — usually a kernel item.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039112"/>
            <a:ext cx="56692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039112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2130552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130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Dot Before Non-terminal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item A → α • B β, where B is a non-terminal...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935224"/>
            <a:ext cx="56692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2935224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3026664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30266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Productions of 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3319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production B → γ, add the item  B → • γ  to the set.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3831336"/>
            <a:ext cx="56692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3831336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11480" y="3922776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9227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" y="42153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rule to newly added items until no more can be added.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1143000"/>
            <a:ext cx="269748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172200" y="1143000"/>
            <a:ext cx="64008" cy="3657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550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 → • 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550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before E, so add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productions: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• E + 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• 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55080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before T, add T productions: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• T * 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• 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Operation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transitions between item sets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685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GOTO(I, X) = closure of all items  [A → αX • β]  obtained by moving the dot past symbol X in state 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53035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075688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Items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87552" y="2331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item set I, pick all items with the dot immediately before 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53035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27889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the Dot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7552" y="30449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selected item  A → α • X β , produce  A → αX • β.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38144"/>
            <a:ext cx="53035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438144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1480" y="3502152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3502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Closure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7552" y="37581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Closure( ) to the resulting set to get GOTO(I, X).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151376"/>
            <a:ext cx="53035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151376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11480" y="4215384"/>
            <a:ext cx="457200" cy="45720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114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" y="4215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7552" y="44714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state (item set). If it matches an existing state, reuse it 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2011680"/>
            <a:ext cx="12801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20116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94360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0"/>
                </a:solidFill>
              </a:rPr>
              <a:t>State 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α • X 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9480" y="2505456"/>
            <a:ext cx="50292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388352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X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18120" y="2011680"/>
            <a:ext cx="10515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818120" y="20116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818120" y="20116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0"/>
                </a:solidFill>
              </a:rPr>
              <a:t>State J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18120" y="2377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αX • β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GOTO(I, X) = J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Expression Grammar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3: E→E+T | T,  T→T*F | F,  F→(E) | 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46888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2423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Grammar: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 → 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E + 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1214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T * 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( E 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71800" y="1143000"/>
            <a:ext cx="26060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971800" y="1143000"/>
            <a:ext cx="64008" cy="242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15468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 (Closure):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54680" y="1572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 → • 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54680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• E + 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54680" y="2121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• 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54680" y="2395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• T * 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54680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• 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5468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• ( E 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5468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• 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1143000"/>
            <a:ext cx="15544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5760720" y="1143000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1481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 → E 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E • +T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1152144"/>
            <a:ext cx="1371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452360" y="1143000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53528" y="135520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I₂: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35240" y="1481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T 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T • *F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2240280"/>
            <a:ext cx="15544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760720" y="22402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9436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I₃: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0" y="2578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F •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34656" y="2185416"/>
            <a:ext cx="1371600" cy="1837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452360" y="22402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63524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I₄: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35240" y="2578608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>
              <a:solidFill>
                <a:srgbClr val="0F204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850" dirty="0">
              <a:solidFill>
                <a:srgbClr val="0F204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F→ ( • 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• E+T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• 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• T*F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• 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• (E)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• id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60720" y="3291840"/>
            <a:ext cx="1554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760720" y="3291840"/>
            <a:ext cx="64008" cy="7315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9436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I₅: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43600" y="3630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id •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3703320"/>
            <a:ext cx="53035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74320" y="3703320"/>
            <a:ext cx="64008" cy="11430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720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I₀ is built: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4087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E' → • E (the augmented start production). Since the dot is before the non-terminal E, we add all E productions with dots at the beginning. Those have dots before T and F, so we keep expanding until dots are only before terminals.</a:t>
            </a:r>
            <a:endParaRPr 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4BE127-1323-262E-F099-9811776A7209}"/>
              </a:ext>
            </a:extLst>
          </p:cNvPr>
          <p:cNvSpPr txBox="1"/>
          <p:nvPr/>
        </p:nvSpPr>
        <p:spPr>
          <a:xfrm>
            <a:off x="6132945" y="1302327"/>
            <a:ext cx="12801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Goto(</a:t>
            </a:r>
            <a:r>
              <a:rPr lang="en-US" sz="10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₀</a:t>
            </a:r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,E)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81A2DB-73C7-4BA5-3822-1CF5422144C0}"/>
              </a:ext>
            </a:extLst>
          </p:cNvPr>
          <p:cNvSpPr txBox="1"/>
          <p:nvPr/>
        </p:nvSpPr>
        <p:spPr>
          <a:xfrm>
            <a:off x="7635240" y="1188720"/>
            <a:ext cx="16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Goto(</a:t>
            </a:r>
            <a:r>
              <a:rPr lang="en-US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I ₀</a:t>
            </a:r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,T)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A68D29-C110-9918-059E-7DABD2C47374}"/>
              </a:ext>
            </a:extLst>
          </p:cNvPr>
          <p:cNvSpPr txBox="1"/>
          <p:nvPr/>
        </p:nvSpPr>
        <p:spPr>
          <a:xfrm>
            <a:off x="6198062" y="2357754"/>
            <a:ext cx="16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Goto(</a:t>
            </a:r>
            <a:r>
              <a:rPr lang="en-US" sz="10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₀</a:t>
            </a:r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,F)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C44FE3-4AFE-C750-A06A-21D3F7621748}"/>
              </a:ext>
            </a:extLst>
          </p:cNvPr>
          <p:cNvSpPr txBox="1"/>
          <p:nvPr/>
        </p:nvSpPr>
        <p:spPr>
          <a:xfrm>
            <a:off x="7876032" y="2221992"/>
            <a:ext cx="16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Goto(</a:t>
            </a:r>
            <a:r>
              <a:rPr lang="en-US" sz="10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₀</a:t>
            </a:r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,()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70D2DC-BCF3-5FD1-EC8D-22CB654AED00}"/>
              </a:ext>
            </a:extLst>
          </p:cNvPr>
          <p:cNvSpPr txBox="1"/>
          <p:nvPr/>
        </p:nvSpPr>
        <p:spPr>
          <a:xfrm>
            <a:off x="6117336" y="3349383"/>
            <a:ext cx="16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Goto(</a:t>
            </a:r>
            <a:r>
              <a:rPr lang="en-US" sz="10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₀</a:t>
            </a:r>
            <a:r>
              <a:rPr lang="en-IN" sz="105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,id)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47E326-CFB8-191A-6249-114E37392B5A}"/>
              </a:ext>
            </a:extLst>
          </p:cNvPr>
          <p:cNvSpPr txBox="1"/>
          <p:nvPr/>
        </p:nvSpPr>
        <p:spPr>
          <a:xfrm>
            <a:off x="4416553" y="1442636"/>
            <a:ext cx="9601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symbols after . In </a:t>
            </a: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 are E,T,F,(,id.  The new states are formed by shifting the dot from </a:t>
            </a: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 in all of these symbols</a:t>
            </a:r>
            <a:endParaRPr lang="en-IN" sz="1100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LR(0) Item Sets — Continued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transitions for expression grammar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51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I₆: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15270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E+•T   T → •T*F   T → •F   F → •(E)   F → •id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04872"/>
            <a:ext cx="4251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64008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I₇: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T*•F   F → •(E)   F → •id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251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64008" cy="1097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8912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I₈: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40507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(E•)   E → E•+T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251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19472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I₉: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5270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E+T•   T → T•*F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251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2404872"/>
            <a:ext cx="64008" cy="10972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1947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I₁₀: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T*F•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66744"/>
            <a:ext cx="4251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666744"/>
            <a:ext cx="64008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19472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I₁₁: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9472" y="40507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(E)•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64008" cy="228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GOTO: GOTO(I₀,E)=I₁  GOTO(I₀,T)=I₂  GOTO(I₀,F)=I₃  GOTO(I₁,+)=I₆  GOTO(I₂,*)=I₇  GOTO(I₆,T)=I₉  GOTO(I₇,F)=I₁₀</a:t>
            </a:r>
            <a:endParaRPr lang="en-US" sz="9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17560D-28BD-58C5-FF21-7AE28276A943}"/>
              </a:ext>
            </a:extLst>
          </p:cNvPr>
          <p:cNvSpPr txBox="1"/>
          <p:nvPr/>
        </p:nvSpPr>
        <p:spPr>
          <a:xfrm>
            <a:off x="738908" y="1274618"/>
            <a:ext cx="3887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0F2040"/>
                </a:solidFill>
                <a:latin typeface="Courier New" pitchFamily="34" charset="0"/>
                <a:cs typeface="Courier New" pitchFamily="34" charset="-120"/>
              </a:rPr>
              <a:t>From l1 the symbols after terminals are . , ), 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Parsing Table Construction Rules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fill ACTION and GOTO tables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9601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4447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1188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A → α • a β  is in Iᵢ  and  GOTO(Iᵢ, a) = Iⱼ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53312" y="1490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  ACTION[i, a] = shift j  (written as  sj)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53312" y="174650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is a terminal. Move input pointer, push state j.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039112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039112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039112"/>
            <a:ext cx="9601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0391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3408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53312" y="20848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A → α •  is in Iᵢ  (dot at the end, A ≠ S')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53312" y="23865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  ACTION[i, a] = reduce A → α  for ALL terminals a (and $)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53312" y="2642616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LR(0) reduces on every terminal — no lookahead needed.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2935224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2935224"/>
            <a:ext cx="96012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293522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2369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53312" y="29809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S' → S •  is in Iᵢ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353312" y="32826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  ACTION[i, $] = accept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53312" y="35387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Only when the augmented start production is complete.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831336"/>
            <a:ext cx="8595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3831336"/>
            <a:ext cx="64008" cy="8046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74320" y="3831336"/>
            <a:ext cx="960120" cy="8046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38313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1330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53312" y="387705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GOTO(Iᵢ, A) = Iⱼ  where A is a non-terminal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353312" y="41788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  GOTO[i, A] = j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53312" y="443484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GOTO table is filled from transitions on non-terminals.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Parsing Table — Grammar S → CC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table: ACTION (shift/reduce/accept) + GOTO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the table: For each state, if an item has dot before a terminal → SHIFT. If dot is at end → REDUCE (all terminals + $). If S'→S• → ACCEPT. Non-terminal transitions → GOTO.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920240"/>
          <a:ext cx="6858000" cy="26060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GOTO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d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$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A500"/>
                          </a:solidFill>
                        </a:rPr>
                        <a:t>S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A500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6EFD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6EFD"/>
                          </a:solidFill>
                        </a:rPr>
                        <a:t>s4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</a:rPr>
                        <a:t>acc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6EFD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6EFD"/>
                          </a:solidFill>
                        </a:rPr>
                        <a:t>s4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6EFD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6EFD"/>
                          </a:solidFill>
                        </a:rPr>
                        <a:t>s4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7200" y="4663440"/>
            <a:ext cx="640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469087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= Shift to state N   |   rN = Reduce using production N (1:S→CC, 2:C→cC, 3:C→d)   |   acc = Accept   |   — = Error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0441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Trace — Input: c d d $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LR(0) table for Grammar S → CC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uses a STACK of states. At each step: look up ACTION[top-of-stack, input]. Shift pushes new state; Reduce pops |RHS| states and pushes GOTO[new-top, LHS].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74320" y="1810512"/>
          <a:ext cx="859536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cdd$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c, go to state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c 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dd$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d, go to state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c 3 d 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(C→d)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Reduce: pop 2 (d4), GOTO[3,C]=6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c 3 C 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(C→cC)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Reduce: pop 4 (c3,C6), GOTO[0,C]=2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C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d, go to state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C 2 d 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(C→d)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Reduce: pop 2 (d4), GOTO[2,C]=5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C 2 C 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(S→CC)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Reduce: pop 4 (C2,C5), GOTO[0,S]=1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S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S'→S• found, input exhausted!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74320" y="4919472"/>
            <a:ext cx="64008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Input 'cdd' is ACCEPTED — it belongs to the language generated by grammar S→CC.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6927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Grammar A → (A) | 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LR(0) canonical items and parsing 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64" y="5047719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28600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1645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A' →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→ (A)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→ 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1143000"/>
            <a:ext cx="3017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88920" y="114300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953512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I₀: Closure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53512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A'→ •A   A → •(A)   A → •a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53512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Start: closure of A'→•A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2240280"/>
            <a:ext cx="3017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88920" y="2240280"/>
            <a:ext cx="64008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953512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53512" y="2587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A'→ A•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53512" y="2898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GOTO(I₀,A) — Accept state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3337560"/>
            <a:ext cx="3017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88920" y="333756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53512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I₂: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53512" y="3685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(•A)   A → •(A)   A → •a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53512" y="3995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GOTO(I₀,() — dot after (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3017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897880" y="1143000"/>
            <a:ext cx="64008" cy="9601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62472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I₃: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62472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a•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62472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GOTO(I₀,a) — Reduce A→a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2240280"/>
            <a:ext cx="3017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897880" y="2240280"/>
            <a:ext cx="6400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62472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I₄: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62472" y="2587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(A•)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62472" y="2898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GOTO(I₂,A)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97880" y="3337560"/>
            <a:ext cx="3017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897880" y="3337560"/>
            <a:ext cx="64008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62472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I₅: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62472" y="3685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(A)•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62472" y="3995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GOTO(I₄,)) — Reduce A→(A)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231527"/>
            <a:ext cx="22860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74320" y="420624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57200" y="3322597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Table (A→(A)|a):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3685032"/>
            <a:ext cx="2011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I₀:s(=2,sa=3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I₁:acc($)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I₂:s(=2,sa=3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I₃:r(A→a)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I₄:s)=5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I₅:r(A→(A)) all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084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LR(0) Parsing Table — A → (A) | 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ACTION and GOTO table with all states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Productions:  1: A'→A   2: A→(A)   3: A→a       Note: A'→A is the augmented production — it triggers ACCEPT.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1097280" y="1810512"/>
          <a:ext cx="6949439" cy="2920365"/>
        </p:xfrm>
        <a:graphic>
          <a:graphicData uri="http://schemas.openxmlformats.org/drawingml/2006/table">
            <a:tbl>
              <a:tblPr/>
              <a:tblGrid>
                <a:gridCol w="99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GOTO</a:t>
                      </a: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(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)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$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A500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D6EFD"/>
                          </a:solidFill>
                        </a:rPr>
                        <a:t>s2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D6EFD"/>
                          </a:solidFill>
                        </a:rPr>
                        <a:t>s3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7C3AED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A34A"/>
                          </a:solidFill>
                        </a:rPr>
                        <a:t>acc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D6EFD"/>
                          </a:solidFill>
                        </a:rPr>
                        <a:t>s2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D6EFD"/>
                          </a:solidFill>
                        </a:rPr>
                        <a:t>s3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r3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D6EFD"/>
                          </a:solidFill>
                        </a:rPr>
                        <a:t>s5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</a:rPr>
                        <a:t>r2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762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1"/>
          <p:cNvSpPr/>
          <p:nvPr/>
        </p:nvSpPr>
        <p:spPr>
          <a:xfrm>
            <a:off x="274320" y="4773168"/>
            <a:ext cx="64008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 reduces on ALL terminals: C→d has dot at end, so ACTION[3, any] = r3.   State 5 reduces: A→(A)• so ACTION[5, any] = r2.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3094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in LR(0) Parsing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LR(0) is not powerful enough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LR(0) conflict occurs when a state contains BOTH a shift item AND a reduce item, or two reduce items. The parser cannot decide what to do — the grammar is NOT LR(0).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64008" cy="13258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Shift-Reduce Conflict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304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has an item  A → α • a β  (can shift a)  AND  B → γ •  (must reduce on a).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E → E • + T   and   E → E 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Both are in the same state → conflict on 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Solution: Use SLR(1) or LR(1) which use FOLLOW sets or lookaheads to resolve.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85953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64008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Reduce-Reduce Conflict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3813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has two complete items:  A → α •  AND  B → β •  — which production to reduce by?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Two rules both finish in the same state with no lookahead to disambiguate.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Solution: Rewrite the grammar to remove ambiguity, or use a more powerful parser.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60961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Parsing Table — Expression Grammar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E→E+T|T,  T→T*F|F,  F→(E)|id   (Slides 6–7 recap)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64008" cy="30175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612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 (numbered):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5270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E' → 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1865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E  → E + 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2037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E  → 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T  → T * 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T  → 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2186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F  → ( E 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F  → 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1115568"/>
            <a:ext cx="56235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46120" y="1115568"/>
            <a:ext cx="64008" cy="3017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29000" y="11612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Items → Reduce Actions: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1527048"/>
            <a:ext cx="502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29000" y="1527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7640" y="1527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 → E •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(on $)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9000" y="1865376"/>
            <a:ext cx="5029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29000" y="1865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77640" y="1865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T 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1865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r3 (all terminals)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2203704"/>
            <a:ext cx="502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29000" y="2203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77640" y="2203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F •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2203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r5 (all terminals)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542032"/>
            <a:ext cx="502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29000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id •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1500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r7 (all terminals)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29000" y="2880360"/>
            <a:ext cx="5029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429000" y="2880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7764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→ E+T •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1500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r2 (all terminals)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29000" y="3218688"/>
            <a:ext cx="502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429000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I₁₀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7640" y="3218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→ T*F •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1500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r4 (all terminals)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29000" y="3557016"/>
            <a:ext cx="502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429000" y="35570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0"/>
                </a:solidFill>
              </a:rPr>
              <a:t>I₁₁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977640" y="35570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→ (E) •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715000" y="3557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r6 (all terminals)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279392"/>
            <a:ext cx="85953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74320" y="4279392"/>
            <a:ext cx="64008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5720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 on Conflicts: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331720" y="43159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I₂ and I₉ have SHIFT-REDUCE conflicts (dot before * AND a complete item in same state). This means the expression grammar is NOT strictly LR(0). In the table, both entries are shown. SLR(1) resolves this using FOLLOW sets.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6067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58293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" name="Text 1"/>
          <p:cNvSpPr/>
          <p:nvPr/>
        </p:nvSpPr>
        <p:spPr>
          <a:xfrm>
            <a:off x="240030" y="0"/>
            <a:ext cx="54864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SLR Parsing Table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1900" y="0"/>
            <a:ext cx="507492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E → E+T | T     T → T*F | F     F → (E) | id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205740" y="651510"/>
            <a:ext cx="1371600" cy="192024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240030" y="651510"/>
            <a:ext cx="13030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(sN)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714500" y="651510"/>
            <a:ext cx="1371600" cy="192024"/>
          </a:xfrm>
          <a:prstGeom prst="rect">
            <a:avLst/>
          </a:prstGeom>
          <a:solidFill>
            <a:srgbClr val="FADBD8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Text 6"/>
          <p:cNvSpPr/>
          <p:nvPr/>
        </p:nvSpPr>
        <p:spPr>
          <a:xfrm>
            <a:off x="1748790" y="651510"/>
            <a:ext cx="13030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(rN)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23260" y="651510"/>
            <a:ext cx="1371600" cy="192024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0" name="Text 8"/>
          <p:cNvSpPr/>
          <p:nvPr/>
        </p:nvSpPr>
        <p:spPr>
          <a:xfrm>
            <a:off x="3257550" y="651510"/>
            <a:ext cx="13030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(acc)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32020" y="651510"/>
            <a:ext cx="1371600" cy="192024"/>
          </a:xfrm>
          <a:prstGeom prst="rect">
            <a:avLst/>
          </a:prstGeom>
          <a:solidFill>
            <a:srgbClr val="E8DAEF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2" name="Text 10"/>
          <p:cNvSpPr/>
          <p:nvPr/>
        </p:nvSpPr>
        <p:spPr>
          <a:xfrm>
            <a:off x="4766310" y="651510"/>
            <a:ext cx="13030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(N)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72084" y="925830"/>
            <a:ext cx="3086100" cy="24003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4" name="Text 12"/>
          <p:cNvSpPr/>
          <p:nvPr/>
        </p:nvSpPr>
        <p:spPr>
          <a:xfrm>
            <a:off x="672084" y="925830"/>
            <a:ext cx="30861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58184" y="925830"/>
            <a:ext cx="1748790" cy="24003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6" name="Text 14"/>
          <p:cNvSpPr/>
          <p:nvPr/>
        </p:nvSpPr>
        <p:spPr>
          <a:xfrm>
            <a:off x="3758184" y="925830"/>
            <a:ext cx="17487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0030" y="925830"/>
            <a:ext cx="432054" cy="24003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240030" y="1179576"/>
          <a:ext cx="5417820" cy="3031236"/>
        </p:xfrm>
        <a:graphic>
          <a:graphicData uri="http://schemas.openxmlformats.org/drawingml/2006/table">
            <a:tbl>
              <a:tblPr/>
              <a:tblGrid>
                <a:gridCol w="44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A2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377940" y="925830"/>
            <a:ext cx="2503170" cy="4046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350"/>
          </a:p>
        </p:txBody>
      </p:sp>
      <p:sp>
        <p:nvSpPr>
          <p:cNvPr id="20" name="Shape 17"/>
          <p:cNvSpPr/>
          <p:nvPr/>
        </p:nvSpPr>
        <p:spPr>
          <a:xfrm>
            <a:off x="6377940" y="925830"/>
            <a:ext cx="2503170" cy="2880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1" name="Text 18"/>
          <p:cNvSpPr/>
          <p:nvPr/>
        </p:nvSpPr>
        <p:spPr>
          <a:xfrm>
            <a:off x="6480810" y="925830"/>
            <a:ext cx="229743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60236" y="1268730"/>
            <a:ext cx="2331720" cy="315468"/>
          </a:xfrm>
          <a:prstGeom prst="rect">
            <a:avLst/>
          </a:prstGeom>
          <a:solidFill>
            <a:srgbClr val="F0F9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3" name="Shape 20"/>
          <p:cNvSpPr/>
          <p:nvPr/>
        </p:nvSpPr>
        <p:spPr>
          <a:xfrm>
            <a:off x="6501384" y="1289304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4" name="Text 21"/>
          <p:cNvSpPr/>
          <p:nvPr/>
        </p:nvSpPr>
        <p:spPr>
          <a:xfrm>
            <a:off x="6501384" y="12893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823710" y="1296162"/>
            <a:ext cx="195453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→  E + T</a:t>
            </a:r>
            <a:endParaRPr lang="en-US" sz="938" dirty="0"/>
          </a:p>
        </p:txBody>
      </p:sp>
      <p:sp>
        <p:nvSpPr>
          <p:cNvPr id="26" name="Shape 23"/>
          <p:cNvSpPr/>
          <p:nvPr/>
        </p:nvSpPr>
        <p:spPr>
          <a:xfrm>
            <a:off x="6460236" y="1625346"/>
            <a:ext cx="233172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7" name="Shape 24"/>
          <p:cNvSpPr/>
          <p:nvPr/>
        </p:nvSpPr>
        <p:spPr>
          <a:xfrm>
            <a:off x="6501384" y="1645920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8" name="Text 25"/>
          <p:cNvSpPr/>
          <p:nvPr/>
        </p:nvSpPr>
        <p:spPr>
          <a:xfrm>
            <a:off x="6501384" y="16459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23710" y="1652778"/>
            <a:ext cx="195453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→  T</a:t>
            </a:r>
            <a:endParaRPr lang="en-US" sz="938" dirty="0"/>
          </a:p>
        </p:txBody>
      </p:sp>
      <p:sp>
        <p:nvSpPr>
          <p:cNvPr id="30" name="Shape 27"/>
          <p:cNvSpPr/>
          <p:nvPr/>
        </p:nvSpPr>
        <p:spPr>
          <a:xfrm>
            <a:off x="6460236" y="1981962"/>
            <a:ext cx="2331720" cy="315468"/>
          </a:xfrm>
          <a:prstGeom prst="rect">
            <a:avLst/>
          </a:prstGeom>
          <a:solidFill>
            <a:srgbClr val="F0F9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1" name="Shape 28"/>
          <p:cNvSpPr/>
          <p:nvPr/>
        </p:nvSpPr>
        <p:spPr>
          <a:xfrm>
            <a:off x="6501384" y="2002536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2" name="Text 29"/>
          <p:cNvSpPr/>
          <p:nvPr/>
        </p:nvSpPr>
        <p:spPr>
          <a:xfrm>
            <a:off x="6501384" y="200253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823710" y="2009394"/>
            <a:ext cx="195453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→  T * F</a:t>
            </a:r>
            <a:endParaRPr lang="en-US" sz="938" dirty="0"/>
          </a:p>
        </p:txBody>
      </p:sp>
      <p:sp>
        <p:nvSpPr>
          <p:cNvPr id="34" name="Shape 31"/>
          <p:cNvSpPr/>
          <p:nvPr/>
        </p:nvSpPr>
        <p:spPr>
          <a:xfrm>
            <a:off x="6460236" y="2338578"/>
            <a:ext cx="233172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5" name="Shape 32"/>
          <p:cNvSpPr/>
          <p:nvPr/>
        </p:nvSpPr>
        <p:spPr>
          <a:xfrm>
            <a:off x="6501384" y="2359152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6" name="Text 33"/>
          <p:cNvSpPr/>
          <p:nvPr/>
        </p:nvSpPr>
        <p:spPr>
          <a:xfrm>
            <a:off x="6501384" y="23591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823710" y="2366010"/>
            <a:ext cx="195453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→  F</a:t>
            </a:r>
            <a:endParaRPr lang="en-US" sz="938" dirty="0"/>
          </a:p>
        </p:txBody>
      </p:sp>
      <p:sp>
        <p:nvSpPr>
          <p:cNvPr id="38" name="Shape 35"/>
          <p:cNvSpPr/>
          <p:nvPr/>
        </p:nvSpPr>
        <p:spPr>
          <a:xfrm>
            <a:off x="6460236" y="2695194"/>
            <a:ext cx="2331720" cy="315468"/>
          </a:xfrm>
          <a:prstGeom prst="rect">
            <a:avLst/>
          </a:prstGeom>
          <a:solidFill>
            <a:srgbClr val="F0F9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9" name="Shape 36"/>
          <p:cNvSpPr/>
          <p:nvPr/>
        </p:nvSpPr>
        <p:spPr>
          <a:xfrm>
            <a:off x="6501384" y="2715768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0" name="Text 37"/>
          <p:cNvSpPr/>
          <p:nvPr/>
        </p:nvSpPr>
        <p:spPr>
          <a:xfrm>
            <a:off x="6501384" y="27157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823710" y="2722626"/>
            <a:ext cx="195453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→  ( E )</a:t>
            </a:r>
            <a:endParaRPr lang="en-US" sz="938" dirty="0"/>
          </a:p>
        </p:txBody>
      </p:sp>
      <p:sp>
        <p:nvSpPr>
          <p:cNvPr id="42" name="Shape 39"/>
          <p:cNvSpPr/>
          <p:nvPr/>
        </p:nvSpPr>
        <p:spPr>
          <a:xfrm>
            <a:off x="6460236" y="3051810"/>
            <a:ext cx="233172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3" name="Shape 40"/>
          <p:cNvSpPr/>
          <p:nvPr/>
        </p:nvSpPr>
        <p:spPr>
          <a:xfrm>
            <a:off x="6501384" y="3072384"/>
            <a:ext cx="246888" cy="2468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44" name="Text 41"/>
          <p:cNvSpPr/>
          <p:nvPr/>
        </p:nvSpPr>
        <p:spPr>
          <a:xfrm>
            <a:off x="6501384" y="30723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823710" y="3079242"/>
            <a:ext cx="195453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→  id</a:t>
            </a:r>
            <a:endParaRPr lang="en-US" sz="938" dirty="0"/>
          </a:p>
        </p:txBody>
      </p:sp>
      <p:sp>
        <p:nvSpPr>
          <p:cNvPr id="47" name="Text 44"/>
          <p:cNvSpPr/>
          <p:nvPr/>
        </p:nvSpPr>
        <p:spPr>
          <a:xfrm>
            <a:off x="6528816" y="3463290"/>
            <a:ext cx="2194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528816" y="366903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528816" y="384733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528816" y="402564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528816" y="420395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6528816" y="3568014"/>
            <a:ext cx="2194560" cy="9788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432762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4800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3" name="Text 1"/>
          <p:cNvSpPr/>
          <p:nvPr/>
        </p:nvSpPr>
        <p:spPr>
          <a:xfrm>
            <a:off x="240030" y="0"/>
            <a:ext cx="4800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SLR Parsing Trace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143500" y="0"/>
            <a:ext cx="3703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id * id + id  $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40030" y="617220"/>
          <a:ext cx="8641080" cy="380619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* id 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- 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id  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 id 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F →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F  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 id 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T → 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T  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 id 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- s7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T  2  *  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- 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T  2  *  7  id  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F →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T  2  *  7  F  10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T → T*F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T  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E → 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E  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- s6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E  1  +  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- 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E  1  +  6  id  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F →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E  1  +  6  F  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T → 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E  1  +  6  T  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B2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E → E+T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E  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735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Grammar S → CC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S→CC,  C→cC | d   —  Step-by-step canonical items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LR(0) Parser — Syntax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37744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2286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→ 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→ 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→ 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S' → 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→ 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→ 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→ 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80360" y="1143000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880360" y="1143000"/>
            <a:ext cx="64008" cy="8503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044952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44952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S'→ •S  S → •CC  C → •cC  C → •d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4495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GOTO: S→I₁, C→I₂, c→I₃, d→I₄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80360" y="2084832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880360" y="2084832"/>
            <a:ext cx="64008" cy="8503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04495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44952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S'→ S•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44952" y="2679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80360" y="3026664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880360" y="3026664"/>
            <a:ext cx="64008" cy="8503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44952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I₂: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44952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C•C  C → •cC  C → •d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44952" y="3621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GOTO: C→I₅, c→I₃, d→I₄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80360" y="3968496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880360" y="3968496"/>
            <a:ext cx="64008" cy="8503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044952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I₃: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44952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c•C  C → •cC  C → •d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44952" y="4562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GOTO: C→I₆, c→I₃, d→I₄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1143000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89320" y="1143000"/>
            <a:ext cx="64008" cy="8503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53912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I₄: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53912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d•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5391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C→d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2084832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989320" y="2084832"/>
            <a:ext cx="64008" cy="8503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15391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I₅: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53912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CC•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53912" y="2679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S→CC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89320" y="3026664"/>
            <a:ext cx="297180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989320" y="3026664"/>
            <a:ext cx="64008" cy="8503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153912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I₆: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53912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cC•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53912" y="3621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C→cC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3091</Words>
  <Application>Microsoft Office PowerPoint</Application>
  <PresentationFormat>On-screen Show (16:9)</PresentationFormat>
  <Paragraphs>606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LR(0) Parser - Syntax Analysis</dc:title>
  <cp:lastModifiedBy>Anusuya R</cp:lastModifiedBy>
  <cp:revision>2</cp:revision>
  <dcterms:created xsi:type="dcterms:W3CDTF">2026-03-02T04:50:55Z</dcterms:created>
  <dcterms:modified xsi:type="dcterms:W3CDTF">2026-03-03T03:25:08Z</dcterms:modified>
</cp:coreProperties>
</file>