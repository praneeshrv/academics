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2" r:id="rId6"/>
    <p:sldId id="263" r:id="rId7"/>
    <p:sldId id="264" r:id="rId8"/>
    <p:sldId id="265" r:id="rId9"/>
    <p:sldId id="266" r:id="rId10"/>
    <p:sldId id="267" r:id="rId11"/>
    <p:sldId id="268" r:id="rId12"/>
    <p:sldId id="269" r:id="rId13"/>
    <p:sldId id="270" r:id="rId14"/>
    <p:sldId id="271" r:id="rId15"/>
    <p:sldId id="273" r:id="rId16"/>
    <p:sldId id="276" r:id="rId17"/>
    <p:sldId id="277" r:id="rId18"/>
    <p:sldId id="278" r:id="rId19"/>
    <p:sldId id="281"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2" r:id="rId39"/>
    <p:sldId id="304" r:id="rId40"/>
    <p:sldId id="305" r:id="rId41"/>
    <p:sldId id="306" r:id="rId42"/>
    <p:sldId id="307" r:id="rId43"/>
    <p:sldId id="308" r:id="rId44"/>
    <p:sldId id="309" r:id="rId45"/>
    <p:sldId id="310" r:id="rId46"/>
    <p:sldId id="311" r:id="rId47"/>
    <p:sldId id="312" r:id="rId48"/>
    <p:sldId id="313" r:id="rId49"/>
    <p:sldId id="314"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207" autoAdjust="0"/>
    <p:restoredTop sz="94660"/>
  </p:normalViewPr>
  <p:slideViewPr>
    <p:cSldViewPr>
      <p:cViewPr varScale="1">
        <p:scale>
          <a:sx n="73" d="100"/>
          <a:sy n="73" d="100"/>
        </p:scale>
        <p:origin x="-1194"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D78D39F0-F07F-479F-95D7-E76DF4CB88E6}" type="datetimeFigureOut">
              <a:rPr lang="en-US" smtClean="0"/>
              <a:pPr/>
              <a:t>12/11/2017</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8EC8B2B8-E688-4E41-BF2F-BFABEAA9180B}"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D78D39F0-F07F-479F-95D7-E76DF4CB88E6}" type="datetimeFigureOut">
              <a:rPr lang="en-US" smtClean="0"/>
              <a:pPr/>
              <a:t>12/11/2017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8B2B8-E688-4E41-BF2F-BFABEAA9180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D78D39F0-F07F-479F-95D7-E76DF4CB88E6}" type="datetimeFigureOut">
              <a:rPr lang="en-US" smtClean="0"/>
              <a:pPr/>
              <a:t>12/11/2017</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8EC8B2B8-E688-4E41-BF2F-BFABEAA9180B}"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D78D39F0-F07F-479F-95D7-E76DF4CB88E6}" type="datetimeFigureOut">
              <a:rPr lang="en-US" smtClean="0"/>
              <a:pPr/>
              <a:t>12/11/2017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C8B2B8-E688-4E41-BF2F-BFABEAA9180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D78D39F0-F07F-479F-95D7-E76DF4CB88E6}" type="datetimeFigureOut">
              <a:rPr lang="en-US" smtClean="0"/>
              <a:pPr/>
              <a:t>12/11/2017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C8B2B8-E688-4E41-BF2F-BFABEAA9180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78D39F0-F07F-479F-95D7-E76DF4CB88E6}" type="datetimeFigureOut">
              <a:rPr lang="en-US" smtClean="0"/>
              <a:pPr/>
              <a:t>12/11/2017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C8B2B8-E688-4E41-BF2F-BFABEAA9180B}"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8D39F0-F07F-479F-95D7-E76DF4CB88E6}" type="datetimeFigureOut">
              <a:rPr lang="en-US" smtClean="0"/>
              <a:pPr/>
              <a:t>12/11/2017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C8B2B8-E688-4E41-BF2F-BFABEAA9180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78D39F0-F07F-479F-95D7-E76DF4CB88E6}" type="datetimeFigureOut">
              <a:rPr lang="en-US" smtClean="0"/>
              <a:pPr/>
              <a:t>12/11/2017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C8B2B8-E688-4E41-BF2F-BFABEAA9180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78D39F0-F07F-479F-95D7-E76DF4CB88E6}" type="datetimeFigureOut">
              <a:rPr lang="en-US" smtClean="0"/>
              <a:pPr/>
              <a:t>12/11/2017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C8B2B8-E688-4E41-BF2F-BFABEAA9180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78D39F0-F07F-479F-95D7-E76DF4CB88E6}" type="datetimeFigureOut">
              <a:rPr lang="en-US" smtClean="0"/>
              <a:pPr/>
              <a:t>12/11/2017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8B2B8-E688-4E41-BF2F-BFABEAA9180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78D39F0-F07F-479F-95D7-E76DF4CB88E6}" type="datetimeFigureOut">
              <a:rPr lang="en-US" smtClean="0"/>
              <a:pPr/>
              <a:t>12/11/2017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8B2B8-E688-4E41-BF2F-BFABEAA9180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D78D39F0-F07F-479F-95D7-E76DF4CB88E6}" type="datetimeFigureOut">
              <a:rPr lang="en-US" smtClean="0"/>
              <a:pPr/>
              <a:t>12/11/2017</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8EC8B2B8-E688-4E41-BF2F-BFABEAA9180B}"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Authentication and Key Establishment Protocols</a:t>
            </a:r>
            <a:endParaRPr lang="en-US" dirty="0"/>
          </a:p>
        </p:txBody>
      </p:sp>
      <p:sp>
        <p:nvSpPr>
          <p:cNvPr id="3" name="Subtitle 2"/>
          <p:cNvSpPr>
            <a:spLocks noGrp="1"/>
          </p:cNvSpPr>
          <p:nvPr>
            <p:ph type="subTitle" idx="1"/>
          </p:nvPr>
        </p:nvSpPr>
        <p:spPr/>
        <p:txBody>
          <a:bodyPr>
            <a:normAutofit fontScale="70000" lnSpcReduction="20000"/>
          </a:bodyPr>
          <a:lstStyle/>
          <a:p>
            <a:r>
              <a:rPr lang="en-US" dirty="0" smtClean="0"/>
              <a:t>LAKSHMY K.V</a:t>
            </a:r>
          </a:p>
          <a:p>
            <a:r>
              <a:rPr lang="en-US" dirty="0" smtClean="0"/>
              <a:t>Amrita </a:t>
            </a:r>
            <a:r>
              <a:rPr lang="en-US" dirty="0" err="1" smtClean="0"/>
              <a:t>Vishwa</a:t>
            </a:r>
            <a:r>
              <a:rPr lang="en-US" dirty="0" smtClean="0"/>
              <a:t> </a:t>
            </a:r>
            <a:r>
              <a:rPr lang="en-US" dirty="0" err="1" smtClean="0"/>
              <a:t>Vidyapeetham</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Roadmap</a:t>
            </a:r>
            <a:endParaRPr lang="en-US" b="1" dirty="0">
              <a:solidFill>
                <a:srgbClr val="0070C0"/>
              </a:solidFill>
            </a:endParaRPr>
          </a:p>
        </p:txBody>
      </p:sp>
      <p:sp>
        <p:nvSpPr>
          <p:cNvPr id="3" name="Content Placeholder 2"/>
          <p:cNvSpPr>
            <a:spLocks noGrp="1"/>
          </p:cNvSpPr>
          <p:nvPr>
            <p:ph sz="quarter" idx="1"/>
          </p:nvPr>
        </p:nvSpPr>
        <p:spPr/>
        <p:txBody>
          <a:bodyPr/>
          <a:lstStyle/>
          <a:p>
            <a:r>
              <a:rPr lang="en-US" dirty="0" err="1" smtClean="0">
                <a:solidFill>
                  <a:srgbClr val="00B0F0"/>
                </a:solidFill>
              </a:rPr>
              <a:t>Intorduction</a:t>
            </a:r>
            <a:r>
              <a:rPr lang="en-US" dirty="0" smtClean="0"/>
              <a:t> </a:t>
            </a:r>
          </a:p>
          <a:p>
            <a:endParaRPr lang="en-US" dirty="0" smtClean="0"/>
          </a:p>
          <a:p>
            <a:r>
              <a:rPr lang="en-US" dirty="0" smtClean="0"/>
              <a:t>Background and Definitions</a:t>
            </a:r>
          </a:p>
          <a:p>
            <a:pPr lvl="1">
              <a:lnSpc>
                <a:spcPct val="150000"/>
              </a:lnSpc>
            </a:pPr>
            <a:r>
              <a:rPr lang="en-US" sz="2000" dirty="0" smtClean="0"/>
              <a:t>Authentication</a:t>
            </a:r>
          </a:p>
          <a:p>
            <a:pPr lvl="1">
              <a:lnSpc>
                <a:spcPct val="150000"/>
              </a:lnSpc>
            </a:pPr>
            <a:r>
              <a:rPr lang="en-US" sz="2000" dirty="0" smtClean="0"/>
              <a:t>Key Establishment</a:t>
            </a:r>
          </a:p>
          <a:p>
            <a:pPr lvl="1"/>
            <a:endParaRPr lang="en-US" sz="2000" dirty="0" smtClean="0"/>
          </a:p>
          <a:p>
            <a:r>
              <a:rPr lang="en-US" dirty="0" smtClean="0"/>
              <a:t>Case Study: Attempt to design a secure key establishment protocol</a:t>
            </a:r>
          </a:p>
          <a:p>
            <a:pPr lvl="1">
              <a:lnSpc>
                <a:spcPct val="150000"/>
              </a:lnSpc>
            </a:pPr>
            <a:r>
              <a:rPr lang="en-US" sz="2000" dirty="0" smtClean="0"/>
              <a:t>Example protocols 1-5</a:t>
            </a:r>
          </a:p>
          <a:p>
            <a:pPr lvl="1">
              <a:lnSpc>
                <a:spcPct val="150000"/>
              </a:lnSpc>
            </a:pPr>
            <a:r>
              <a:rPr lang="en-US" sz="2000" dirty="0" smtClean="0"/>
              <a:t>Security Assumptions</a:t>
            </a:r>
          </a:p>
          <a:p>
            <a:pPr marL="0" indent="0">
              <a:buNone/>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990600"/>
          </a:xfrm>
        </p:spPr>
        <p:txBody>
          <a:bodyPr>
            <a:normAutofit fontScale="90000"/>
          </a:bodyPr>
          <a:lstStyle/>
          <a:p>
            <a:r>
              <a:rPr lang="en-US" b="1" dirty="0" smtClean="0">
                <a:solidFill>
                  <a:srgbClr val="0070C0"/>
                </a:solidFill>
              </a:rPr>
              <a:t>Why do we have Protocols for Authentication and Key Establishment?</a:t>
            </a:r>
            <a:endParaRPr lang="en-US" b="1" dirty="0">
              <a:solidFill>
                <a:srgbClr val="0070C0"/>
              </a:solidFill>
            </a:endParaRPr>
          </a:p>
        </p:txBody>
      </p:sp>
      <p:sp>
        <p:nvSpPr>
          <p:cNvPr id="3" name="Content Placeholder 2"/>
          <p:cNvSpPr>
            <a:spLocks noGrp="1"/>
          </p:cNvSpPr>
          <p:nvPr>
            <p:ph sz="quarter" idx="1"/>
          </p:nvPr>
        </p:nvSpPr>
        <p:spPr>
          <a:xfrm>
            <a:off x="457200" y="1524000"/>
            <a:ext cx="8229600" cy="4937760"/>
          </a:xfrm>
        </p:spPr>
        <p:txBody>
          <a:bodyPr>
            <a:normAutofit fontScale="92500" lnSpcReduction="10000"/>
          </a:bodyPr>
          <a:lstStyle/>
          <a:p>
            <a:pPr>
              <a:lnSpc>
                <a:spcPct val="150000"/>
              </a:lnSpc>
            </a:pPr>
            <a:r>
              <a:rPr lang="en-US" dirty="0" smtClean="0"/>
              <a:t>Modern cryptography is based on keys</a:t>
            </a:r>
          </a:p>
          <a:p>
            <a:pPr lvl="1">
              <a:lnSpc>
                <a:spcPct val="150000"/>
              </a:lnSpc>
            </a:pPr>
            <a:r>
              <a:rPr lang="en-US" sz="2000" dirty="0" err="1" smtClean="0"/>
              <a:t>Kerckhoffsprinciple</a:t>
            </a:r>
            <a:r>
              <a:rPr lang="en-US" sz="2000" dirty="0" smtClean="0"/>
              <a:t>:</a:t>
            </a:r>
          </a:p>
          <a:p>
            <a:pPr lvl="2">
              <a:lnSpc>
                <a:spcPct val="150000"/>
              </a:lnSpc>
            </a:pPr>
            <a:r>
              <a:rPr lang="en-US" sz="1800" dirty="0" smtClean="0"/>
              <a:t>a cryptosystem should be secure even if everything about the system, except the key, is public knowledge</a:t>
            </a:r>
          </a:p>
          <a:p>
            <a:pPr lvl="1">
              <a:lnSpc>
                <a:spcPct val="150000"/>
              </a:lnSpc>
            </a:pPr>
            <a:r>
              <a:rPr lang="en-US" sz="2000" dirty="0" smtClean="0"/>
              <a:t>If the keys are not secure, the whole system is not secure, even if </a:t>
            </a:r>
            <a:r>
              <a:rPr lang="en-US" sz="2000" kern="1100" spc="100" dirty="0" smtClean="0"/>
              <a:t>secure</a:t>
            </a:r>
            <a:r>
              <a:rPr lang="en-US" sz="2000" dirty="0" smtClean="0"/>
              <a:t> crypto algorithms are used</a:t>
            </a:r>
          </a:p>
          <a:p>
            <a:pPr>
              <a:lnSpc>
                <a:spcPct val="150000"/>
              </a:lnSpc>
            </a:pPr>
            <a:r>
              <a:rPr lang="en-US" dirty="0" smtClean="0"/>
              <a:t>Cryptographic algorithms for encryption and integrity cannot perform their function unless</a:t>
            </a:r>
          </a:p>
          <a:p>
            <a:pPr lvl="1">
              <a:lnSpc>
                <a:spcPct val="150000"/>
              </a:lnSpc>
            </a:pPr>
            <a:r>
              <a:rPr lang="en-US" sz="2000" dirty="0" smtClean="0"/>
              <a:t>secure keys have been established, and</a:t>
            </a:r>
          </a:p>
          <a:p>
            <a:pPr lvl="1">
              <a:lnSpc>
                <a:spcPct val="150000"/>
              </a:lnSpc>
            </a:pPr>
            <a:r>
              <a:rPr lang="en-US" sz="2000" dirty="0" smtClean="0"/>
              <a:t>the users know which party share these keys</a:t>
            </a:r>
          </a:p>
          <a:p>
            <a:pPr lvl="1">
              <a:lnSpc>
                <a:spcPct val="150000"/>
              </a:lnSpc>
              <a:buNone/>
            </a:pPr>
            <a:endParaRPr lang="en-US" dirty="0" smtClean="0"/>
          </a:p>
          <a:p>
            <a:pPr>
              <a:lnSpc>
                <a:spcPct val="150000"/>
              </a:lnSpc>
            </a:pPr>
            <a:endParaRPr lang="en-US" dirty="0"/>
          </a:p>
        </p:txBody>
      </p:sp>
      <p:pic>
        <p:nvPicPr>
          <p:cNvPr id="4" name="Picture 3"/>
          <p:cNvPicPr>
            <a:picLocks noChangeAspect="1" noChangeArrowheads="1"/>
          </p:cNvPicPr>
          <p:nvPr/>
        </p:nvPicPr>
        <p:blipFill>
          <a:blip r:embed="rId2"/>
          <a:srcRect/>
          <a:stretch>
            <a:fillRect/>
          </a:stretch>
        </p:blipFill>
        <p:spPr bwMode="auto">
          <a:xfrm>
            <a:off x="0" y="4495800"/>
            <a:ext cx="750277" cy="172878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0070C0"/>
                </a:solidFill>
              </a:rPr>
              <a:t>Importance</a:t>
            </a:r>
            <a:endParaRPr lang="en-US" b="1" dirty="0">
              <a:solidFill>
                <a:srgbClr val="0070C0"/>
              </a:solidFill>
            </a:endParaRPr>
          </a:p>
        </p:txBody>
      </p:sp>
      <p:sp>
        <p:nvSpPr>
          <p:cNvPr id="3" name="Content Placeholder 2"/>
          <p:cNvSpPr>
            <a:spLocks noGrp="1"/>
          </p:cNvSpPr>
          <p:nvPr>
            <p:ph sz="quarter" idx="1"/>
          </p:nvPr>
        </p:nvSpPr>
        <p:spPr/>
        <p:txBody>
          <a:bodyPr/>
          <a:lstStyle/>
          <a:p>
            <a:pPr>
              <a:lnSpc>
                <a:spcPct val="150000"/>
              </a:lnSpc>
            </a:pPr>
            <a:r>
              <a:rPr lang="en-US" dirty="0" smtClean="0"/>
              <a:t>Authentication and key establishment are </a:t>
            </a:r>
            <a:r>
              <a:rPr lang="en-US" dirty="0" smtClean="0">
                <a:solidFill>
                  <a:srgbClr val="FF0000"/>
                </a:solidFill>
              </a:rPr>
              <a:t>fundamental building blocks </a:t>
            </a:r>
            <a:r>
              <a:rPr lang="en-US" dirty="0" smtClean="0"/>
              <a:t>for securing electronic communications</a:t>
            </a:r>
          </a:p>
          <a:p>
            <a:pPr lvl="1">
              <a:lnSpc>
                <a:spcPct val="150000"/>
              </a:lnSpc>
            </a:pPr>
            <a:r>
              <a:rPr lang="en-US" sz="2000" dirty="0" smtClean="0"/>
              <a:t>The notions</a:t>
            </a:r>
          </a:p>
          <a:p>
            <a:pPr lvl="2">
              <a:lnSpc>
                <a:spcPct val="150000"/>
              </a:lnSpc>
            </a:pPr>
            <a:r>
              <a:rPr lang="en-US" sz="1800" dirty="0" smtClean="0"/>
              <a:t>“Establishing a secure channel”, or</a:t>
            </a:r>
          </a:p>
          <a:p>
            <a:pPr lvl="2">
              <a:lnSpc>
                <a:spcPct val="150000"/>
              </a:lnSpc>
            </a:pPr>
            <a:r>
              <a:rPr lang="en-US" sz="1800" dirty="0" smtClean="0"/>
              <a:t>“Starting up a secure session”</a:t>
            </a:r>
          </a:p>
          <a:p>
            <a:pPr lvl="1">
              <a:lnSpc>
                <a:spcPct val="150000"/>
              </a:lnSpc>
              <a:buNone/>
            </a:pPr>
            <a:r>
              <a:rPr lang="en-US" sz="1800" dirty="0" smtClean="0"/>
              <a:t>   means that the keys have been established and the involved parties have been authenticated</a:t>
            </a:r>
          </a:p>
          <a:p>
            <a:pPr lvl="1">
              <a:lnSpc>
                <a:spcPct val="150000"/>
              </a:lnSpc>
            </a:pPr>
            <a:r>
              <a:rPr lang="en-US" sz="2000" dirty="0" smtClean="0"/>
              <a:t>So, protocols for authentication and key establishment are performed </a:t>
            </a:r>
            <a:r>
              <a:rPr lang="en-US" sz="2000" dirty="0" smtClean="0">
                <a:solidFill>
                  <a:srgbClr val="FF0000"/>
                </a:solidFill>
              </a:rPr>
              <a:t>at the beginning of the each session</a:t>
            </a:r>
            <a:endParaRPr lang="en-US" sz="2000" dirty="0">
              <a:solidFill>
                <a:srgbClr val="FF000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Roadmap</a:t>
            </a:r>
            <a:endParaRPr lang="en-US" b="1" dirty="0">
              <a:solidFill>
                <a:srgbClr val="0070C0"/>
              </a:solidFill>
            </a:endParaRPr>
          </a:p>
        </p:txBody>
      </p:sp>
      <p:sp>
        <p:nvSpPr>
          <p:cNvPr id="3" name="Content Placeholder 2"/>
          <p:cNvSpPr>
            <a:spLocks noGrp="1"/>
          </p:cNvSpPr>
          <p:nvPr>
            <p:ph sz="quarter" idx="1"/>
          </p:nvPr>
        </p:nvSpPr>
        <p:spPr/>
        <p:txBody>
          <a:bodyPr>
            <a:normAutofit fontScale="85000" lnSpcReduction="20000"/>
          </a:bodyPr>
          <a:lstStyle/>
          <a:p>
            <a:pPr>
              <a:lnSpc>
                <a:spcPct val="150000"/>
              </a:lnSpc>
            </a:pPr>
            <a:r>
              <a:rPr lang="en-US" dirty="0" err="1" smtClean="0"/>
              <a:t>Intorduction</a:t>
            </a:r>
            <a:r>
              <a:rPr lang="en-US" dirty="0" smtClean="0"/>
              <a:t> </a:t>
            </a:r>
          </a:p>
          <a:p>
            <a:pPr>
              <a:lnSpc>
                <a:spcPct val="150000"/>
              </a:lnSpc>
            </a:pPr>
            <a:r>
              <a:rPr lang="en-US" dirty="0" smtClean="0">
                <a:solidFill>
                  <a:srgbClr val="00B0F0"/>
                </a:solidFill>
              </a:rPr>
              <a:t>Background and Definitions</a:t>
            </a:r>
          </a:p>
          <a:p>
            <a:pPr lvl="1">
              <a:lnSpc>
                <a:spcPct val="150000"/>
              </a:lnSpc>
            </a:pPr>
            <a:r>
              <a:rPr lang="en-US" dirty="0" smtClean="0">
                <a:solidFill>
                  <a:srgbClr val="00B0F0"/>
                </a:solidFill>
              </a:rPr>
              <a:t>Authentication</a:t>
            </a:r>
          </a:p>
          <a:p>
            <a:pPr lvl="1">
              <a:lnSpc>
                <a:spcPct val="150000"/>
              </a:lnSpc>
            </a:pPr>
            <a:r>
              <a:rPr lang="en-US" dirty="0" smtClean="0">
                <a:solidFill>
                  <a:srgbClr val="00B0F0"/>
                </a:solidFill>
              </a:rPr>
              <a:t>Key Establishment</a:t>
            </a:r>
          </a:p>
          <a:p>
            <a:pPr>
              <a:lnSpc>
                <a:spcPct val="150000"/>
              </a:lnSpc>
            </a:pPr>
            <a:r>
              <a:rPr lang="en-US" dirty="0" smtClean="0"/>
              <a:t>Case Study: Attempt to design a secure key establishment protocol</a:t>
            </a:r>
          </a:p>
          <a:p>
            <a:pPr lvl="1">
              <a:lnSpc>
                <a:spcPct val="150000"/>
              </a:lnSpc>
            </a:pPr>
            <a:r>
              <a:rPr lang="en-US" dirty="0" smtClean="0"/>
              <a:t>Example protocols 1-5</a:t>
            </a:r>
          </a:p>
          <a:p>
            <a:pPr lvl="1">
              <a:lnSpc>
                <a:spcPct val="150000"/>
              </a:lnSpc>
            </a:pPr>
            <a:r>
              <a:rPr lang="en-US" dirty="0" smtClean="0"/>
              <a:t>Security Assumptions</a:t>
            </a:r>
          </a:p>
          <a:p>
            <a:pPr>
              <a:lnSpc>
                <a:spcPct val="150000"/>
              </a:lnSpc>
            </a:pPr>
            <a:r>
              <a:rPr lang="en-US" dirty="0" smtClean="0"/>
              <a:t>Goals of Authentication and Key Establishment</a:t>
            </a:r>
          </a:p>
          <a:p>
            <a:pPr lvl="1">
              <a:lnSpc>
                <a:spcPct val="150000"/>
              </a:lnSpc>
            </a:pPr>
            <a:r>
              <a:rPr lang="en-US" dirty="0" smtClean="0"/>
              <a:t>Basic Goals</a:t>
            </a:r>
          </a:p>
          <a:p>
            <a:pPr lvl="1">
              <a:lnSpc>
                <a:spcPct val="150000"/>
              </a:lnSpc>
            </a:pPr>
            <a:r>
              <a:rPr lang="en-US" dirty="0" smtClean="0"/>
              <a:t>Enhanced Goals</a:t>
            </a:r>
          </a:p>
          <a:p>
            <a:pPr>
              <a:lnSpc>
                <a:spcPct val="150000"/>
              </a:lnSpc>
            </a:pP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Authentication</a:t>
            </a:r>
            <a:endParaRPr lang="en-US" b="1" dirty="0">
              <a:solidFill>
                <a:srgbClr val="0070C0"/>
              </a:solidFill>
            </a:endParaRPr>
          </a:p>
        </p:txBody>
      </p:sp>
      <p:sp>
        <p:nvSpPr>
          <p:cNvPr id="3" name="Content Placeholder 2"/>
          <p:cNvSpPr>
            <a:spLocks noGrp="1"/>
          </p:cNvSpPr>
          <p:nvPr>
            <p:ph sz="quarter" idx="1"/>
          </p:nvPr>
        </p:nvSpPr>
        <p:spPr/>
        <p:txBody>
          <a:bodyPr>
            <a:normAutofit fontScale="70000" lnSpcReduction="20000"/>
          </a:bodyPr>
          <a:lstStyle/>
          <a:p>
            <a:pPr>
              <a:lnSpc>
                <a:spcPct val="160000"/>
              </a:lnSpc>
            </a:pPr>
            <a:r>
              <a:rPr lang="en-US" dirty="0" smtClean="0"/>
              <a:t>The notion authentication depends on the context of usage</a:t>
            </a:r>
          </a:p>
          <a:p>
            <a:pPr lvl="1">
              <a:lnSpc>
                <a:spcPct val="160000"/>
              </a:lnSpc>
            </a:pPr>
            <a:r>
              <a:rPr lang="en-US" dirty="0" smtClean="0"/>
              <a:t>It applies to both </a:t>
            </a:r>
            <a:r>
              <a:rPr lang="en-US" dirty="0" smtClean="0">
                <a:solidFill>
                  <a:srgbClr val="00B0F0"/>
                </a:solidFill>
              </a:rPr>
              <a:t>entities </a:t>
            </a:r>
            <a:r>
              <a:rPr lang="en-US" dirty="0" smtClean="0"/>
              <a:t>and </a:t>
            </a:r>
            <a:r>
              <a:rPr lang="en-US" dirty="0" smtClean="0">
                <a:solidFill>
                  <a:srgbClr val="00B0F0"/>
                </a:solidFill>
              </a:rPr>
              <a:t>information</a:t>
            </a:r>
            <a:r>
              <a:rPr lang="en-US" dirty="0" smtClean="0"/>
              <a:t> itself</a:t>
            </a:r>
          </a:p>
          <a:p>
            <a:pPr>
              <a:lnSpc>
                <a:spcPct val="160000"/>
              </a:lnSpc>
            </a:pPr>
            <a:r>
              <a:rPr lang="en-US" dirty="0" smtClean="0"/>
              <a:t>Entity authentication (EA)</a:t>
            </a:r>
          </a:p>
          <a:p>
            <a:pPr lvl="1">
              <a:lnSpc>
                <a:spcPct val="160000"/>
              </a:lnSpc>
            </a:pPr>
            <a:r>
              <a:rPr lang="en-US" dirty="0" smtClean="0"/>
              <a:t>Process of verifying that an identity is as claimed</a:t>
            </a:r>
          </a:p>
          <a:p>
            <a:pPr>
              <a:lnSpc>
                <a:spcPct val="160000"/>
              </a:lnSpc>
            </a:pPr>
            <a:r>
              <a:rPr lang="en-US" dirty="0" smtClean="0"/>
              <a:t>Message authentication (MA)</a:t>
            </a:r>
          </a:p>
          <a:p>
            <a:pPr lvl="1">
              <a:lnSpc>
                <a:spcPct val="160000"/>
              </a:lnSpc>
            </a:pPr>
            <a:r>
              <a:rPr lang="en-US" dirty="0" smtClean="0"/>
              <a:t>A message delivered over a channel should be authenticated as to origin (who sent the data) and data content.</a:t>
            </a:r>
          </a:p>
          <a:p>
            <a:pPr lvl="1">
              <a:lnSpc>
                <a:spcPct val="160000"/>
              </a:lnSpc>
            </a:pPr>
            <a:r>
              <a:rPr lang="en-US" dirty="0" smtClean="0"/>
              <a:t>Methods of providing message authentication</a:t>
            </a:r>
          </a:p>
          <a:p>
            <a:pPr lvl="2">
              <a:lnSpc>
                <a:spcPct val="160000"/>
              </a:lnSpc>
            </a:pPr>
            <a:r>
              <a:rPr lang="en-US" dirty="0" smtClean="0"/>
              <a:t>Message Authentication Codes (MACs)</a:t>
            </a:r>
          </a:p>
          <a:p>
            <a:pPr lvl="2">
              <a:lnSpc>
                <a:spcPct val="160000"/>
              </a:lnSpc>
            </a:pPr>
            <a:r>
              <a:rPr lang="en-US" dirty="0" smtClean="0"/>
              <a:t>Digital signatures</a:t>
            </a:r>
          </a:p>
          <a:p>
            <a:pPr lvl="1">
              <a:lnSpc>
                <a:spcPct val="160000"/>
              </a:lnSpc>
            </a:pPr>
            <a:r>
              <a:rPr lang="en-US" dirty="0" smtClean="0"/>
              <a:t>In this course we focus on entity authentication!</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Entity Authentication (EA)</a:t>
            </a:r>
            <a:endParaRPr lang="en-US" b="1" dirty="0">
              <a:solidFill>
                <a:srgbClr val="0070C0"/>
              </a:solidFill>
            </a:endParaRPr>
          </a:p>
        </p:txBody>
      </p:sp>
      <p:sp>
        <p:nvSpPr>
          <p:cNvPr id="3" name="Content Placeholder 2"/>
          <p:cNvSpPr>
            <a:spLocks noGrp="1"/>
          </p:cNvSpPr>
          <p:nvPr>
            <p:ph sz="quarter" idx="1"/>
          </p:nvPr>
        </p:nvSpPr>
        <p:spPr/>
        <p:txBody>
          <a:bodyPr>
            <a:normAutofit fontScale="77500" lnSpcReduction="20000"/>
          </a:bodyPr>
          <a:lstStyle/>
          <a:p>
            <a:pPr>
              <a:lnSpc>
                <a:spcPct val="160000"/>
              </a:lnSpc>
            </a:pPr>
            <a:r>
              <a:rPr lang="en-US" dirty="0" smtClean="0"/>
              <a:t>Definition: Entity authentication is the process whereby one party (verifier)</a:t>
            </a:r>
          </a:p>
          <a:p>
            <a:pPr lvl="1">
              <a:lnSpc>
                <a:spcPct val="160000"/>
              </a:lnSpc>
            </a:pPr>
            <a:r>
              <a:rPr lang="en-US" dirty="0" smtClean="0"/>
              <a:t>is assured of the identity of the second party involved in the protocol through acquisition of corroborative evidence (PROOF), and</a:t>
            </a:r>
          </a:p>
          <a:p>
            <a:pPr lvl="1">
              <a:lnSpc>
                <a:spcPct val="160000"/>
              </a:lnSpc>
            </a:pPr>
            <a:r>
              <a:rPr lang="en-US" dirty="0" smtClean="0"/>
              <a:t>that the second party has actually participated in the protocol (FRESHNESS!)</a:t>
            </a:r>
          </a:p>
          <a:p>
            <a:pPr>
              <a:lnSpc>
                <a:spcPct val="160000"/>
              </a:lnSpc>
            </a:pPr>
            <a:r>
              <a:rPr lang="en-US" dirty="0" smtClean="0"/>
              <a:t>Difference “Identification” and “Authentication”</a:t>
            </a:r>
          </a:p>
          <a:p>
            <a:pPr lvl="1">
              <a:lnSpc>
                <a:spcPct val="160000"/>
              </a:lnSpc>
            </a:pPr>
            <a:r>
              <a:rPr lang="en-US" dirty="0" smtClean="0"/>
              <a:t>Identification: Claimed or stated identity</a:t>
            </a:r>
          </a:p>
          <a:p>
            <a:pPr lvl="2">
              <a:lnSpc>
                <a:spcPct val="160000"/>
              </a:lnSpc>
            </a:pPr>
            <a:r>
              <a:rPr lang="en-US" dirty="0" smtClean="0"/>
              <a:t>Example: Access to a computer system</a:t>
            </a:r>
          </a:p>
          <a:p>
            <a:pPr lvl="2">
              <a:lnSpc>
                <a:spcPct val="160000"/>
              </a:lnSpc>
              <a:buNone/>
            </a:pPr>
            <a:r>
              <a:rPr lang="en-US" dirty="0" smtClean="0"/>
              <a:t>   Enter your user name; User = </a:t>
            </a:r>
            <a:r>
              <a:rPr lang="en-US" dirty="0" smtClean="0"/>
              <a:t>“Lakshmy” </a:t>
            </a:r>
            <a:r>
              <a:rPr lang="en-US" dirty="0" smtClean="0"/>
              <a:t>(stated identity)</a:t>
            </a:r>
          </a:p>
          <a:p>
            <a:pPr lvl="1">
              <a:lnSpc>
                <a:spcPct val="160000"/>
              </a:lnSpc>
            </a:pPr>
            <a:r>
              <a:rPr lang="en-US" dirty="0" smtClean="0"/>
              <a:t>Authentication: Proved identity</a:t>
            </a:r>
          </a:p>
          <a:p>
            <a:pPr lvl="2">
              <a:lnSpc>
                <a:spcPct val="160000"/>
              </a:lnSpc>
            </a:pPr>
            <a:r>
              <a:rPr lang="en-US" dirty="0" smtClean="0"/>
              <a:t>Example: Enter your password (prove that you are </a:t>
            </a:r>
            <a:r>
              <a:rPr lang="en-US" dirty="0" smtClean="0"/>
              <a:t>user “Lakshmy” ), </a:t>
            </a:r>
            <a:r>
              <a:rPr lang="en-US" dirty="0" smtClean="0"/>
              <a:t>or scan your fingerprint</a:t>
            </a:r>
          </a:p>
          <a:p>
            <a:pPr>
              <a:lnSpc>
                <a:spcPct val="160000"/>
              </a:lnSpc>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More Notions about Authentication</a:t>
            </a:r>
            <a:endParaRPr lang="en-US" b="1" dirty="0">
              <a:solidFill>
                <a:srgbClr val="0070C0"/>
              </a:solidFill>
            </a:endParaRPr>
          </a:p>
        </p:txBody>
      </p:sp>
      <p:sp>
        <p:nvSpPr>
          <p:cNvPr id="3" name="Content Placeholder 2"/>
          <p:cNvSpPr>
            <a:spLocks noGrp="1"/>
          </p:cNvSpPr>
          <p:nvPr>
            <p:ph sz="quarter" idx="1"/>
          </p:nvPr>
        </p:nvSpPr>
        <p:spPr/>
        <p:txBody>
          <a:bodyPr>
            <a:normAutofit fontScale="92500" lnSpcReduction="10000"/>
          </a:bodyPr>
          <a:lstStyle/>
          <a:p>
            <a:pPr>
              <a:lnSpc>
                <a:spcPct val="150000"/>
              </a:lnSpc>
            </a:pPr>
            <a:r>
              <a:rPr lang="en-US" dirty="0" smtClean="0"/>
              <a:t>Unilateral/mutual authentication</a:t>
            </a:r>
          </a:p>
          <a:p>
            <a:pPr lvl="1">
              <a:lnSpc>
                <a:spcPct val="150000"/>
              </a:lnSpc>
            </a:pPr>
            <a:r>
              <a:rPr lang="en-US" dirty="0" smtClean="0"/>
              <a:t>Unilateral: One party proves its identity to the other</a:t>
            </a:r>
          </a:p>
          <a:p>
            <a:pPr lvl="1">
              <a:lnSpc>
                <a:spcPct val="150000"/>
              </a:lnSpc>
            </a:pPr>
            <a:r>
              <a:rPr lang="en-US" dirty="0" smtClean="0"/>
              <a:t>Mutual: Both parties prove their identities to each other</a:t>
            </a:r>
          </a:p>
          <a:p>
            <a:pPr>
              <a:lnSpc>
                <a:spcPct val="150000"/>
              </a:lnSpc>
            </a:pPr>
            <a:r>
              <a:rPr lang="en-US" dirty="0" smtClean="0"/>
              <a:t>Authentication can be based on</a:t>
            </a:r>
          </a:p>
          <a:p>
            <a:pPr lvl="1">
              <a:lnSpc>
                <a:spcPct val="150000"/>
              </a:lnSpc>
            </a:pPr>
            <a:r>
              <a:rPr lang="en-US" dirty="0" smtClean="0"/>
              <a:t>what you have (e.g., hardware token)</a:t>
            </a:r>
          </a:p>
          <a:p>
            <a:pPr lvl="1">
              <a:lnSpc>
                <a:spcPct val="150000"/>
              </a:lnSpc>
            </a:pPr>
            <a:r>
              <a:rPr lang="en-US" dirty="0" smtClean="0"/>
              <a:t>what you are (biometrical data e.g., fingerprint, face, iris)</a:t>
            </a:r>
          </a:p>
          <a:p>
            <a:pPr lvl="1">
              <a:lnSpc>
                <a:spcPct val="150000"/>
              </a:lnSpc>
            </a:pPr>
            <a:r>
              <a:rPr lang="en-US" dirty="0" smtClean="0"/>
              <a:t>what you know (e.g., password, key)</a:t>
            </a:r>
          </a:p>
          <a:p>
            <a:pPr>
              <a:lnSpc>
                <a:spcPct val="150000"/>
              </a:lnSpc>
            </a:pPr>
            <a:r>
              <a:rPr lang="en-US" dirty="0" smtClean="0"/>
              <a:t>Authentication can be realized with interactive challenge‐response protocols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Key Establishment</a:t>
            </a:r>
            <a:endParaRPr lang="en-US" b="1" dirty="0">
              <a:solidFill>
                <a:srgbClr val="0070C0"/>
              </a:solidFill>
            </a:endParaRPr>
          </a:p>
        </p:txBody>
      </p:sp>
      <p:sp>
        <p:nvSpPr>
          <p:cNvPr id="3" name="Content Placeholder 2"/>
          <p:cNvSpPr>
            <a:spLocks noGrp="1"/>
          </p:cNvSpPr>
          <p:nvPr>
            <p:ph sz="quarter" idx="1"/>
          </p:nvPr>
        </p:nvSpPr>
        <p:spPr>
          <a:xfrm>
            <a:off x="457200" y="1000108"/>
            <a:ext cx="8229600" cy="5156852"/>
          </a:xfrm>
        </p:spPr>
        <p:txBody>
          <a:bodyPr/>
          <a:lstStyle/>
          <a:p>
            <a:pPr>
              <a:lnSpc>
                <a:spcPct val="150000"/>
              </a:lnSpc>
            </a:pPr>
            <a:r>
              <a:rPr lang="en-US" dirty="0" smtClean="0"/>
              <a:t>Definition</a:t>
            </a:r>
          </a:p>
          <a:p>
            <a:pPr lvl="1">
              <a:lnSpc>
                <a:spcPct val="150000"/>
              </a:lnSpc>
            </a:pPr>
            <a:r>
              <a:rPr lang="en-US" dirty="0" smtClean="0"/>
              <a:t>Key establishment is a process or protocol whereby a shared secret (key) becomes available to two or more parties, for subsequent cryptographic use</a:t>
            </a:r>
          </a:p>
          <a:p>
            <a:pPr>
              <a:lnSpc>
                <a:spcPct val="150000"/>
              </a:lnSpc>
            </a:pPr>
            <a:r>
              <a:rPr lang="en-US" dirty="0" smtClean="0"/>
              <a:t>Basic idea of a key establishment protocol</a:t>
            </a:r>
          </a:p>
          <a:p>
            <a:pPr lvl="1">
              <a:lnSpc>
                <a:spcPct val="150000"/>
              </a:lnSpc>
              <a:buNone/>
            </a:pPr>
            <a:endParaRPr lang="en-US" dirty="0"/>
          </a:p>
        </p:txBody>
      </p:sp>
      <p:pic>
        <p:nvPicPr>
          <p:cNvPr id="4" name="Picture 3" descr="ke1.bmp"/>
          <p:cNvPicPr>
            <a:picLocks noChangeAspect="1"/>
          </p:cNvPicPr>
          <p:nvPr/>
        </p:nvPicPr>
        <p:blipFill>
          <a:blip r:embed="rId2"/>
          <a:stretch>
            <a:fillRect/>
          </a:stretch>
        </p:blipFill>
        <p:spPr>
          <a:xfrm>
            <a:off x="1500166" y="4000504"/>
            <a:ext cx="5572164" cy="285752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Types of Key Establishment</a:t>
            </a:r>
            <a:endParaRPr lang="en-US" b="1" dirty="0">
              <a:solidFill>
                <a:srgbClr val="0070C0"/>
              </a:solidFill>
            </a:endParaRPr>
          </a:p>
        </p:txBody>
      </p:sp>
      <p:sp>
        <p:nvSpPr>
          <p:cNvPr id="3" name="Content Placeholder 2"/>
          <p:cNvSpPr>
            <a:spLocks noGrp="1"/>
          </p:cNvSpPr>
          <p:nvPr>
            <p:ph sz="quarter" idx="1"/>
          </p:nvPr>
        </p:nvSpPr>
        <p:spPr/>
        <p:txBody>
          <a:bodyPr>
            <a:normAutofit fontScale="62500" lnSpcReduction="20000"/>
          </a:bodyPr>
          <a:lstStyle/>
          <a:p>
            <a:pPr>
              <a:lnSpc>
                <a:spcPct val="160000"/>
              </a:lnSpc>
            </a:pPr>
            <a:r>
              <a:rPr lang="en-US" dirty="0" smtClean="0"/>
              <a:t>A key establishment protocol can be</a:t>
            </a:r>
          </a:p>
          <a:p>
            <a:pPr lvl="1">
              <a:lnSpc>
                <a:spcPct val="160000"/>
              </a:lnSpc>
            </a:pPr>
            <a:r>
              <a:rPr lang="en-US" dirty="0" smtClean="0"/>
              <a:t>Key agreement</a:t>
            </a:r>
          </a:p>
          <a:p>
            <a:pPr lvl="2">
              <a:lnSpc>
                <a:spcPct val="160000"/>
              </a:lnSpc>
            </a:pPr>
            <a:r>
              <a:rPr lang="en-US" dirty="0" smtClean="0"/>
              <a:t>A shared key is derived by two or more parties as a function of the contributions (inputs) of </a:t>
            </a:r>
            <a:r>
              <a:rPr lang="en-US" b="1" dirty="0" smtClean="0">
                <a:solidFill>
                  <a:srgbClr val="FF0000"/>
                </a:solidFill>
              </a:rPr>
              <a:t>all parties</a:t>
            </a:r>
          </a:p>
          <a:p>
            <a:pPr lvl="2">
              <a:lnSpc>
                <a:spcPct val="160000"/>
              </a:lnSpc>
            </a:pPr>
            <a:r>
              <a:rPr lang="en-US" dirty="0" smtClean="0"/>
              <a:t>No party can predetermine the resulting value</a:t>
            </a:r>
          </a:p>
          <a:p>
            <a:pPr lvl="1">
              <a:lnSpc>
                <a:spcPct val="160000"/>
              </a:lnSpc>
            </a:pPr>
            <a:r>
              <a:rPr lang="en-US" dirty="0" smtClean="0"/>
              <a:t>Key transport</a:t>
            </a:r>
          </a:p>
          <a:p>
            <a:pPr lvl="2">
              <a:lnSpc>
                <a:spcPct val="160000"/>
              </a:lnSpc>
            </a:pPr>
            <a:r>
              <a:rPr lang="en-US" b="1" dirty="0" smtClean="0">
                <a:solidFill>
                  <a:srgbClr val="FF0000"/>
                </a:solidFill>
              </a:rPr>
              <a:t>One party </a:t>
            </a:r>
            <a:r>
              <a:rPr lang="en-US" dirty="0" smtClean="0"/>
              <a:t>creates or otherwise obtains the secret key, and securely transfers it to the other(s)</a:t>
            </a:r>
          </a:p>
          <a:p>
            <a:pPr lvl="2">
              <a:lnSpc>
                <a:spcPct val="160000"/>
              </a:lnSpc>
            </a:pPr>
            <a:r>
              <a:rPr lang="en-US" dirty="0" smtClean="0"/>
              <a:t>The trust model is very important</a:t>
            </a:r>
          </a:p>
          <a:p>
            <a:pPr lvl="1">
              <a:lnSpc>
                <a:spcPct val="160000"/>
              </a:lnSpc>
            </a:pPr>
            <a:r>
              <a:rPr lang="en-US" dirty="0" smtClean="0"/>
              <a:t>Hybrid key establishment</a:t>
            </a:r>
          </a:p>
          <a:p>
            <a:pPr lvl="2">
              <a:lnSpc>
                <a:spcPct val="160000"/>
              </a:lnSpc>
            </a:pPr>
            <a:r>
              <a:rPr lang="en-US" dirty="0" smtClean="0"/>
              <a:t>Key agreement protocol for some parties</a:t>
            </a:r>
          </a:p>
          <a:p>
            <a:pPr lvl="2">
              <a:lnSpc>
                <a:spcPct val="160000"/>
              </a:lnSpc>
            </a:pPr>
            <a:r>
              <a:rPr lang="en-US" dirty="0" smtClean="0"/>
              <a:t>Key transport protocol for the others</a:t>
            </a:r>
          </a:p>
          <a:p>
            <a:pPr>
              <a:lnSpc>
                <a:spcPct val="160000"/>
              </a:lnSpc>
            </a:pPr>
            <a:r>
              <a:rPr lang="en-US" dirty="0" smtClean="0"/>
              <a:t>All types of key establishment can be realized by both symmetric and asymmetric cryptographic techniques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Types of Cryptographic Keys</a:t>
            </a:r>
            <a:endParaRPr lang="en-US" b="1" dirty="0">
              <a:solidFill>
                <a:srgbClr val="0070C0"/>
              </a:solidFill>
            </a:endParaRPr>
          </a:p>
        </p:txBody>
      </p:sp>
      <p:sp>
        <p:nvSpPr>
          <p:cNvPr id="3" name="Content Placeholder 2"/>
          <p:cNvSpPr>
            <a:spLocks noGrp="1"/>
          </p:cNvSpPr>
          <p:nvPr>
            <p:ph sz="quarter" idx="1"/>
          </p:nvPr>
        </p:nvSpPr>
        <p:spPr/>
        <p:txBody>
          <a:bodyPr>
            <a:normAutofit fontScale="62500" lnSpcReduction="20000"/>
          </a:bodyPr>
          <a:lstStyle/>
          <a:p>
            <a:pPr>
              <a:lnSpc>
                <a:spcPct val="170000"/>
              </a:lnSpc>
            </a:pPr>
            <a:r>
              <a:rPr lang="en-US" dirty="0" smtClean="0"/>
              <a:t>Long term keys (LTK)</a:t>
            </a:r>
          </a:p>
          <a:p>
            <a:pPr lvl="1">
              <a:lnSpc>
                <a:spcPct val="170000"/>
              </a:lnSpc>
            </a:pPr>
            <a:r>
              <a:rPr lang="en-US" dirty="0" smtClean="0"/>
              <a:t>Key shared between the parties with validity of “long” time period (e.g., 1 month, 1 year)</a:t>
            </a:r>
          </a:p>
          <a:p>
            <a:pPr lvl="1">
              <a:lnSpc>
                <a:spcPct val="170000"/>
              </a:lnSpc>
            </a:pPr>
            <a:r>
              <a:rPr lang="en-US" dirty="0" smtClean="0"/>
              <a:t>Typically used for authentication purposes</a:t>
            </a:r>
          </a:p>
          <a:p>
            <a:pPr>
              <a:lnSpc>
                <a:spcPct val="170000"/>
              </a:lnSpc>
            </a:pPr>
            <a:r>
              <a:rPr lang="en-US" dirty="0" smtClean="0"/>
              <a:t>Short term keys (STK, session keys)</a:t>
            </a:r>
          </a:p>
          <a:p>
            <a:pPr lvl="1">
              <a:lnSpc>
                <a:spcPct val="170000"/>
              </a:lnSpc>
            </a:pPr>
            <a:r>
              <a:rPr lang="en-US" dirty="0" smtClean="0"/>
              <a:t>Session key is a short lived secret, i.e., its usage is restricted to a short time period (e.g., single telecommunication session), after which all trace of it is eliminated</a:t>
            </a:r>
          </a:p>
          <a:p>
            <a:pPr lvl="1">
              <a:lnSpc>
                <a:spcPct val="170000"/>
              </a:lnSpc>
            </a:pPr>
            <a:r>
              <a:rPr lang="en-US" dirty="0" smtClean="0"/>
              <a:t>Advantages of session keys</a:t>
            </a:r>
          </a:p>
          <a:p>
            <a:pPr lvl="2">
              <a:lnSpc>
                <a:spcPct val="170000"/>
              </a:lnSpc>
            </a:pPr>
            <a:r>
              <a:rPr lang="en-US" dirty="0" smtClean="0"/>
              <a:t>Limiting available </a:t>
            </a:r>
            <a:r>
              <a:rPr lang="en-US" dirty="0" err="1" smtClean="0"/>
              <a:t>ciphertext</a:t>
            </a:r>
            <a:r>
              <a:rPr lang="en-US" dirty="0" smtClean="0"/>
              <a:t> for cryptanalysis</a:t>
            </a:r>
          </a:p>
          <a:p>
            <a:pPr lvl="2">
              <a:lnSpc>
                <a:spcPct val="170000"/>
              </a:lnSpc>
            </a:pPr>
            <a:r>
              <a:rPr lang="en-US" dirty="0" smtClean="0"/>
              <a:t>Limiting exposure in the case of key compromise</a:t>
            </a:r>
          </a:p>
          <a:p>
            <a:pPr lvl="2">
              <a:lnSpc>
                <a:spcPct val="170000"/>
              </a:lnSpc>
            </a:pPr>
            <a:r>
              <a:rPr lang="en-US" dirty="0" smtClean="0"/>
              <a:t>Avoiding long‐term storage of large number of distinct secret keys by creating keys only when they are actually required</a:t>
            </a:r>
          </a:p>
          <a:p>
            <a:pPr lvl="2">
              <a:lnSpc>
                <a:spcPct val="170000"/>
              </a:lnSpc>
            </a:pPr>
            <a:r>
              <a:rPr lang="en-US" dirty="0" smtClean="0"/>
              <a:t>Creating independence across communication sessions and applications</a:t>
            </a:r>
          </a:p>
          <a:p>
            <a:pPr lvl="1">
              <a:lnSpc>
                <a:spcPct val="170000"/>
              </a:lnSpc>
              <a:buNone/>
            </a:pPr>
            <a:r>
              <a:rPr lang="en-US" dirty="0" smtClean="0"/>
              <a:t> </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Key Management</a:t>
            </a:r>
            <a:endParaRPr lang="en-US" b="1" dirty="0">
              <a:solidFill>
                <a:srgbClr val="0070C0"/>
              </a:solidFill>
            </a:endParaRPr>
          </a:p>
        </p:txBody>
      </p:sp>
      <p:sp>
        <p:nvSpPr>
          <p:cNvPr id="3" name="Content Placeholder 2"/>
          <p:cNvSpPr>
            <a:spLocks noGrp="1"/>
          </p:cNvSpPr>
          <p:nvPr>
            <p:ph sz="quarter" idx="1"/>
          </p:nvPr>
        </p:nvSpPr>
        <p:spPr/>
        <p:txBody>
          <a:bodyPr>
            <a:normAutofit fontScale="92500" lnSpcReduction="10000"/>
          </a:bodyPr>
          <a:lstStyle/>
          <a:p>
            <a:pPr>
              <a:lnSpc>
                <a:spcPct val="150000"/>
              </a:lnSpc>
            </a:pPr>
            <a:r>
              <a:rPr lang="en-US" dirty="0" smtClean="0"/>
              <a:t>Key management is more general notion then a key establishment</a:t>
            </a:r>
          </a:p>
          <a:p>
            <a:pPr lvl="1">
              <a:lnSpc>
                <a:spcPct val="150000"/>
              </a:lnSpc>
            </a:pPr>
            <a:r>
              <a:rPr lang="en-US" dirty="0" smtClean="0"/>
              <a:t>Once keys have been established, they should be managed in order to provide a secure communication</a:t>
            </a:r>
          </a:p>
          <a:p>
            <a:pPr>
              <a:lnSpc>
                <a:spcPct val="150000"/>
              </a:lnSpc>
            </a:pPr>
            <a:r>
              <a:rPr lang="en-US" dirty="0" smtClean="0"/>
              <a:t>Key management consists of establishment, update, storage, backup, recovery, and revocation of cryptographic keys</a:t>
            </a:r>
          </a:p>
          <a:p>
            <a:pPr>
              <a:lnSpc>
                <a:spcPct val="150000"/>
              </a:lnSpc>
            </a:pPr>
            <a:r>
              <a:rPr lang="en-US" dirty="0" smtClean="0"/>
              <a:t>Although one of the most important aspects of any cryptographic system, key management is most often neglected</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Authenticated Key Establishment (AKE)</a:t>
            </a:r>
            <a:endParaRPr lang="en-US" b="1" dirty="0">
              <a:solidFill>
                <a:srgbClr val="0070C0"/>
              </a:solidFill>
            </a:endParaRPr>
          </a:p>
        </p:txBody>
      </p:sp>
      <p:sp>
        <p:nvSpPr>
          <p:cNvPr id="3" name="Content Placeholder 2"/>
          <p:cNvSpPr>
            <a:spLocks noGrp="1"/>
          </p:cNvSpPr>
          <p:nvPr>
            <p:ph sz="quarter" idx="1"/>
          </p:nvPr>
        </p:nvSpPr>
        <p:spPr/>
        <p:txBody>
          <a:bodyPr>
            <a:normAutofit fontScale="92500" lnSpcReduction="10000"/>
          </a:bodyPr>
          <a:lstStyle/>
          <a:p>
            <a:pPr>
              <a:lnSpc>
                <a:spcPct val="150000"/>
              </a:lnSpc>
            </a:pPr>
            <a:r>
              <a:rPr lang="en-US" dirty="0" smtClean="0"/>
              <a:t>What does “</a:t>
            </a:r>
            <a:r>
              <a:rPr lang="en-US" b="1" dirty="0" smtClean="0">
                <a:solidFill>
                  <a:srgbClr val="FF0000"/>
                </a:solidFill>
              </a:rPr>
              <a:t>secure</a:t>
            </a:r>
            <a:r>
              <a:rPr lang="en-US" dirty="0" smtClean="0"/>
              <a:t>” key establishment mean?</a:t>
            </a:r>
          </a:p>
          <a:p>
            <a:pPr lvl="1">
              <a:lnSpc>
                <a:spcPct val="150000"/>
              </a:lnSpc>
            </a:pPr>
            <a:r>
              <a:rPr lang="en-US" dirty="0" smtClean="0"/>
              <a:t>Each party in a KE protocol should be able</a:t>
            </a:r>
          </a:p>
          <a:p>
            <a:pPr lvl="2">
              <a:lnSpc>
                <a:spcPct val="150000"/>
              </a:lnSpc>
            </a:pPr>
            <a:r>
              <a:rPr lang="en-US" dirty="0" smtClean="0"/>
              <a:t>to determine the true identity of the other(s) which could possibly gain access to the resulting key,</a:t>
            </a:r>
          </a:p>
          <a:p>
            <a:pPr lvl="2">
              <a:lnSpc>
                <a:spcPct val="150000"/>
              </a:lnSpc>
            </a:pPr>
            <a:r>
              <a:rPr lang="en-US" dirty="0" smtClean="0"/>
              <a:t>implying preclusion of any unauthorized additional parties from deducing the same key</a:t>
            </a:r>
          </a:p>
          <a:p>
            <a:pPr>
              <a:lnSpc>
                <a:spcPct val="150000"/>
              </a:lnSpc>
            </a:pPr>
            <a:r>
              <a:rPr lang="en-US" b="1" dirty="0" smtClean="0">
                <a:solidFill>
                  <a:srgbClr val="FF0000"/>
                </a:solidFill>
              </a:rPr>
              <a:t>Authenticated key establishment (AKE)</a:t>
            </a:r>
          </a:p>
          <a:p>
            <a:pPr lvl="1">
              <a:lnSpc>
                <a:spcPct val="150000"/>
              </a:lnSpc>
            </a:pPr>
            <a:r>
              <a:rPr lang="en-US" dirty="0" smtClean="0"/>
              <a:t>Combines authentication and key establishment in one protocol</a:t>
            </a:r>
          </a:p>
          <a:p>
            <a:pPr lvl="1">
              <a:lnSpc>
                <a:spcPct val="150000"/>
              </a:lnSpc>
            </a:pPr>
            <a:r>
              <a:rPr lang="en-US" dirty="0" smtClean="0"/>
              <a:t>After an AKE, each party is assured that no unauthorized party has access to the established session key (key authentication)</a:t>
            </a:r>
          </a:p>
          <a:p>
            <a:pPr lvl="1">
              <a:lnSpc>
                <a:spcPct val="150000"/>
              </a:lnSpc>
            </a:pP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General Principle</a:t>
            </a:r>
            <a:endParaRPr lang="en-US" b="1" dirty="0">
              <a:solidFill>
                <a:srgbClr val="0070C0"/>
              </a:solidFill>
            </a:endParaRPr>
          </a:p>
        </p:txBody>
      </p:sp>
      <p:sp>
        <p:nvSpPr>
          <p:cNvPr id="3" name="Content Placeholder 2"/>
          <p:cNvSpPr>
            <a:spLocks noGrp="1"/>
          </p:cNvSpPr>
          <p:nvPr>
            <p:ph sz="quarter" idx="1"/>
          </p:nvPr>
        </p:nvSpPr>
        <p:spPr/>
        <p:txBody>
          <a:bodyPr>
            <a:normAutofit fontScale="92500" lnSpcReduction="20000"/>
          </a:bodyPr>
          <a:lstStyle/>
          <a:p>
            <a:pPr>
              <a:lnSpc>
                <a:spcPct val="150000"/>
              </a:lnSpc>
            </a:pPr>
            <a:r>
              <a:rPr lang="en-US" dirty="0" smtClean="0"/>
              <a:t>Establishment of authenticated session keys is not possible without the availability of secure channels!</a:t>
            </a:r>
          </a:p>
          <a:p>
            <a:pPr lvl="1">
              <a:lnSpc>
                <a:spcPct val="150000"/>
              </a:lnSpc>
              <a:buNone/>
            </a:pPr>
            <a:r>
              <a:rPr lang="en-US" dirty="0" smtClean="0"/>
              <a:t>          Possibilities to establish a new session key:</a:t>
            </a:r>
          </a:p>
          <a:p>
            <a:pPr marL="731520" lvl="1" indent="-457200">
              <a:lnSpc>
                <a:spcPct val="150000"/>
              </a:lnSpc>
              <a:buAutoNum type="arabicPeriod"/>
            </a:pPr>
            <a:r>
              <a:rPr lang="en-US" dirty="0" smtClean="0"/>
              <a:t>All parties already share a cryptographic key</a:t>
            </a:r>
          </a:p>
          <a:p>
            <a:pPr marL="731520" lvl="1" indent="-457200">
              <a:lnSpc>
                <a:spcPct val="150000"/>
              </a:lnSpc>
              <a:buAutoNum type="arabicPeriod"/>
            </a:pPr>
            <a:r>
              <a:rPr lang="en-US" dirty="0" smtClean="0"/>
              <a:t>A trusted online server must be accessible</a:t>
            </a:r>
          </a:p>
          <a:p>
            <a:pPr marL="1005840" lvl="2" indent="-457200">
              <a:lnSpc>
                <a:spcPct val="150000"/>
              </a:lnSpc>
            </a:pPr>
            <a:r>
              <a:rPr lang="en-US" dirty="0" smtClean="0"/>
              <a:t>Each party must share a key with the trusted online server</a:t>
            </a:r>
          </a:p>
          <a:p>
            <a:pPr marL="1005840" lvl="2" indent="-457200">
              <a:lnSpc>
                <a:spcPct val="150000"/>
              </a:lnSpc>
            </a:pPr>
            <a:r>
              <a:rPr lang="en-US" dirty="0" smtClean="0"/>
              <a:t>To transfer information between the parties it might be necessary to pass it through a chain of online servers</a:t>
            </a:r>
          </a:p>
          <a:p>
            <a:pPr marL="731520" lvl="1" indent="-457200">
              <a:lnSpc>
                <a:spcPct val="150000"/>
              </a:lnSpc>
              <a:buAutoNum type="arabicPeriod" startAt="3"/>
            </a:pPr>
            <a:r>
              <a:rPr lang="en-US" dirty="0" smtClean="0"/>
              <a:t>A trusted offline server must be available</a:t>
            </a:r>
          </a:p>
          <a:p>
            <a:pPr marL="1005840" lvl="2" indent="-457200">
              <a:lnSpc>
                <a:spcPct val="150000"/>
              </a:lnSpc>
            </a:pPr>
            <a:r>
              <a:rPr lang="en-US" dirty="0" smtClean="0"/>
              <a:t>E.g., via certified public keys</a:t>
            </a:r>
            <a:endParaRPr lang="en-US" dirty="0"/>
          </a:p>
        </p:txBody>
      </p:sp>
      <p:sp>
        <p:nvSpPr>
          <p:cNvPr id="4" name="Right Arrow 3"/>
          <p:cNvSpPr/>
          <p:nvPr/>
        </p:nvSpPr>
        <p:spPr>
          <a:xfrm>
            <a:off x="1066800" y="22098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Roadmap</a:t>
            </a:r>
            <a:endParaRPr lang="en-US" b="1" dirty="0">
              <a:solidFill>
                <a:srgbClr val="0070C0"/>
              </a:solidFill>
            </a:endParaRPr>
          </a:p>
        </p:txBody>
      </p:sp>
      <p:sp>
        <p:nvSpPr>
          <p:cNvPr id="3" name="Content Placeholder 2"/>
          <p:cNvSpPr>
            <a:spLocks noGrp="1"/>
          </p:cNvSpPr>
          <p:nvPr>
            <p:ph sz="quarter" idx="1"/>
          </p:nvPr>
        </p:nvSpPr>
        <p:spPr/>
        <p:txBody>
          <a:bodyPr>
            <a:normAutofit lnSpcReduction="10000"/>
          </a:bodyPr>
          <a:lstStyle/>
          <a:p>
            <a:pPr>
              <a:lnSpc>
                <a:spcPct val="150000"/>
              </a:lnSpc>
            </a:pPr>
            <a:r>
              <a:rPr lang="en-US" dirty="0" err="1" smtClean="0"/>
              <a:t>Intorduction</a:t>
            </a:r>
            <a:r>
              <a:rPr lang="en-US" dirty="0" smtClean="0"/>
              <a:t> </a:t>
            </a:r>
          </a:p>
          <a:p>
            <a:pPr>
              <a:lnSpc>
                <a:spcPct val="150000"/>
              </a:lnSpc>
            </a:pPr>
            <a:r>
              <a:rPr lang="en-US" dirty="0" smtClean="0"/>
              <a:t>Background and Definitions</a:t>
            </a:r>
          </a:p>
          <a:p>
            <a:pPr lvl="1">
              <a:lnSpc>
                <a:spcPct val="150000"/>
              </a:lnSpc>
            </a:pPr>
            <a:r>
              <a:rPr lang="en-US" dirty="0" smtClean="0"/>
              <a:t>Authentication</a:t>
            </a:r>
          </a:p>
          <a:p>
            <a:pPr lvl="1">
              <a:lnSpc>
                <a:spcPct val="150000"/>
              </a:lnSpc>
            </a:pPr>
            <a:r>
              <a:rPr lang="en-US" dirty="0" smtClean="0"/>
              <a:t>Key Establishment</a:t>
            </a:r>
          </a:p>
          <a:p>
            <a:pPr>
              <a:lnSpc>
                <a:spcPct val="150000"/>
              </a:lnSpc>
            </a:pPr>
            <a:r>
              <a:rPr lang="en-US" dirty="0" smtClean="0">
                <a:solidFill>
                  <a:srgbClr val="0070C0"/>
                </a:solidFill>
              </a:rPr>
              <a:t>Case Study: Attempt to design a secure key establishment protocol</a:t>
            </a:r>
          </a:p>
          <a:p>
            <a:pPr lvl="1">
              <a:lnSpc>
                <a:spcPct val="150000"/>
              </a:lnSpc>
            </a:pPr>
            <a:r>
              <a:rPr lang="en-US" dirty="0" smtClean="0">
                <a:solidFill>
                  <a:srgbClr val="0070C0"/>
                </a:solidFill>
              </a:rPr>
              <a:t>Example protocols 1-V</a:t>
            </a:r>
          </a:p>
          <a:p>
            <a:pPr lvl="1">
              <a:lnSpc>
                <a:spcPct val="150000"/>
              </a:lnSpc>
            </a:pPr>
            <a:r>
              <a:rPr lang="en-US" dirty="0" smtClean="0">
                <a:solidFill>
                  <a:srgbClr val="0070C0"/>
                </a:solidFill>
              </a:rPr>
              <a:t>Security Assumptions</a:t>
            </a:r>
          </a:p>
          <a:p>
            <a:pPr marL="0" indent="0">
              <a:lnSpc>
                <a:spcPct val="150000"/>
              </a:lnSpc>
              <a:buNone/>
            </a:pP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0070C0"/>
                </a:solidFill>
              </a:rPr>
              <a:t>Assumptions</a:t>
            </a:r>
            <a:endParaRPr lang="en-US" b="1" dirty="0">
              <a:solidFill>
                <a:srgbClr val="0070C0"/>
              </a:solidFill>
            </a:endParaRPr>
          </a:p>
        </p:txBody>
      </p:sp>
      <p:sp>
        <p:nvSpPr>
          <p:cNvPr id="3" name="Content Placeholder 2"/>
          <p:cNvSpPr>
            <a:spLocks noGrp="1"/>
          </p:cNvSpPr>
          <p:nvPr>
            <p:ph sz="quarter" idx="1"/>
          </p:nvPr>
        </p:nvSpPr>
        <p:spPr/>
        <p:txBody>
          <a:bodyPr>
            <a:normAutofit fontScale="77500" lnSpcReduction="20000"/>
          </a:bodyPr>
          <a:lstStyle/>
          <a:p>
            <a:pPr>
              <a:lnSpc>
                <a:spcPct val="150000"/>
              </a:lnSpc>
            </a:pPr>
            <a:r>
              <a:rPr lang="en-US" dirty="0" smtClean="0"/>
              <a:t>We assume that all cryptographic primitives used in the protocols are secure</a:t>
            </a:r>
          </a:p>
          <a:p>
            <a:pPr lvl="1">
              <a:lnSpc>
                <a:spcPct val="150000"/>
              </a:lnSpc>
            </a:pPr>
            <a:r>
              <a:rPr lang="en-US" dirty="0" smtClean="0"/>
              <a:t>In the protocols we analyze, some of the best state‐of‐the art algorithms for encryption, digital signatures, message authentication codes (MACs) or hash functions</a:t>
            </a:r>
          </a:p>
          <a:p>
            <a:pPr>
              <a:lnSpc>
                <a:spcPct val="150000"/>
              </a:lnSpc>
            </a:pPr>
            <a:r>
              <a:rPr lang="en-US" dirty="0" smtClean="0"/>
              <a:t>We search the security problem in the protocol itself, not in the used primitives</a:t>
            </a:r>
          </a:p>
          <a:p>
            <a:pPr lvl="1">
              <a:lnSpc>
                <a:spcPct val="150000"/>
              </a:lnSpc>
            </a:pPr>
            <a:r>
              <a:rPr lang="en-US" dirty="0" smtClean="0"/>
              <a:t>We want to show that secure cryptographic primitives are not enough for secure protocols</a:t>
            </a:r>
          </a:p>
          <a:p>
            <a:pPr lvl="2">
              <a:lnSpc>
                <a:spcPct val="150000"/>
              </a:lnSpc>
            </a:pPr>
            <a:r>
              <a:rPr lang="en-US" dirty="0" smtClean="0"/>
              <a:t>Protocols fail often because their messages are not good composed</a:t>
            </a:r>
          </a:p>
          <a:p>
            <a:pPr lvl="2">
              <a:lnSpc>
                <a:spcPct val="150000"/>
              </a:lnSpc>
            </a:pPr>
            <a:r>
              <a:rPr lang="en-US" dirty="0" smtClean="0"/>
              <a:t>We analyze the protocol messages and the operation done by each protocol party, as well as the trust model</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Non-</a:t>
            </a:r>
            <a:r>
              <a:rPr lang="en-US" b="1" dirty="0" err="1" smtClean="0">
                <a:solidFill>
                  <a:srgbClr val="0070C0"/>
                </a:solidFill>
              </a:rPr>
              <a:t>maleable</a:t>
            </a:r>
            <a:r>
              <a:rPr lang="en-US" b="1" dirty="0" smtClean="0">
                <a:solidFill>
                  <a:srgbClr val="0070C0"/>
                </a:solidFill>
              </a:rPr>
              <a:t> Encryption Schemes</a:t>
            </a:r>
            <a:endParaRPr lang="en-US" b="1" dirty="0">
              <a:solidFill>
                <a:srgbClr val="0070C0"/>
              </a:solidFill>
            </a:endParaRPr>
          </a:p>
        </p:txBody>
      </p:sp>
      <p:sp>
        <p:nvSpPr>
          <p:cNvPr id="3" name="Content Placeholder 2"/>
          <p:cNvSpPr>
            <a:spLocks noGrp="1"/>
          </p:cNvSpPr>
          <p:nvPr>
            <p:ph sz="quarter" idx="1"/>
          </p:nvPr>
        </p:nvSpPr>
        <p:spPr/>
        <p:txBody>
          <a:bodyPr/>
          <a:lstStyle/>
          <a:p>
            <a:pPr>
              <a:lnSpc>
                <a:spcPct val="150000"/>
              </a:lnSpc>
            </a:pPr>
            <a:r>
              <a:rPr lang="en-US" dirty="0" smtClean="0"/>
              <a:t>Requirements to the encryption scheme: We assume that it should not be possible to specifically alter the content of encrypted messages</a:t>
            </a:r>
          </a:p>
          <a:p>
            <a:pPr lvl="1">
              <a:lnSpc>
                <a:spcPct val="150000"/>
              </a:lnSpc>
            </a:pPr>
            <a:r>
              <a:rPr lang="en-US" dirty="0" smtClean="0"/>
              <a:t>Feature: Non‐malleability of the underlying encryption scheme</a:t>
            </a:r>
          </a:p>
          <a:p>
            <a:pPr lvl="1">
              <a:lnSpc>
                <a:spcPct val="150000"/>
              </a:lnSpc>
            </a:pPr>
            <a:r>
              <a:rPr lang="en-US" dirty="0" smtClean="0"/>
              <a:t>E. g., Adversary should not be able to change the encrypted identifier in the message </a:t>
            </a:r>
            <a:r>
              <a:rPr lang="en-US" i="1" dirty="0" err="1" smtClean="0"/>
              <a:t>enc</a:t>
            </a:r>
            <a:r>
              <a:rPr lang="en-US" i="1" baseline="-25000" dirty="0" err="1" smtClean="0"/>
              <a:t>K</a:t>
            </a:r>
            <a:r>
              <a:rPr lang="en-US" i="1" dirty="0" smtClean="0"/>
              <a:t>(K</a:t>
            </a:r>
            <a:r>
              <a:rPr lang="en-US" i="1" baseline="-25000" dirty="0" smtClean="0"/>
              <a:t>AB</a:t>
            </a:r>
            <a:r>
              <a:rPr lang="en-US" i="1" dirty="0" smtClean="0"/>
              <a:t>, I</a:t>
            </a:r>
            <a:r>
              <a:rPr lang="en-US" i="1" baseline="-25000" dirty="0" smtClean="0"/>
              <a:t>B</a:t>
            </a:r>
            <a:r>
              <a:rPr lang="en-US" i="1" dirty="0" smtClean="0"/>
              <a:t> )</a:t>
            </a:r>
            <a:endParaRPr lang="en-US" i="1"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Model and Main Requirements</a:t>
            </a:r>
            <a:endParaRPr lang="en-US" b="1" dirty="0">
              <a:solidFill>
                <a:srgbClr val="0070C0"/>
              </a:solidFill>
            </a:endParaRPr>
          </a:p>
        </p:txBody>
      </p:sp>
      <p:sp>
        <p:nvSpPr>
          <p:cNvPr id="3" name="Content Placeholder 2"/>
          <p:cNvSpPr>
            <a:spLocks noGrp="1"/>
          </p:cNvSpPr>
          <p:nvPr>
            <p:ph sz="quarter" idx="1"/>
          </p:nvPr>
        </p:nvSpPr>
        <p:spPr/>
        <p:txBody>
          <a:bodyPr>
            <a:normAutofit fontScale="77500" lnSpcReduction="20000"/>
          </a:bodyPr>
          <a:lstStyle/>
          <a:p>
            <a:pPr>
              <a:lnSpc>
                <a:spcPct val="150000"/>
              </a:lnSpc>
            </a:pPr>
            <a:r>
              <a:rPr lang="en-US" dirty="0" smtClean="0"/>
              <a:t>Model:</a:t>
            </a:r>
          </a:p>
          <a:p>
            <a:pPr lvl="1">
              <a:lnSpc>
                <a:spcPct val="150000"/>
              </a:lnSpc>
            </a:pPr>
            <a:r>
              <a:rPr lang="en-US" dirty="0" smtClean="0"/>
              <a:t>Involved parties: </a:t>
            </a:r>
            <a:r>
              <a:rPr lang="en-US" i="1" dirty="0" smtClean="0"/>
              <a:t>A</a:t>
            </a:r>
            <a:r>
              <a:rPr lang="en-US" dirty="0" smtClean="0"/>
              <a:t> and </a:t>
            </a:r>
            <a:r>
              <a:rPr lang="en-US" i="1" dirty="0" smtClean="0"/>
              <a:t>B</a:t>
            </a:r>
          </a:p>
          <a:p>
            <a:pPr lvl="1">
              <a:lnSpc>
                <a:spcPct val="150000"/>
              </a:lnSpc>
            </a:pPr>
            <a:r>
              <a:rPr lang="en-US" dirty="0" smtClean="0"/>
              <a:t>Goal: </a:t>
            </a:r>
            <a:r>
              <a:rPr lang="en-US" i="1" dirty="0" smtClean="0"/>
              <a:t>A</a:t>
            </a:r>
            <a:r>
              <a:rPr lang="en-US" dirty="0" smtClean="0"/>
              <a:t> and </a:t>
            </a:r>
            <a:r>
              <a:rPr lang="en-US" i="1" dirty="0" smtClean="0"/>
              <a:t>B</a:t>
            </a:r>
            <a:r>
              <a:rPr lang="en-US" dirty="0" smtClean="0"/>
              <a:t> want to obtain a new session key </a:t>
            </a:r>
            <a:r>
              <a:rPr lang="en-US" i="1" dirty="0" smtClean="0"/>
              <a:t>K</a:t>
            </a:r>
            <a:r>
              <a:rPr lang="en-US" i="1" baseline="-25000" dirty="0" smtClean="0"/>
              <a:t>AB</a:t>
            </a:r>
          </a:p>
          <a:p>
            <a:pPr lvl="1">
              <a:lnSpc>
                <a:spcPct val="150000"/>
              </a:lnSpc>
            </a:pPr>
            <a:r>
              <a:rPr lang="en-US" i="1" dirty="0" smtClean="0"/>
              <a:t>A</a:t>
            </a:r>
            <a:r>
              <a:rPr lang="en-US" dirty="0" smtClean="0"/>
              <a:t> and </a:t>
            </a:r>
            <a:r>
              <a:rPr lang="en-US" i="1" dirty="0" smtClean="0"/>
              <a:t>B</a:t>
            </a:r>
            <a:r>
              <a:rPr lang="en-US" dirty="0" smtClean="0"/>
              <a:t> do not share a long term key</a:t>
            </a:r>
          </a:p>
          <a:p>
            <a:pPr lvl="1">
              <a:lnSpc>
                <a:spcPct val="150000"/>
              </a:lnSpc>
              <a:buNone/>
            </a:pPr>
            <a:r>
              <a:rPr lang="en-US" dirty="0" smtClean="0"/>
              <a:t>       </a:t>
            </a:r>
            <a:r>
              <a:rPr lang="en-US" i="1" dirty="0" smtClean="0"/>
              <a:t>A</a:t>
            </a:r>
            <a:r>
              <a:rPr lang="en-US" dirty="0" smtClean="0"/>
              <a:t> trusted third party </a:t>
            </a:r>
            <a:r>
              <a:rPr lang="en-US" i="1" dirty="0" smtClean="0"/>
              <a:t>T</a:t>
            </a:r>
            <a:r>
              <a:rPr lang="en-US" dirty="0" smtClean="0"/>
              <a:t> must be involved</a:t>
            </a:r>
          </a:p>
          <a:p>
            <a:pPr lvl="3">
              <a:lnSpc>
                <a:spcPct val="150000"/>
              </a:lnSpc>
            </a:pPr>
            <a:r>
              <a:rPr lang="en-US" i="1" dirty="0" smtClean="0"/>
              <a:t>T</a:t>
            </a:r>
            <a:r>
              <a:rPr lang="en-US" dirty="0" smtClean="0"/>
              <a:t> always acts as it is intended to</a:t>
            </a:r>
          </a:p>
          <a:p>
            <a:pPr lvl="3">
              <a:lnSpc>
                <a:spcPct val="150000"/>
              </a:lnSpc>
            </a:pPr>
            <a:r>
              <a:rPr lang="en-US" dirty="0" smtClean="0"/>
              <a:t>Role of  </a:t>
            </a:r>
            <a:r>
              <a:rPr lang="en-US" i="1" dirty="0" smtClean="0"/>
              <a:t>T</a:t>
            </a:r>
            <a:r>
              <a:rPr lang="en-US" dirty="0" smtClean="0"/>
              <a:t> here:</a:t>
            </a:r>
          </a:p>
          <a:p>
            <a:pPr lvl="3">
              <a:lnSpc>
                <a:spcPct val="150000"/>
              </a:lnSpc>
              <a:buNone/>
            </a:pPr>
            <a:r>
              <a:rPr lang="en-US" dirty="0" smtClean="0"/>
              <a:t>    to generate the new key and to transport it to A and B</a:t>
            </a:r>
          </a:p>
          <a:p>
            <a:pPr lvl="1">
              <a:lnSpc>
                <a:spcPct val="150000"/>
              </a:lnSpc>
            </a:pPr>
            <a:r>
              <a:rPr lang="en-US" dirty="0" smtClean="0"/>
              <a:t>Main goals / requirements</a:t>
            </a:r>
          </a:p>
          <a:p>
            <a:pPr lvl="2">
              <a:lnSpc>
                <a:spcPct val="150000"/>
              </a:lnSpc>
            </a:pPr>
            <a:r>
              <a:rPr lang="en-US" dirty="0" smtClean="0"/>
              <a:t>MR1:</a:t>
            </a:r>
            <a:r>
              <a:rPr lang="en-US" i="1" dirty="0" smtClean="0"/>
              <a:t>K</a:t>
            </a:r>
            <a:r>
              <a:rPr lang="en-US" i="1" baseline="-25000" dirty="0" smtClean="0"/>
              <a:t>AB</a:t>
            </a:r>
            <a:r>
              <a:rPr lang="en-US" dirty="0" smtClean="0"/>
              <a:t> is only known to </a:t>
            </a:r>
            <a:r>
              <a:rPr lang="en-US" i="1" dirty="0" smtClean="0"/>
              <a:t>A</a:t>
            </a:r>
            <a:r>
              <a:rPr lang="en-US" dirty="0" smtClean="0"/>
              <a:t> and </a:t>
            </a:r>
            <a:r>
              <a:rPr lang="en-US" i="1" dirty="0" smtClean="0"/>
              <a:t>B</a:t>
            </a:r>
            <a:r>
              <a:rPr lang="en-US" dirty="0" smtClean="0"/>
              <a:t> and </a:t>
            </a:r>
            <a:r>
              <a:rPr lang="en-US" i="1" dirty="0" smtClean="0"/>
              <a:t>A (B)</a:t>
            </a:r>
            <a:r>
              <a:rPr lang="en-US" dirty="0" smtClean="0"/>
              <a:t>are assured that only the other party </a:t>
            </a:r>
            <a:r>
              <a:rPr lang="en-US" i="1" dirty="0" smtClean="0"/>
              <a:t>B (A) </a:t>
            </a:r>
            <a:r>
              <a:rPr lang="en-US" dirty="0" smtClean="0"/>
              <a:t>knows the key (except </a:t>
            </a:r>
            <a:r>
              <a:rPr lang="en-US" i="1" dirty="0" smtClean="0"/>
              <a:t>T</a:t>
            </a:r>
            <a:r>
              <a:rPr lang="en-US" dirty="0" smtClean="0"/>
              <a:t>)</a:t>
            </a:r>
          </a:p>
          <a:p>
            <a:pPr lvl="2">
              <a:lnSpc>
                <a:spcPct val="150000"/>
              </a:lnSpc>
            </a:pPr>
            <a:r>
              <a:rPr lang="en-US" dirty="0" smtClean="0"/>
              <a:t>MR2:</a:t>
            </a:r>
            <a:r>
              <a:rPr lang="en-US" i="1" dirty="0" smtClean="0"/>
              <a:t>A</a:t>
            </a:r>
            <a:r>
              <a:rPr lang="en-US" dirty="0" smtClean="0"/>
              <a:t> and </a:t>
            </a:r>
            <a:r>
              <a:rPr lang="en-US" i="1" dirty="0" smtClean="0"/>
              <a:t>B</a:t>
            </a:r>
            <a:r>
              <a:rPr lang="en-US" dirty="0" smtClean="0"/>
              <a:t> should be assured that the key </a:t>
            </a:r>
            <a:r>
              <a:rPr lang="en-US" i="1" dirty="0" smtClean="0"/>
              <a:t>K</a:t>
            </a:r>
            <a:r>
              <a:rPr lang="en-US" i="1" baseline="-25000" dirty="0" smtClean="0"/>
              <a:t>AB</a:t>
            </a:r>
            <a:r>
              <a:rPr lang="en-US" dirty="0" smtClean="0"/>
              <a:t> is newly generated</a:t>
            </a:r>
          </a:p>
          <a:p>
            <a:pPr lvl="2">
              <a:lnSpc>
                <a:spcPct val="150000"/>
              </a:lnSpc>
            </a:pPr>
            <a:endParaRPr lang="en-US" dirty="0"/>
          </a:p>
        </p:txBody>
      </p:sp>
      <p:sp>
        <p:nvSpPr>
          <p:cNvPr id="4" name="Right Arrow 3"/>
          <p:cNvSpPr/>
          <p:nvPr/>
        </p:nvSpPr>
        <p:spPr>
          <a:xfrm>
            <a:off x="990600" y="3124200"/>
            <a:ext cx="228600"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a:t>
            </a:r>
            <a:endParaRPr lang="en-US" b="1" dirty="0">
              <a:solidFill>
                <a:srgbClr val="0070C0"/>
              </a:solidFill>
            </a:endParaRPr>
          </a:p>
        </p:txBody>
      </p:sp>
      <p:pic>
        <p:nvPicPr>
          <p:cNvPr id="5" name="Content Placeholder 4" descr="fig2.bmp"/>
          <p:cNvPicPr>
            <a:picLocks noGrp="1" noChangeAspect="1"/>
          </p:cNvPicPr>
          <p:nvPr>
            <p:ph sz="quarter" idx="1"/>
          </p:nvPr>
        </p:nvPicPr>
        <p:blipFill>
          <a:blip r:embed="rId2"/>
          <a:stretch>
            <a:fillRect/>
          </a:stretch>
        </p:blipFill>
        <p:spPr>
          <a:xfrm>
            <a:off x="457200" y="1295400"/>
            <a:ext cx="4710937" cy="2438400"/>
          </a:xfrm>
        </p:spPr>
      </p:pic>
      <p:sp>
        <p:nvSpPr>
          <p:cNvPr id="4" name="Content Placeholder 3"/>
          <p:cNvSpPr>
            <a:spLocks noGrp="1"/>
          </p:cNvSpPr>
          <p:nvPr>
            <p:ph sz="quarter" idx="2"/>
          </p:nvPr>
        </p:nvSpPr>
        <p:spPr>
          <a:xfrm>
            <a:off x="5562600" y="1216152"/>
            <a:ext cx="3111246" cy="4937760"/>
          </a:xfrm>
        </p:spPr>
        <p:txBody>
          <a:bodyPr/>
          <a:lstStyle/>
          <a:p>
            <a:r>
              <a:rPr lang="en-US" sz="1600" i="1" dirty="0" smtClean="0"/>
              <a:t>I</a:t>
            </a:r>
            <a:r>
              <a:rPr lang="en-US" sz="1600" i="1" baseline="-25000" dirty="0" smtClean="0"/>
              <a:t>A</a:t>
            </a:r>
            <a:r>
              <a:rPr lang="en-US" sz="1600" dirty="0" smtClean="0"/>
              <a:t> is the identity of the party </a:t>
            </a:r>
            <a:r>
              <a:rPr lang="en-US" sz="1600" i="1" dirty="0" smtClean="0"/>
              <a:t>A</a:t>
            </a:r>
          </a:p>
          <a:p>
            <a:r>
              <a:rPr lang="en-US" sz="1600" i="1" dirty="0" smtClean="0"/>
              <a:t>I</a:t>
            </a:r>
            <a:r>
              <a:rPr lang="en-US" sz="1600" i="1" baseline="-25000" dirty="0" smtClean="0"/>
              <a:t>B</a:t>
            </a:r>
            <a:r>
              <a:rPr lang="en-US" sz="1600" dirty="0" smtClean="0"/>
              <a:t> is the identity of the party </a:t>
            </a:r>
            <a:r>
              <a:rPr lang="en-US" sz="1600" i="1" dirty="0" smtClean="0"/>
              <a:t>B</a:t>
            </a:r>
          </a:p>
          <a:p>
            <a:r>
              <a:rPr lang="en-US" sz="1600" dirty="0" smtClean="0"/>
              <a:t>Identity: e.g., network address or name, certificate</a:t>
            </a:r>
          </a:p>
          <a:p>
            <a:endParaRPr lang="en-US" sz="1600" dirty="0" smtClean="0"/>
          </a:p>
          <a:p>
            <a:endParaRPr lang="en-US" sz="1600" dirty="0" smtClean="0"/>
          </a:p>
          <a:p>
            <a:r>
              <a:rPr lang="en-US" sz="1600" dirty="0" smtClean="0"/>
              <a:t>Alternative of Protocol I:</a:t>
            </a:r>
          </a:p>
          <a:p>
            <a:pPr>
              <a:buNone/>
            </a:pPr>
            <a:r>
              <a:rPr lang="en-US" sz="1600" dirty="0" smtClean="0"/>
              <a:t>   To disburden </a:t>
            </a:r>
            <a:r>
              <a:rPr lang="en-US" sz="1600" i="1" dirty="0" smtClean="0"/>
              <a:t>T</a:t>
            </a:r>
            <a:r>
              <a:rPr lang="en-US" sz="1600" dirty="0" smtClean="0"/>
              <a:t>, the key </a:t>
            </a:r>
            <a:r>
              <a:rPr lang="en-US" sz="1600" i="1" dirty="0" smtClean="0"/>
              <a:t>K</a:t>
            </a:r>
            <a:r>
              <a:rPr lang="en-US" sz="1600" i="1" baseline="-25000" dirty="0" smtClean="0"/>
              <a:t>AB</a:t>
            </a:r>
            <a:r>
              <a:rPr lang="en-US" sz="1600" dirty="0" smtClean="0"/>
              <a:t> may be passed from </a:t>
            </a:r>
            <a:r>
              <a:rPr lang="en-US" sz="1600" i="1" dirty="0" smtClean="0"/>
              <a:t>A</a:t>
            </a:r>
            <a:r>
              <a:rPr lang="en-US" sz="1600" dirty="0" smtClean="0"/>
              <a:t> to </a:t>
            </a:r>
            <a:r>
              <a:rPr lang="en-US" sz="1600" i="1" dirty="0" smtClean="0"/>
              <a:t>B</a:t>
            </a:r>
          </a:p>
          <a:p>
            <a:pPr>
              <a:buNone/>
            </a:pPr>
            <a:r>
              <a:rPr lang="en-US" sz="1600" dirty="0" smtClean="0"/>
              <a:t>    (This spares one connection between </a:t>
            </a:r>
            <a:r>
              <a:rPr lang="en-US" sz="1600" i="1" dirty="0" smtClean="0"/>
              <a:t>T</a:t>
            </a:r>
            <a:r>
              <a:rPr lang="en-US" sz="1600" dirty="0" smtClean="0"/>
              <a:t> and </a:t>
            </a:r>
            <a:r>
              <a:rPr lang="en-US" sz="1600" i="1" dirty="0" smtClean="0"/>
              <a:t>B</a:t>
            </a:r>
            <a:r>
              <a:rPr lang="en-US" sz="1600" dirty="0" smtClean="0"/>
              <a:t>)</a:t>
            </a:r>
          </a:p>
          <a:p>
            <a:endParaRPr lang="en-US" dirty="0"/>
          </a:p>
        </p:txBody>
      </p:sp>
      <p:pic>
        <p:nvPicPr>
          <p:cNvPr id="6" name="Picture 5" descr="fig3.bmp"/>
          <p:cNvPicPr>
            <a:picLocks noChangeAspect="1"/>
          </p:cNvPicPr>
          <p:nvPr/>
        </p:nvPicPr>
        <p:blipFill>
          <a:blip r:embed="rId3"/>
          <a:stretch>
            <a:fillRect/>
          </a:stretch>
        </p:blipFill>
        <p:spPr>
          <a:xfrm>
            <a:off x="457200" y="3733800"/>
            <a:ext cx="5029200" cy="251460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 Description</a:t>
            </a:r>
            <a:endParaRPr lang="en-US" b="1" dirty="0">
              <a:solidFill>
                <a:srgbClr val="0070C0"/>
              </a:solidFill>
            </a:endParaRPr>
          </a:p>
        </p:txBody>
      </p:sp>
      <p:sp>
        <p:nvSpPr>
          <p:cNvPr id="3" name="Content Placeholder 2"/>
          <p:cNvSpPr>
            <a:spLocks noGrp="1"/>
          </p:cNvSpPr>
          <p:nvPr>
            <p:ph sz="quarter" idx="1"/>
          </p:nvPr>
        </p:nvSpPr>
        <p:spPr/>
        <p:txBody>
          <a:bodyPr>
            <a:normAutofit fontScale="92500" lnSpcReduction="10000"/>
          </a:bodyPr>
          <a:lstStyle/>
          <a:p>
            <a:pPr>
              <a:lnSpc>
                <a:spcPct val="150000"/>
              </a:lnSpc>
            </a:pPr>
            <a:r>
              <a:rPr lang="en-US" dirty="0" smtClean="0"/>
              <a:t>Step 1:</a:t>
            </a:r>
          </a:p>
          <a:p>
            <a:pPr lvl="1">
              <a:lnSpc>
                <a:spcPct val="150000"/>
              </a:lnSpc>
            </a:pPr>
            <a:r>
              <a:rPr lang="en-US" i="1" dirty="0" smtClean="0"/>
              <a:t>A</a:t>
            </a:r>
            <a:r>
              <a:rPr lang="en-US" dirty="0" smtClean="0"/>
              <a:t> starts the protocol by telling </a:t>
            </a:r>
            <a:r>
              <a:rPr lang="en-US" i="1" dirty="0" smtClean="0"/>
              <a:t>T</a:t>
            </a:r>
            <a:r>
              <a:rPr lang="en-US" dirty="0" smtClean="0"/>
              <a:t> the identifiers </a:t>
            </a:r>
            <a:r>
              <a:rPr lang="en-US" i="1" dirty="0" smtClean="0"/>
              <a:t>I</a:t>
            </a:r>
            <a:r>
              <a:rPr lang="en-US" i="1" baseline="-25000" dirty="0" smtClean="0"/>
              <a:t>A</a:t>
            </a:r>
            <a:r>
              <a:rPr lang="en-US" dirty="0" smtClean="0"/>
              <a:t> and </a:t>
            </a:r>
            <a:r>
              <a:rPr lang="en-US" i="1" dirty="0" smtClean="0"/>
              <a:t>I</a:t>
            </a:r>
            <a:r>
              <a:rPr lang="en-US" i="1" baseline="-25000" dirty="0" smtClean="0"/>
              <a:t>B</a:t>
            </a:r>
            <a:r>
              <a:rPr lang="en-US" dirty="0" smtClean="0"/>
              <a:t> of the communicating parties</a:t>
            </a:r>
          </a:p>
          <a:p>
            <a:pPr lvl="1">
              <a:lnSpc>
                <a:spcPct val="150000"/>
              </a:lnSpc>
            </a:pPr>
            <a:r>
              <a:rPr lang="en-US" i="1" dirty="0" smtClean="0"/>
              <a:t>T</a:t>
            </a:r>
            <a:r>
              <a:rPr lang="en-US" dirty="0" smtClean="0"/>
              <a:t> creates a session key </a:t>
            </a:r>
            <a:r>
              <a:rPr lang="en-US" i="1" dirty="0" smtClean="0"/>
              <a:t>K</a:t>
            </a:r>
            <a:r>
              <a:rPr lang="en-US" i="1" baseline="-25000" dirty="0" smtClean="0"/>
              <a:t>AB</a:t>
            </a:r>
            <a:r>
              <a:rPr lang="en-US" dirty="0" smtClean="0"/>
              <a:t> to be used for the secure communication between </a:t>
            </a:r>
            <a:r>
              <a:rPr lang="en-US" i="1" dirty="0" smtClean="0"/>
              <a:t>A</a:t>
            </a:r>
            <a:r>
              <a:rPr lang="en-US" dirty="0" smtClean="0"/>
              <a:t> and </a:t>
            </a:r>
            <a:r>
              <a:rPr lang="en-US" i="1" dirty="0" smtClean="0"/>
              <a:t>B</a:t>
            </a:r>
          </a:p>
          <a:p>
            <a:pPr>
              <a:lnSpc>
                <a:spcPct val="150000"/>
              </a:lnSpc>
            </a:pPr>
            <a:r>
              <a:rPr lang="en-US" dirty="0" smtClean="0"/>
              <a:t>Step 2:</a:t>
            </a:r>
          </a:p>
          <a:p>
            <a:pPr lvl="1">
              <a:lnSpc>
                <a:spcPct val="150000"/>
              </a:lnSpc>
            </a:pPr>
            <a:r>
              <a:rPr lang="en-US" i="1" dirty="0" smtClean="0"/>
              <a:t>T</a:t>
            </a:r>
            <a:r>
              <a:rPr lang="en-US" dirty="0" smtClean="0"/>
              <a:t> sends </a:t>
            </a:r>
            <a:r>
              <a:rPr lang="en-US" i="1" dirty="0" smtClean="0"/>
              <a:t>K</a:t>
            </a:r>
            <a:r>
              <a:rPr lang="en-US" i="1" baseline="-25000" dirty="0" smtClean="0"/>
              <a:t>AB</a:t>
            </a:r>
            <a:r>
              <a:rPr lang="en-US" dirty="0" smtClean="0"/>
              <a:t> to </a:t>
            </a:r>
            <a:r>
              <a:rPr lang="en-US" i="1" dirty="0" smtClean="0"/>
              <a:t>A</a:t>
            </a:r>
            <a:r>
              <a:rPr lang="en-US" dirty="0" smtClean="0"/>
              <a:t> as plaintext</a:t>
            </a:r>
          </a:p>
          <a:p>
            <a:pPr>
              <a:lnSpc>
                <a:spcPct val="150000"/>
              </a:lnSpc>
            </a:pPr>
            <a:r>
              <a:rPr lang="en-US" dirty="0" smtClean="0"/>
              <a:t>Step 3:</a:t>
            </a:r>
          </a:p>
          <a:p>
            <a:pPr lvl="1">
              <a:lnSpc>
                <a:spcPct val="150000"/>
              </a:lnSpc>
            </a:pPr>
            <a:r>
              <a:rPr lang="en-US" i="1" dirty="0" smtClean="0"/>
              <a:t>T</a:t>
            </a:r>
            <a:r>
              <a:rPr lang="en-US" dirty="0" smtClean="0"/>
              <a:t> sends </a:t>
            </a:r>
            <a:r>
              <a:rPr lang="en-US" i="1" dirty="0" smtClean="0"/>
              <a:t>K</a:t>
            </a:r>
            <a:r>
              <a:rPr lang="en-US" i="1" baseline="-25000" dirty="0" smtClean="0"/>
              <a:t>AB</a:t>
            </a:r>
            <a:r>
              <a:rPr lang="en-US" dirty="0" smtClean="0"/>
              <a:t> to </a:t>
            </a:r>
            <a:r>
              <a:rPr lang="en-US" i="1" dirty="0" smtClean="0"/>
              <a:t>B</a:t>
            </a:r>
            <a:r>
              <a:rPr lang="en-US" dirty="0" smtClean="0"/>
              <a:t> as plaintext</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 Analysis</a:t>
            </a:r>
            <a:endParaRPr lang="en-US" b="1" dirty="0">
              <a:solidFill>
                <a:srgbClr val="0070C0"/>
              </a:solidFill>
            </a:endParaRPr>
          </a:p>
        </p:txBody>
      </p:sp>
      <p:sp>
        <p:nvSpPr>
          <p:cNvPr id="3" name="Content Placeholder 2"/>
          <p:cNvSpPr>
            <a:spLocks noGrp="1"/>
          </p:cNvSpPr>
          <p:nvPr>
            <p:ph sz="quarter" idx="1"/>
          </p:nvPr>
        </p:nvSpPr>
        <p:spPr/>
        <p:txBody>
          <a:bodyPr>
            <a:normAutofit fontScale="92500" lnSpcReduction="20000"/>
          </a:bodyPr>
          <a:lstStyle/>
          <a:p>
            <a:pPr>
              <a:lnSpc>
                <a:spcPct val="150000"/>
              </a:lnSpc>
            </a:pPr>
            <a:r>
              <a:rPr lang="en-US" dirty="0" smtClean="0"/>
              <a:t>Adversary Model</a:t>
            </a:r>
          </a:p>
          <a:p>
            <a:pPr lvl="1">
              <a:lnSpc>
                <a:spcPct val="150000"/>
              </a:lnSpc>
            </a:pPr>
            <a:r>
              <a:rPr lang="en-US" dirty="0" smtClean="0"/>
              <a:t>The adversary is able to eavesdrop all messages on the communication channel</a:t>
            </a:r>
          </a:p>
          <a:p>
            <a:pPr>
              <a:lnSpc>
                <a:spcPct val="150000"/>
              </a:lnSpc>
            </a:pPr>
            <a:r>
              <a:rPr lang="en-US" dirty="0" smtClean="0"/>
              <a:t>Problems/Attacks:</a:t>
            </a:r>
          </a:p>
          <a:p>
            <a:pPr lvl="1">
              <a:lnSpc>
                <a:spcPct val="150000"/>
              </a:lnSpc>
            </a:pPr>
            <a:r>
              <a:rPr lang="en-US" dirty="0" smtClean="0"/>
              <a:t>Obviously anyone has access to the session key </a:t>
            </a:r>
            <a:r>
              <a:rPr lang="en-US" i="1" dirty="0" smtClean="0"/>
              <a:t>K</a:t>
            </a:r>
            <a:r>
              <a:rPr lang="en-US" i="1" baseline="-25000" dirty="0" smtClean="0"/>
              <a:t>AB</a:t>
            </a:r>
          </a:p>
          <a:p>
            <a:pPr>
              <a:lnSpc>
                <a:spcPct val="150000"/>
              </a:lnSpc>
            </a:pPr>
            <a:r>
              <a:rPr lang="en-US" dirty="0" smtClean="0"/>
              <a:t>Countermeasure:</a:t>
            </a:r>
          </a:p>
          <a:p>
            <a:pPr lvl="1">
              <a:lnSpc>
                <a:spcPct val="150000"/>
              </a:lnSpc>
            </a:pPr>
            <a:r>
              <a:rPr lang="en-US" dirty="0" smtClean="0"/>
              <a:t>Establish a secure channel using the long‐term secret keys</a:t>
            </a:r>
          </a:p>
          <a:p>
            <a:pPr lvl="2">
              <a:lnSpc>
                <a:spcPct val="150000"/>
              </a:lnSpc>
            </a:pPr>
            <a:r>
              <a:rPr lang="en-US" i="1" dirty="0" smtClean="0"/>
              <a:t>K</a:t>
            </a:r>
            <a:r>
              <a:rPr lang="en-US" i="1" baseline="-25000" dirty="0" smtClean="0"/>
              <a:t>AT</a:t>
            </a:r>
            <a:r>
              <a:rPr lang="en-US" dirty="0" smtClean="0"/>
              <a:t> between </a:t>
            </a:r>
            <a:r>
              <a:rPr lang="en-US" i="1" dirty="0" smtClean="0"/>
              <a:t>A</a:t>
            </a:r>
            <a:r>
              <a:rPr lang="en-US" dirty="0" smtClean="0"/>
              <a:t> and </a:t>
            </a:r>
            <a:r>
              <a:rPr lang="en-US" i="1" dirty="0" smtClean="0"/>
              <a:t>T</a:t>
            </a:r>
            <a:r>
              <a:rPr lang="en-US" dirty="0" smtClean="0"/>
              <a:t> and,</a:t>
            </a:r>
          </a:p>
          <a:p>
            <a:pPr lvl="2">
              <a:lnSpc>
                <a:spcPct val="150000"/>
              </a:lnSpc>
            </a:pPr>
            <a:r>
              <a:rPr lang="en-US" i="1" dirty="0" smtClean="0"/>
              <a:t>K</a:t>
            </a:r>
            <a:r>
              <a:rPr lang="en-US" i="1" baseline="-25000" dirty="0" smtClean="0"/>
              <a:t>BT</a:t>
            </a:r>
            <a:r>
              <a:rPr lang="en-US" dirty="0" smtClean="0"/>
              <a:t> between </a:t>
            </a:r>
            <a:r>
              <a:rPr lang="en-US" i="1" dirty="0" smtClean="0"/>
              <a:t>B</a:t>
            </a:r>
            <a:r>
              <a:rPr lang="en-US" dirty="0" smtClean="0"/>
              <a:t> and </a:t>
            </a:r>
            <a:r>
              <a:rPr lang="en-US" i="1" dirty="0" smtClean="0"/>
              <a:t>T</a:t>
            </a:r>
          </a:p>
          <a:p>
            <a:pPr lvl="1">
              <a:lnSpc>
                <a:spcPct val="150000"/>
              </a:lnSpc>
            </a:pPr>
            <a:r>
              <a:rPr lang="en-US" dirty="0" smtClean="0"/>
              <a:t>Next attempt: Protocol II</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II: Flow</a:t>
            </a:r>
            <a:endParaRPr lang="en-US" b="1" dirty="0">
              <a:solidFill>
                <a:srgbClr val="0070C0"/>
              </a:solidFill>
            </a:endParaRPr>
          </a:p>
        </p:txBody>
      </p:sp>
      <p:sp>
        <p:nvSpPr>
          <p:cNvPr id="9" name="Content Placeholder 8"/>
          <p:cNvSpPr>
            <a:spLocks noGrp="1"/>
          </p:cNvSpPr>
          <p:nvPr>
            <p:ph sz="quarter" idx="1"/>
          </p:nvPr>
        </p:nvSpPr>
        <p:spPr/>
        <p:txBody>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sz="1800" dirty="0" smtClean="0"/>
              <a:t>Fe</a:t>
            </a:r>
          </a:p>
          <a:p>
            <a:endParaRPr lang="en-US" sz="1800" dirty="0" smtClean="0"/>
          </a:p>
          <a:p>
            <a:r>
              <a:rPr lang="en-US" sz="1800" dirty="0" smtClean="0"/>
              <a:t>Features</a:t>
            </a:r>
          </a:p>
          <a:p>
            <a:pPr lvl="1"/>
            <a:r>
              <a:rPr lang="en-US" sz="1800" dirty="0" smtClean="0"/>
              <a:t>Adversary should not be able learn </a:t>
            </a:r>
            <a:r>
              <a:rPr lang="en-US" sz="1800" i="1" dirty="0" smtClean="0"/>
              <a:t>K</a:t>
            </a:r>
            <a:r>
              <a:rPr lang="en-US" sz="1800" i="1" baseline="-25000" dirty="0" smtClean="0"/>
              <a:t>AB</a:t>
            </a:r>
            <a:r>
              <a:rPr lang="en-US" sz="1800" dirty="0" smtClean="0"/>
              <a:t> since we assume the underlying encryption scheme to be secure</a:t>
            </a:r>
          </a:p>
          <a:p>
            <a:pPr lvl="1"/>
            <a:r>
              <a:rPr lang="en-US" sz="1800" dirty="0" smtClean="0"/>
              <a:t>Adversary only sees encrypted messages and thus does not learn </a:t>
            </a:r>
            <a:r>
              <a:rPr lang="en-US" sz="1800" i="1" dirty="0" smtClean="0"/>
              <a:t>K</a:t>
            </a:r>
            <a:r>
              <a:rPr lang="en-US" sz="1800" i="1" baseline="-25000" dirty="0" smtClean="0"/>
              <a:t>AB</a:t>
            </a:r>
            <a:endParaRPr lang="en-US" sz="1800" i="1" baseline="-25000" dirty="0"/>
          </a:p>
        </p:txBody>
      </p:sp>
      <p:pic>
        <p:nvPicPr>
          <p:cNvPr id="10" name="Picture 9" descr="fig4.bmp"/>
          <p:cNvPicPr>
            <a:picLocks noChangeAspect="1"/>
          </p:cNvPicPr>
          <p:nvPr/>
        </p:nvPicPr>
        <p:blipFill>
          <a:blip r:embed="rId2"/>
          <a:stretch>
            <a:fillRect/>
          </a:stretch>
        </p:blipFill>
        <p:spPr>
          <a:xfrm>
            <a:off x="228600" y="1219200"/>
            <a:ext cx="8662988" cy="3468886"/>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II: Description</a:t>
            </a:r>
            <a:endParaRPr lang="en-US" b="1" dirty="0">
              <a:solidFill>
                <a:srgbClr val="0070C0"/>
              </a:solidFill>
            </a:endParaRPr>
          </a:p>
        </p:txBody>
      </p:sp>
      <p:sp>
        <p:nvSpPr>
          <p:cNvPr id="3" name="Content Placeholder 2"/>
          <p:cNvSpPr>
            <a:spLocks noGrp="1"/>
          </p:cNvSpPr>
          <p:nvPr>
            <p:ph sz="quarter" idx="1"/>
          </p:nvPr>
        </p:nvSpPr>
        <p:spPr/>
        <p:txBody>
          <a:bodyPr>
            <a:normAutofit fontScale="92500" lnSpcReduction="20000"/>
          </a:bodyPr>
          <a:lstStyle/>
          <a:p>
            <a:pPr>
              <a:lnSpc>
                <a:spcPct val="150000"/>
              </a:lnSpc>
            </a:pPr>
            <a:r>
              <a:rPr lang="en-US" dirty="0" smtClean="0"/>
              <a:t>Step 1:</a:t>
            </a:r>
          </a:p>
          <a:p>
            <a:pPr lvl="1">
              <a:lnSpc>
                <a:spcPct val="150000"/>
              </a:lnSpc>
            </a:pPr>
            <a:r>
              <a:rPr lang="en-US" i="1" dirty="0" smtClean="0"/>
              <a:t>A </a:t>
            </a:r>
            <a:r>
              <a:rPr lang="en-US" dirty="0" smtClean="0"/>
              <a:t>starts by sending identifiers </a:t>
            </a:r>
            <a:r>
              <a:rPr lang="en-US" i="1" dirty="0" smtClean="0"/>
              <a:t>I</a:t>
            </a:r>
            <a:r>
              <a:rPr lang="en-US" i="1" baseline="-25000" dirty="0" smtClean="0"/>
              <a:t>A</a:t>
            </a:r>
            <a:r>
              <a:rPr lang="en-US" dirty="0" smtClean="0"/>
              <a:t> and </a:t>
            </a:r>
            <a:r>
              <a:rPr lang="en-US" i="1" dirty="0" smtClean="0"/>
              <a:t>I</a:t>
            </a:r>
            <a:r>
              <a:rPr lang="en-US" i="1" baseline="-25000" dirty="0" smtClean="0"/>
              <a:t>B</a:t>
            </a:r>
            <a:r>
              <a:rPr lang="en-US" dirty="0" smtClean="0"/>
              <a:t> of the communicating parties to </a:t>
            </a:r>
            <a:r>
              <a:rPr lang="en-US" i="1" dirty="0" smtClean="0"/>
              <a:t>T</a:t>
            </a:r>
          </a:p>
          <a:p>
            <a:pPr lvl="1">
              <a:lnSpc>
                <a:spcPct val="150000"/>
              </a:lnSpc>
            </a:pPr>
            <a:r>
              <a:rPr lang="en-US" i="1" dirty="0" smtClean="0"/>
              <a:t>T</a:t>
            </a:r>
            <a:r>
              <a:rPr lang="en-US" dirty="0" smtClean="0"/>
              <a:t> then generates a session key </a:t>
            </a:r>
            <a:r>
              <a:rPr lang="en-US" i="1" dirty="0" smtClean="0"/>
              <a:t>K</a:t>
            </a:r>
            <a:r>
              <a:rPr lang="en-US" i="1" baseline="-25000" dirty="0" smtClean="0"/>
              <a:t>AB</a:t>
            </a:r>
            <a:r>
              <a:rPr lang="en-US" dirty="0" smtClean="0"/>
              <a:t> and encrypts it with </a:t>
            </a:r>
            <a:r>
              <a:rPr lang="en-US" i="1" dirty="0" smtClean="0"/>
              <a:t>K</a:t>
            </a:r>
            <a:r>
              <a:rPr lang="en-US" i="1" baseline="-25000" dirty="0" smtClean="0"/>
              <a:t>AT</a:t>
            </a:r>
            <a:r>
              <a:rPr lang="en-US" dirty="0" smtClean="0"/>
              <a:t> and </a:t>
            </a:r>
            <a:r>
              <a:rPr lang="en-US" i="1" dirty="0" smtClean="0"/>
              <a:t>K</a:t>
            </a:r>
            <a:r>
              <a:rPr lang="en-US" i="1" baseline="-25000" dirty="0" smtClean="0"/>
              <a:t>BT</a:t>
            </a:r>
            <a:r>
              <a:rPr lang="en-US" dirty="0" smtClean="0"/>
              <a:t> respectively</a:t>
            </a:r>
          </a:p>
          <a:p>
            <a:pPr>
              <a:lnSpc>
                <a:spcPct val="150000"/>
              </a:lnSpc>
            </a:pPr>
            <a:r>
              <a:rPr lang="en-US" dirty="0" smtClean="0"/>
              <a:t>Step 2:</a:t>
            </a:r>
          </a:p>
          <a:p>
            <a:pPr lvl="1">
              <a:lnSpc>
                <a:spcPct val="150000"/>
              </a:lnSpc>
            </a:pPr>
            <a:r>
              <a:rPr lang="en-US" i="1" dirty="0" smtClean="0"/>
              <a:t>T</a:t>
            </a:r>
            <a:r>
              <a:rPr lang="en-US" dirty="0" smtClean="0"/>
              <a:t> sends both </a:t>
            </a:r>
            <a:r>
              <a:rPr lang="en-US" dirty="0" err="1" smtClean="0"/>
              <a:t>ciphertexts</a:t>
            </a:r>
            <a:r>
              <a:rPr lang="en-US" dirty="0" smtClean="0"/>
              <a:t> to </a:t>
            </a:r>
            <a:r>
              <a:rPr lang="en-US" i="1" dirty="0" smtClean="0"/>
              <a:t>A</a:t>
            </a:r>
          </a:p>
          <a:p>
            <a:pPr>
              <a:lnSpc>
                <a:spcPct val="150000"/>
              </a:lnSpc>
            </a:pPr>
            <a:r>
              <a:rPr lang="en-US" dirty="0" smtClean="0"/>
              <a:t>Step 3:</a:t>
            </a:r>
          </a:p>
          <a:p>
            <a:pPr lvl="1">
              <a:lnSpc>
                <a:spcPct val="150000"/>
              </a:lnSpc>
            </a:pPr>
            <a:r>
              <a:rPr lang="en-US" i="1" dirty="0" smtClean="0"/>
              <a:t>A</a:t>
            </a:r>
            <a:r>
              <a:rPr lang="en-US" dirty="0" smtClean="0"/>
              <a:t> forwards the </a:t>
            </a:r>
            <a:r>
              <a:rPr lang="en-US" dirty="0" err="1" smtClean="0"/>
              <a:t>ciphertext</a:t>
            </a:r>
            <a:r>
              <a:rPr lang="en-US" dirty="0" smtClean="0"/>
              <a:t> encrypted with </a:t>
            </a:r>
            <a:r>
              <a:rPr lang="en-US" i="1" dirty="0" smtClean="0"/>
              <a:t>K</a:t>
            </a:r>
            <a:r>
              <a:rPr lang="en-US" i="1" baseline="-25000" dirty="0" smtClean="0"/>
              <a:t>BT</a:t>
            </a:r>
            <a:r>
              <a:rPr lang="en-US" dirty="0" smtClean="0"/>
              <a:t> to </a:t>
            </a:r>
            <a:r>
              <a:rPr lang="en-US" i="1" dirty="0" smtClean="0"/>
              <a:t>B</a:t>
            </a:r>
          </a:p>
          <a:p>
            <a:pPr lvl="1">
              <a:lnSpc>
                <a:spcPct val="150000"/>
              </a:lnSpc>
            </a:pPr>
            <a:r>
              <a:rPr lang="en-US" i="1" dirty="0" smtClean="0"/>
              <a:t>A</a:t>
            </a:r>
            <a:r>
              <a:rPr lang="en-US" dirty="0" smtClean="0"/>
              <a:t> adds its identifier </a:t>
            </a:r>
            <a:r>
              <a:rPr lang="en-US" i="1" dirty="0" smtClean="0"/>
              <a:t>I</a:t>
            </a:r>
            <a:r>
              <a:rPr lang="en-US" i="1" baseline="-25000" dirty="0" smtClean="0"/>
              <a:t>A</a:t>
            </a:r>
            <a:r>
              <a:rPr lang="en-US" dirty="0" smtClean="0"/>
              <a:t> to inform </a:t>
            </a:r>
            <a:r>
              <a:rPr lang="en-US" i="1" dirty="0" smtClean="0"/>
              <a:t>B</a:t>
            </a:r>
            <a:r>
              <a:rPr lang="en-US" dirty="0" smtClean="0"/>
              <a:t> about who else has the key</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II: Analysis</a:t>
            </a:r>
            <a:endParaRPr lang="en-US" b="1" dirty="0">
              <a:solidFill>
                <a:srgbClr val="0070C0"/>
              </a:solidFill>
            </a:endParaRPr>
          </a:p>
        </p:txBody>
      </p:sp>
      <p:sp>
        <p:nvSpPr>
          <p:cNvPr id="3" name="Content Placeholder 2"/>
          <p:cNvSpPr>
            <a:spLocks noGrp="1"/>
          </p:cNvSpPr>
          <p:nvPr>
            <p:ph sz="quarter" idx="1"/>
          </p:nvPr>
        </p:nvSpPr>
        <p:spPr/>
        <p:txBody>
          <a:bodyPr/>
          <a:lstStyle/>
          <a:p>
            <a:pPr>
              <a:lnSpc>
                <a:spcPct val="150000"/>
              </a:lnSpc>
            </a:pPr>
            <a:r>
              <a:rPr lang="en-US" dirty="0" smtClean="0"/>
              <a:t>Adversary Model:</a:t>
            </a:r>
          </a:p>
          <a:p>
            <a:pPr lvl="1">
              <a:lnSpc>
                <a:spcPct val="150000"/>
              </a:lnSpc>
            </a:pPr>
            <a:r>
              <a:rPr lang="en-US" dirty="0" smtClean="0"/>
              <a:t>In addition to eavesdropping, the adversary can control the communication channel and thus is able to alter messages or their destination</a:t>
            </a:r>
          </a:p>
          <a:p>
            <a:pPr>
              <a:lnSpc>
                <a:spcPct val="150000"/>
              </a:lnSpc>
            </a:pPr>
            <a:r>
              <a:rPr lang="en-US" dirty="0" smtClean="0"/>
              <a:t>Problems:</a:t>
            </a:r>
          </a:p>
          <a:p>
            <a:pPr lvl="1">
              <a:lnSpc>
                <a:spcPct val="150000"/>
              </a:lnSpc>
            </a:pPr>
            <a:r>
              <a:rPr lang="en-US" dirty="0" smtClean="0"/>
              <a:t>All kinds of man‐in‐the‐middle‐attacks</a:t>
            </a:r>
          </a:p>
          <a:p>
            <a:pPr lvl="2">
              <a:lnSpc>
                <a:spcPct val="150000"/>
              </a:lnSpc>
            </a:pPr>
            <a:r>
              <a:rPr lang="en-US" dirty="0" smtClean="0"/>
              <a:t>see next slides…</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II: First Attack </a:t>
            </a:r>
            <a:endParaRPr lang="en-US" b="1" dirty="0">
              <a:solidFill>
                <a:srgbClr val="0070C0"/>
              </a:solidFill>
            </a:endParaRPr>
          </a:p>
        </p:txBody>
      </p:sp>
      <p:sp>
        <p:nvSpPr>
          <p:cNvPr id="3" name="Content Placeholder 2"/>
          <p:cNvSpPr>
            <a:spLocks noGrp="1"/>
          </p:cNvSpPr>
          <p:nvPr>
            <p:ph sz="quarter" idx="1"/>
          </p:nvPr>
        </p:nvSpPr>
        <p:spPr/>
        <p:txBody>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i="1" dirty="0" smtClean="0"/>
              <a:t>Adv</a:t>
            </a:r>
            <a:r>
              <a:rPr lang="en-US" dirty="0" smtClean="0"/>
              <a:t> masquerades as </a:t>
            </a:r>
            <a:r>
              <a:rPr lang="en-US" i="1" dirty="0" smtClean="0"/>
              <a:t>C</a:t>
            </a:r>
            <a:r>
              <a:rPr lang="en-US" dirty="0" smtClean="0"/>
              <a:t> to </a:t>
            </a:r>
            <a:r>
              <a:rPr lang="en-US" i="1" dirty="0" smtClean="0"/>
              <a:t>B</a:t>
            </a:r>
            <a:endParaRPr lang="en-US" i="1" dirty="0"/>
          </a:p>
        </p:txBody>
      </p:sp>
      <p:pic>
        <p:nvPicPr>
          <p:cNvPr id="4" name="Picture 3" descr="fig5.bmp"/>
          <p:cNvPicPr>
            <a:picLocks noChangeAspect="1"/>
          </p:cNvPicPr>
          <p:nvPr/>
        </p:nvPicPr>
        <p:blipFill>
          <a:blip r:embed="rId2"/>
          <a:stretch>
            <a:fillRect/>
          </a:stretch>
        </p:blipFill>
        <p:spPr>
          <a:xfrm>
            <a:off x="152400" y="1447800"/>
            <a:ext cx="8991600" cy="3870931"/>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Protocol II: Analysis of the First Attack</a:t>
            </a:r>
            <a:endParaRPr lang="en-US" b="1" dirty="0">
              <a:solidFill>
                <a:srgbClr val="0070C0"/>
              </a:solidFill>
            </a:endParaRPr>
          </a:p>
        </p:txBody>
      </p:sp>
      <p:sp>
        <p:nvSpPr>
          <p:cNvPr id="3" name="Content Placeholder 2"/>
          <p:cNvSpPr>
            <a:spLocks noGrp="1"/>
          </p:cNvSpPr>
          <p:nvPr>
            <p:ph sz="quarter" idx="1"/>
          </p:nvPr>
        </p:nvSpPr>
        <p:spPr/>
        <p:txBody>
          <a:bodyPr>
            <a:normAutofit fontScale="70000" lnSpcReduction="20000"/>
          </a:bodyPr>
          <a:lstStyle/>
          <a:p>
            <a:pPr>
              <a:lnSpc>
                <a:spcPct val="160000"/>
              </a:lnSpc>
            </a:pPr>
            <a:r>
              <a:rPr lang="en-US" dirty="0" smtClean="0"/>
              <a:t>Attack (man‐in‐the‐middle)</a:t>
            </a:r>
          </a:p>
          <a:p>
            <a:pPr lvl="1">
              <a:lnSpc>
                <a:spcPct val="160000"/>
              </a:lnSpc>
            </a:pPr>
            <a:r>
              <a:rPr lang="en-US" i="1" dirty="0" smtClean="0"/>
              <a:t>Adv</a:t>
            </a:r>
            <a:r>
              <a:rPr lang="en-US" dirty="0" smtClean="0"/>
              <a:t> intercepts message intended for </a:t>
            </a:r>
            <a:r>
              <a:rPr lang="en-US" i="1" dirty="0" smtClean="0"/>
              <a:t>B</a:t>
            </a:r>
            <a:r>
              <a:rPr lang="en-US" dirty="0" smtClean="0"/>
              <a:t> and replaces </a:t>
            </a:r>
            <a:r>
              <a:rPr lang="en-US" i="1" dirty="0" smtClean="0"/>
              <a:t>I</a:t>
            </a:r>
            <a:r>
              <a:rPr lang="en-US" i="1" baseline="-25000" dirty="0" smtClean="0"/>
              <a:t>A</a:t>
            </a:r>
            <a:r>
              <a:rPr lang="en-US" dirty="0" smtClean="0"/>
              <a:t> with </a:t>
            </a:r>
            <a:r>
              <a:rPr lang="en-US" i="1" dirty="0" smtClean="0"/>
              <a:t>I</a:t>
            </a:r>
            <a:r>
              <a:rPr lang="en-US" i="1" baseline="-25000" dirty="0" smtClean="0"/>
              <a:t>C</a:t>
            </a:r>
          </a:p>
          <a:p>
            <a:pPr lvl="2">
              <a:lnSpc>
                <a:spcPct val="160000"/>
              </a:lnSpc>
            </a:pPr>
            <a:r>
              <a:rPr lang="en-US" i="1" dirty="0" smtClean="0"/>
              <a:t>Adv</a:t>
            </a:r>
            <a:r>
              <a:rPr lang="en-US" dirty="0" smtClean="0"/>
              <a:t> masquerades as </a:t>
            </a:r>
            <a:r>
              <a:rPr lang="en-US" i="1" dirty="0" smtClean="0"/>
              <a:t>C</a:t>
            </a:r>
            <a:r>
              <a:rPr lang="en-US" dirty="0" smtClean="0"/>
              <a:t> to </a:t>
            </a:r>
            <a:r>
              <a:rPr lang="en-US" i="1" dirty="0" smtClean="0"/>
              <a:t>B</a:t>
            </a:r>
          </a:p>
          <a:p>
            <a:pPr lvl="2">
              <a:lnSpc>
                <a:spcPct val="160000"/>
              </a:lnSpc>
            </a:pPr>
            <a:r>
              <a:rPr lang="en-US" i="1" dirty="0" smtClean="0"/>
              <a:t>C</a:t>
            </a:r>
            <a:r>
              <a:rPr lang="en-US" dirty="0" smtClean="0"/>
              <a:t> might be an arbitrary identity chosen by the adversary</a:t>
            </a:r>
          </a:p>
          <a:p>
            <a:pPr lvl="1">
              <a:lnSpc>
                <a:spcPct val="160000"/>
              </a:lnSpc>
            </a:pPr>
            <a:r>
              <a:rPr lang="en-US" i="1" dirty="0" smtClean="0"/>
              <a:t>B</a:t>
            </a:r>
            <a:r>
              <a:rPr lang="en-US" dirty="0" smtClean="0"/>
              <a:t> now believes it shares the key </a:t>
            </a:r>
            <a:r>
              <a:rPr lang="en-US" i="1" dirty="0" smtClean="0"/>
              <a:t>K</a:t>
            </a:r>
            <a:r>
              <a:rPr lang="en-US" i="1" baseline="-25000" dirty="0" smtClean="0"/>
              <a:t>AB</a:t>
            </a:r>
            <a:r>
              <a:rPr lang="en-US" dirty="0" smtClean="0"/>
              <a:t> with </a:t>
            </a:r>
            <a:r>
              <a:rPr lang="en-US" i="1" dirty="0" smtClean="0"/>
              <a:t>C</a:t>
            </a:r>
          </a:p>
          <a:p>
            <a:pPr lvl="2">
              <a:lnSpc>
                <a:spcPct val="160000"/>
              </a:lnSpc>
            </a:pPr>
            <a:r>
              <a:rPr lang="en-US" dirty="0" smtClean="0"/>
              <a:t>in fact, </a:t>
            </a:r>
            <a:r>
              <a:rPr lang="en-US" i="1" dirty="0" smtClean="0"/>
              <a:t>B</a:t>
            </a:r>
            <a:r>
              <a:rPr lang="en-US" dirty="0" smtClean="0"/>
              <a:t> shares </a:t>
            </a:r>
            <a:r>
              <a:rPr lang="en-US" i="1" dirty="0" smtClean="0"/>
              <a:t>K</a:t>
            </a:r>
            <a:r>
              <a:rPr lang="en-US" i="1" baseline="-25000" dirty="0" smtClean="0"/>
              <a:t>AB</a:t>
            </a:r>
            <a:r>
              <a:rPr lang="en-US" dirty="0" smtClean="0"/>
              <a:t> with </a:t>
            </a:r>
            <a:r>
              <a:rPr lang="en-US" i="1" dirty="0" smtClean="0"/>
              <a:t>A!</a:t>
            </a:r>
          </a:p>
          <a:p>
            <a:pPr>
              <a:lnSpc>
                <a:spcPct val="160000"/>
              </a:lnSpc>
            </a:pPr>
            <a:r>
              <a:rPr lang="en-US" dirty="0" smtClean="0"/>
              <a:t>Violated requirements</a:t>
            </a:r>
          </a:p>
          <a:p>
            <a:pPr lvl="1">
              <a:lnSpc>
                <a:spcPct val="160000"/>
              </a:lnSpc>
            </a:pPr>
            <a:r>
              <a:rPr lang="en-US" dirty="0" smtClean="0"/>
              <a:t>Depends on application</a:t>
            </a:r>
          </a:p>
          <a:p>
            <a:pPr lvl="2">
              <a:lnSpc>
                <a:spcPct val="160000"/>
              </a:lnSpc>
            </a:pPr>
            <a:r>
              <a:rPr lang="en-US" i="1" dirty="0" smtClean="0"/>
              <a:t>B</a:t>
            </a:r>
            <a:r>
              <a:rPr lang="en-US" dirty="0" smtClean="0"/>
              <a:t> might give information to </a:t>
            </a:r>
            <a:r>
              <a:rPr lang="en-US" i="1" dirty="0" smtClean="0"/>
              <a:t>A</a:t>
            </a:r>
            <a:r>
              <a:rPr lang="en-US" dirty="0" smtClean="0"/>
              <a:t> which only should have been revealed to </a:t>
            </a:r>
            <a:r>
              <a:rPr lang="en-US" i="1" dirty="0" smtClean="0"/>
              <a:t>C</a:t>
            </a:r>
          </a:p>
          <a:p>
            <a:pPr lvl="1">
              <a:lnSpc>
                <a:spcPct val="160000"/>
              </a:lnSpc>
            </a:pPr>
            <a:r>
              <a:rPr lang="en-US" i="1" dirty="0" smtClean="0"/>
              <a:t>Adv</a:t>
            </a:r>
            <a:r>
              <a:rPr lang="en-US" dirty="0" smtClean="0"/>
              <a:t> does not necessarily obtain the session key</a:t>
            </a:r>
          </a:p>
          <a:p>
            <a:pPr lvl="2">
              <a:lnSpc>
                <a:spcPct val="160000"/>
              </a:lnSpc>
            </a:pPr>
            <a:r>
              <a:rPr lang="en-US" dirty="0" smtClean="0"/>
              <a:t>however, the requirement MR1 is not fulfilled since </a:t>
            </a:r>
            <a:r>
              <a:rPr lang="en-US" i="1" dirty="0" smtClean="0">
                <a:solidFill>
                  <a:srgbClr val="C00000"/>
                </a:solidFill>
              </a:rPr>
              <a:t>B</a:t>
            </a:r>
            <a:r>
              <a:rPr lang="en-US" dirty="0" smtClean="0">
                <a:solidFill>
                  <a:srgbClr val="C00000"/>
                </a:solidFill>
              </a:rPr>
              <a:t> does not know with whom it shares the session key</a:t>
            </a:r>
          </a:p>
          <a:p>
            <a:pPr lvl="1">
              <a:lnSpc>
                <a:spcPct val="160000"/>
              </a:lnSpc>
            </a:pP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II: Second Attack</a:t>
            </a:r>
            <a:endParaRPr lang="en-US" b="1" dirty="0">
              <a:solidFill>
                <a:srgbClr val="0070C0"/>
              </a:solidFill>
            </a:endParaRPr>
          </a:p>
        </p:txBody>
      </p:sp>
      <p:sp>
        <p:nvSpPr>
          <p:cNvPr id="3" name="Content Placeholder 2"/>
          <p:cNvSpPr>
            <a:spLocks noGrp="1"/>
          </p:cNvSpPr>
          <p:nvPr>
            <p:ph sz="quarter" idx="1"/>
          </p:nvPr>
        </p:nvSpPr>
        <p:spPr>
          <a:xfrm>
            <a:off x="457200" y="1219200"/>
            <a:ext cx="8229600" cy="5029200"/>
          </a:xfrm>
        </p:spPr>
        <p:txBody>
          <a:bodyPr>
            <a:normAutofit fontScale="62500" lnSpcReduction="20000"/>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sz="2900" i="1" dirty="0" smtClean="0"/>
              <a:t>Adv</a:t>
            </a:r>
            <a:r>
              <a:rPr lang="en-US" sz="2900" dirty="0" smtClean="0"/>
              <a:t> interferes in the communication between </a:t>
            </a:r>
            <a:r>
              <a:rPr lang="en-US" sz="2900" i="1" dirty="0" smtClean="0"/>
              <a:t>A</a:t>
            </a:r>
            <a:r>
              <a:rPr lang="en-US" sz="2900" dirty="0" smtClean="0"/>
              <a:t> and </a:t>
            </a:r>
            <a:r>
              <a:rPr lang="en-US" sz="2900" i="1" dirty="0" smtClean="0"/>
              <a:t>T</a:t>
            </a:r>
            <a:endParaRPr lang="en-US" sz="2900" i="1" dirty="0"/>
          </a:p>
        </p:txBody>
      </p:sp>
      <p:pic>
        <p:nvPicPr>
          <p:cNvPr id="4" name="Picture 3" descr="fig6.bmp"/>
          <p:cNvPicPr>
            <a:picLocks noChangeAspect="1"/>
          </p:cNvPicPr>
          <p:nvPr/>
        </p:nvPicPr>
        <p:blipFill>
          <a:blip r:embed="rId2"/>
          <a:stretch>
            <a:fillRect/>
          </a:stretch>
        </p:blipFill>
        <p:spPr>
          <a:xfrm>
            <a:off x="95250" y="1219200"/>
            <a:ext cx="9048750" cy="4429125"/>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Protocol II: Analysis of the Second Attack</a:t>
            </a:r>
            <a:endParaRPr lang="en-US" b="1" dirty="0">
              <a:solidFill>
                <a:srgbClr val="0070C0"/>
              </a:solidFill>
            </a:endParaRPr>
          </a:p>
        </p:txBody>
      </p:sp>
      <p:sp>
        <p:nvSpPr>
          <p:cNvPr id="3" name="Content Placeholder 2"/>
          <p:cNvSpPr>
            <a:spLocks noGrp="1"/>
          </p:cNvSpPr>
          <p:nvPr>
            <p:ph sz="quarter" idx="1"/>
          </p:nvPr>
        </p:nvSpPr>
        <p:spPr/>
        <p:txBody>
          <a:bodyPr>
            <a:normAutofit fontScale="70000" lnSpcReduction="20000"/>
          </a:bodyPr>
          <a:lstStyle/>
          <a:p>
            <a:pPr>
              <a:lnSpc>
                <a:spcPct val="160000"/>
              </a:lnSpc>
            </a:pPr>
            <a:r>
              <a:rPr lang="en-US" dirty="0" smtClean="0"/>
              <a:t>This attack is successful when </a:t>
            </a:r>
            <a:r>
              <a:rPr lang="en-US" i="1" dirty="0" smtClean="0"/>
              <a:t>Adv</a:t>
            </a:r>
            <a:r>
              <a:rPr lang="en-US" dirty="0" smtClean="0"/>
              <a:t> is known to </a:t>
            </a:r>
            <a:r>
              <a:rPr lang="en-US" i="1" dirty="0" smtClean="0"/>
              <a:t>T</a:t>
            </a:r>
          </a:p>
          <a:p>
            <a:pPr lvl="1">
              <a:lnSpc>
                <a:spcPct val="160000"/>
              </a:lnSpc>
            </a:pPr>
            <a:r>
              <a:rPr lang="en-US" i="1" dirty="0" smtClean="0"/>
              <a:t>Adv</a:t>
            </a:r>
            <a:r>
              <a:rPr lang="en-US" dirty="0" smtClean="0"/>
              <a:t> is an insider and known by </a:t>
            </a:r>
            <a:r>
              <a:rPr lang="en-US" i="1" dirty="0" smtClean="0"/>
              <a:t>T</a:t>
            </a:r>
            <a:r>
              <a:rPr lang="en-US" dirty="0" smtClean="0"/>
              <a:t> as </a:t>
            </a:r>
            <a:r>
              <a:rPr lang="en-US" i="1" dirty="0" smtClean="0"/>
              <a:t>C</a:t>
            </a:r>
            <a:r>
              <a:rPr lang="en-US" dirty="0" smtClean="0"/>
              <a:t> and thus shares </a:t>
            </a:r>
            <a:r>
              <a:rPr lang="en-US" i="1" dirty="0" smtClean="0"/>
              <a:t>K</a:t>
            </a:r>
            <a:r>
              <a:rPr lang="en-US" i="1" baseline="-25000" dirty="0" smtClean="0"/>
              <a:t>CT</a:t>
            </a:r>
            <a:r>
              <a:rPr lang="en-US" dirty="0" smtClean="0"/>
              <a:t> with </a:t>
            </a:r>
            <a:r>
              <a:rPr lang="en-US" i="1" dirty="0" smtClean="0"/>
              <a:t>T</a:t>
            </a:r>
          </a:p>
          <a:p>
            <a:pPr>
              <a:lnSpc>
                <a:spcPct val="160000"/>
              </a:lnSpc>
            </a:pPr>
            <a:r>
              <a:rPr lang="en-US" dirty="0" smtClean="0"/>
              <a:t>Adversary Model</a:t>
            </a:r>
          </a:p>
          <a:p>
            <a:pPr lvl="1">
              <a:lnSpc>
                <a:spcPct val="160000"/>
              </a:lnSpc>
            </a:pPr>
            <a:r>
              <a:rPr lang="en-US" dirty="0" smtClean="0"/>
              <a:t>The adversary is allowed to be an insider or a collusion of an insider and an outsider</a:t>
            </a:r>
          </a:p>
          <a:p>
            <a:pPr>
              <a:lnSpc>
                <a:spcPct val="160000"/>
              </a:lnSpc>
            </a:pPr>
            <a:r>
              <a:rPr lang="en-US" dirty="0" smtClean="0"/>
              <a:t>Attack (man‐in‐the‐middle)</a:t>
            </a:r>
          </a:p>
          <a:p>
            <a:pPr lvl="1">
              <a:lnSpc>
                <a:spcPct val="160000"/>
              </a:lnSpc>
            </a:pPr>
            <a:r>
              <a:rPr lang="en-US" i="1" dirty="0" smtClean="0"/>
              <a:t>Adv</a:t>
            </a:r>
            <a:r>
              <a:rPr lang="en-US" dirty="0" smtClean="0"/>
              <a:t> intercepts message </a:t>
            </a:r>
            <a:r>
              <a:rPr lang="en-US" i="1" dirty="0" smtClean="0"/>
              <a:t>1</a:t>
            </a:r>
            <a:r>
              <a:rPr lang="en-US" dirty="0" smtClean="0"/>
              <a:t> intended for </a:t>
            </a:r>
            <a:r>
              <a:rPr lang="en-US" i="1" dirty="0" smtClean="0"/>
              <a:t>T</a:t>
            </a:r>
            <a:r>
              <a:rPr lang="en-US" dirty="0" smtClean="0"/>
              <a:t> and replaces </a:t>
            </a:r>
            <a:r>
              <a:rPr lang="en-US" i="1" dirty="0" smtClean="0"/>
              <a:t>I</a:t>
            </a:r>
            <a:r>
              <a:rPr lang="en-US" i="1" baseline="-25000" dirty="0" smtClean="0"/>
              <a:t>B</a:t>
            </a:r>
            <a:r>
              <a:rPr lang="en-US" dirty="0" smtClean="0"/>
              <a:t> with </a:t>
            </a:r>
            <a:r>
              <a:rPr lang="en-US" i="1" dirty="0" smtClean="0"/>
              <a:t>I</a:t>
            </a:r>
            <a:r>
              <a:rPr lang="en-US" i="1" baseline="-25000" dirty="0" smtClean="0"/>
              <a:t>C</a:t>
            </a:r>
          </a:p>
          <a:p>
            <a:pPr lvl="2">
              <a:lnSpc>
                <a:spcPct val="160000"/>
              </a:lnSpc>
            </a:pPr>
            <a:r>
              <a:rPr lang="en-US" i="1" dirty="0" smtClean="0"/>
              <a:t>Adv</a:t>
            </a:r>
            <a:r>
              <a:rPr lang="en-US" dirty="0" smtClean="0"/>
              <a:t> masquerades as </a:t>
            </a:r>
            <a:r>
              <a:rPr lang="en-US" i="1" dirty="0" smtClean="0"/>
              <a:t>C</a:t>
            </a:r>
            <a:r>
              <a:rPr lang="en-US" dirty="0" smtClean="0"/>
              <a:t> to </a:t>
            </a:r>
            <a:r>
              <a:rPr lang="en-US" i="1" dirty="0" smtClean="0"/>
              <a:t>T</a:t>
            </a:r>
          </a:p>
          <a:p>
            <a:pPr lvl="2">
              <a:lnSpc>
                <a:spcPct val="160000"/>
              </a:lnSpc>
            </a:pPr>
            <a:r>
              <a:rPr lang="en-US" i="1" dirty="0" smtClean="0"/>
              <a:t>C</a:t>
            </a:r>
            <a:r>
              <a:rPr lang="en-US" dirty="0" smtClean="0"/>
              <a:t> might be an arbitrary identity chosen by the adversary</a:t>
            </a:r>
          </a:p>
          <a:p>
            <a:pPr lvl="1">
              <a:lnSpc>
                <a:spcPct val="160000"/>
              </a:lnSpc>
            </a:pPr>
            <a:r>
              <a:rPr lang="en-US" dirty="0" smtClean="0"/>
              <a:t>Result: </a:t>
            </a:r>
            <a:r>
              <a:rPr lang="en-US" i="1" dirty="0" smtClean="0"/>
              <a:t>A</a:t>
            </a:r>
            <a:r>
              <a:rPr lang="en-US" dirty="0" smtClean="0"/>
              <a:t> now believes it shares the key </a:t>
            </a:r>
            <a:r>
              <a:rPr lang="en-US" i="1" dirty="0" smtClean="0"/>
              <a:t>K</a:t>
            </a:r>
            <a:r>
              <a:rPr lang="en-US" i="1" baseline="-25000" dirty="0" smtClean="0"/>
              <a:t>AC</a:t>
            </a:r>
            <a:r>
              <a:rPr lang="en-US" dirty="0" smtClean="0"/>
              <a:t> with </a:t>
            </a:r>
            <a:r>
              <a:rPr lang="en-US" i="1" dirty="0" smtClean="0"/>
              <a:t>B</a:t>
            </a:r>
          </a:p>
          <a:p>
            <a:pPr lvl="2">
              <a:lnSpc>
                <a:spcPct val="160000"/>
              </a:lnSpc>
            </a:pPr>
            <a:r>
              <a:rPr lang="en-US" dirty="0" smtClean="0"/>
              <a:t>in fact, </a:t>
            </a:r>
            <a:r>
              <a:rPr lang="en-US" i="1" dirty="0" smtClean="0"/>
              <a:t>A</a:t>
            </a:r>
            <a:r>
              <a:rPr lang="en-US" dirty="0" smtClean="0"/>
              <a:t> shares </a:t>
            </a:r>
            <a:r>
              <a:rPr lang="en-US" i="1" dirty="0" smtClean="0"/>
              <a:t>K</a:t>
            </a:r>
            <a:r>
              <a:rPr lang="en-US" i="1" baseline="-25000" dirty="0" smtClean="0"/>
              <a:t>AC</a:t>
            </a:r>
            <a:r>
              <a:rPr lang="en-US" dirty="0" smtClean="0"/>
              <a:t> with </a:t>
            </a:r>
            <a:r>
              <a:rPr lang="en-US" i="1" dirty="0" smtClean="0"/>
              <a:t>C</a:t>
            </a:r>
            <a:r>
              <a:rPr lang="en-US" dirty="0" smtClean="0"/>
              <a:t>!</a:t>
            </a:r>
          </a:p>
          <a:p>
            <a:pPr lvl="2">
              <a:lnSpc>
                <a:spcPct val="160000"/>
              </a:lnSpc>
            </a:pPr>
            <a:r>
              <a:rPr lang="en-US" dirty="0" smtClean="0"/>
              <a:t>MR1 is not fulfilled</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Protocol II: Analysis of the Second Attack (</a:t>
            </a:r>
            <a:r>
              <a:rPr lang="en-US" b="1" dirty="0" err="1" smtClean="0">
                <a:solidFill>
                  <a:srgbClr val="0070C0"/>
                </a:solidFill>
              </a:rPr>
              <a:t>cntd</a:t>
            </a:r>
            <a:r>
              <a:rPr lang="en-US" b="1" dirty="0" smtClean="0">
                <a:solidFill>
                  <a:srgbClr val="0070C0"/>
                </a:solidFill>
              </a:rPr>
              <a:t>.)</a:t>
            </a:r>
            <a:endParaRPr lang="en-US" b="1" dirty="0">
              <a:solidFill>
                <a:srgbClr val="0070C0"/>
              </a:solidFill>
            </a:endParaRPr>
          </a:p>
        </p:txBody>
      </p:sp>
      <p:sp>
        <p:nvSpPr>
          <p:cNvPr id="3" name="Content Placeholder 2"/>
          <p:cNvSpPr>
            <a:spLocks noGrp="1"/>
          </p:cNvSpPr>
          <p:nvPr>
            <p:ph sz="quarter" idx="1"/>
          </p:nvPr>
        </p:nvSpPr>
        <p:spPr/>
        <p:txBody>
          <a:bodyPr>
            <a:normAutofit fontScale="77500" lnSpcReduction="20000"/>
          </a:bodyPr>
          <a:lstStyle/>
          <a:p>
            <a:pPr>
              <a:lnSpc>
                <a:spcPct val="160000"/>
              </a:lnSpc>
            </a:pPr>
            <a:r>
              <a:rPr lang="en-US" dirty="0" smtClean="0"/>
              <a:t>Consequences</a:t>
            </a:r>
          </a:p>
          <a:p>
            <a:pPr lvl="1">
              <a:lnSpc>
                <a:spcPct val="160000"/>
              </a:lnSpc>
            </a:pPr>
            <a:r>
              <a:rPr lang="en-US" dirty="0" smtClean="0"/>
              <a:t>At the end of the attack </a:t>
            </a:r>
            <a:r>
              <a:rPr lang="en-US" i="1" dirty="0" smtClean="0"/>
              <a:t>Adv</a:t>
            </a:r>
            <a:r>
              <a:rPr lang="en-US" dirty="0" smtClean="0"/>
              <a:t> masquerades as </a:t>
            </a:r>
            <a:r>
              <a:rPr lang="en-US" i="1" dirty="0" smtClean="0"/>
              <a:t>B</a:t>
            </a:r>
            <a:r>
              <a:rPr lang="en-US" dirty="0" smtClean="0"/>
              <a:t> to </a:t>
            </a:r>
            <a:r>
              <a:rPr lang="en-US" i="1" dirty="0" smtClean="0"/>
              <a:t>A</a:t>
            </a:r>
          </a:p>
          <a:p>
            <a:pPr lvl="1">
              <a:lnSpc>
                <a:spcPct val="160000"/>
              </a:lnSpc>
            </a:pPr>
            <a:r>
              <a:rPr lang="en-US" i="1" dirty="0" smtClean="0"/>
              <a:t>A</a:t>
            </a:r>
            <a:r>
              <a:rPr lang="en-US" dirty="0" smtClean="0"/>
              <a:t> believes to share the session key with </a:t>
            </a:r>
            <a:r>
              <a:rPr lang="en-US" i="1" dirty="0" smtClean="0"/>
              <a:t>B</a:t>
            </a:r>
            <a:r>
              <a:rPr lang="en-US" dirty="0" smtClean="0"/>
              <a:t> but actually shares it with </a:t>
            </a:r>
            <a:r>
              <a:rPr lang="en-US" i="1" dirty="0" smtClean="0"/>
              <a:t>Adv</a:t>
            </a:r>
          </a:p>
          <a:p>
            <a:pPr lvl="2">
              <a:lnSpc>
                <a:spcPct val="160000"/>
              </a:lnSpc>
            </a:pPr>
            <a:r>
              <a:rPr lang="en-US" i="1" dirty="0" smtClean="0"/>
              <a:t>K</a:t>
            </a:r>
            <a:r>
              <a:rPr lang="en-US" i="1" baseline="-25000" dirty="0" smtClean="0"/>
              <a:t>AC</a:t>
            </a:r>
            <a:r>
              <a:rPr lang="en-US" dirty="0" smtClean="0"/>
              <a:t> represents the session key accepted by </a:t>
            </a:r>
            <a:r>
              <a:rPr lang="en-US" i="1" dirty="0" smtClean="0"/>
              <a:t>A</a:t>
            </a:r>
          </a:p>
          <a:p>
            <a:pPr lvl="2">
              <a:lnSpc>
                <a:spcPct val="160000"/>
              </a:lnSpc>
            </a:pPr>
            <a:r>
              <a:rPr lang="en-US" i="1" dirty="0" smtClean="0"/>
              <a:t>A</a:t>
            </a:r>
            <a:r>
              <a:rPr lang="en-US" dirty="0" smtClean="0"/>
              <a:t> cannot distinguish encrypted messages and thus does not notice the manipulation</a:t>
            </a:r>
          </a:p>
          <a:p>
            <a:pPr lvl="1">
              <a:lnSpc>
                <a:spcPct val="160000"/>
              </a:lnSpc>
            </a:pPr>
            <a:r>
              <a:rPr lang="en-US" i="1" dirty="0" smtClean="0"/>
              <a:t>Adv</a:t>
            </a:r>
            <a:r>
              <a:rPr lang="en-US" dirty="0" smtClean="0"/>
              <a:t> knows the session key </a:t>
            </a:r>
            <a:r>
              <a:rPr lang="en-US" i="1" dirty="0" smtClean="0"/>
              <a:t>K</a:t>
            </a:r>
            <a:r>
              <a:rPr lang="en-US" i="1" baseline="-25000" dirty="0" smtClean="0"/>
              <a:t>AC</a:t>
            </a:r>
          </a:p>
          <a:p>
            <a:pPr lvl="2">
              <a:lnSpc>
                <a:spcPct val="160000"/>
              </a:lnSpc>
            </a:pPr>
            <a:r>
              <a:rPr lang="en-US" i="1" dirty="0" smtClean="0"/>
              <a:t>Adv</a:t>
            </a:r>
            <a:r>
              <a:rPr lang="en-US" dirty="0" smtClean="0"/>
              <a:t> is able to capture all information intended for </a:t>
            </a:r>
            <a:r>
              <a:rPr lang="en-US" i="1" dirty="0" smtClean="0"/>
              <a:t>B</a:t>
            </a:r>
          </a:p>
          <a:p>
            <a:pPr>
              <a:lnSpc>
                <a:spcPct val="160000"/>
              </a:lnSpc>
            </a:pPr>
            <a:r>
              <a:rPr lang="en-US" dirty="0" smtClean="0"/>
              <a:t>Possible countermeasure</a:t>
            </a:r>
          </a:p>
          <a:p>
            <a:pPr lvl="1">
              <a:lnSpc>
                <a:spcPct val="160000"/>
              </a:lnSpc>
            </a:pPr>
            <a:r>
              <a:rPr lang="en-US" dirty="0" smtClean="0"/>
              <a:t>Cryptographically bind IDs of the entities to the corresponding session key</a:t>
            </a:r>
          </a:p>
          <a:p>
            <a:pPr lvl="2">
              <a:lnSpc>
                <a:spcPct val="160000"/>
              </a:lnSpc>
            </a:pPr>
            <a:r>
              <a:rPr lang="en-US" dirty="0" smtClean="0"/>
              <a:t>see example protocol III</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III: Flow</a:t>
            </a:r>
            <a:endParaRPr lang="en-US" b="1" dirty="0">
              <a:solidFill>
                <a:srgbClr val="0070C0"/>
              </a:solidFill>
            </a:endParaRPr>
          </a:p>
        </p:txBody>
      </p:sp>
      <p:sp>
        <p:nvSpPr>
          <p:cNvPr id="3" name="Content Placeholder 2"/>
          <p:cNvSpPr>
            <a:spLocks noGrp="1"/>
          </p:cNvSpPr>
          <p:nvPr>
            <p:ph sz="quarter" idx="1"/>
          </p:nvPr>
        </p:nvSpPr>
        <p:spPr/>
        <p:txBody>
          <a:bodyPr>
            <a:normAutofit lnSpcReduction="10000"/>
          </a:bodyPr>
          <a:lstStyle/>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sz="2400" dirty="0" smtClean="0"/>
              <a:t>Comparison with Protocol II: Here, the identities of the participants are bound to the session key!</a:t>
            </a:r>
            <a:endParaRPr lang="en-US" sz="2400" dirty="0"/>
          </a:p>
        </p:txBody>
      </p:sp>
      <p:pic>
        <p:nvPicPr>
          <p:cNvPr id="4" name="Picture 3" descr="fig7.bmp"/>
          <p:cNvPicPr>
            <a:picLocks noChangeAspect="1"/>
          </p:cNvPicPr>
          <p:nvPr/>
        </p:nvPicPr>
        <p:blipFill>
          <a:blip r:embed="rId2"/>
          <a:stretch>
            <a:fillRect/>
          </a:stretch>
        </p:blipFill>
        <p:spPr>
          <a:xfrm>
            <a:off x="9525" y="1447800"/>
            <a:ext cx="9134475" cy="3571875"/>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III: Description</a:t>
            </a:r>
            <a:endParaRPr lang="en-US" b="1" dirty="0">
              <a:solidFill>
                <a:srgbClr val="0070C0"/>
              </a:solidFill>
            </a:endParaRPr>
          </a:p>
        </p:txBody>
      </p:sp>
      <p:sp>
        <p:nvSpPr>
          <p:cNvPr id="3" name="Content Placeholder 2"/>
          <p:cNvSpPr>
            <a:spLocks noGrp="1"/>
          </p:cNvSpPr>
          <p:nvPr>
            <p:ph sz="quarter" idx="1"/>
          </p:nvPr>
        </p:nvSpPr>
        <p:spPr/>
        <p:txBody>
          <a:bodyPr>
            <a:normAutofit fontScale="70000" lnSpcReduction="20000"/>
          </a:bodyPr>
          <a:lstStyle/>
          <a:p>
            <a:pPr>
              <a:lnSpc>
                <a:spcPct val="160000"/>
              </a:lnSpc>
            </a:pPr>
            <a:r>
              <a:rPr lang="en-US" dirty="0" smtClean="0"/>
              <a:t>Step 1:</a:t>
            </a:r>
          </a:p>
          <a:p>
            <a:pPr lvl="1">
              <a:lnSpc>
                <a:spcPct val="160000"/>
              </a:lnSpc>
            </a:pPr>
            <a:r>
              <a:rPr lang="en-US" i="1" dirty="0" smtClean="0"/>
              <a:t>A</a:t>
            </a:r>
            <a:r>
              <a:rPr lang="en-US" dirty="0" smtClean="0"/>
              <a:t> starts by sending identifiers </a:t>
            </a:r>
            <a:r>
              <a:rPr lang="en-US" i="1" dirty="0" smtClean="0"/>
              <a:t>I</a:t>
            </a:r>
            <a:r>
              <a:rPr lang="en-US" i="1" baseline="-25000" dirty="0" smtClean="0"/>
              <a:t>A</a:t>
            </a:r>
            <a:r>
              <a:rPr lang="en-US" dirty="0" smtClean="0"/>
              <a:t> and </a:t>
            </a:r>
            <a:r>
              <a:rPr lang="en-US" i="1" dirty="0" smtClean="0"/>
              <a:t>I</a:t>
            </a:r>
            <a:r>
              <a:rPr lang="en-US" i="1" baseline="-25000" dirty="0" smtClean="0"/>
              <a:t>B</a:t>
            </a:r>
            <a:r>
              <a:rPr lang="en-US" dirty="0" smtClean="0"/>
              <a:t> to </a:t>
            </a:r>
            <a:r>
              <a:rPr lang="en-US" i="1" dirty="0" smtClean="0"/>
              <a:t>T</a:t>
            </a:r>
          </a:p>
          <a:p>
            <a:pPr lvl="1">
              <a:lnSpc>
                <a:spcPct val="160000"/>
              </a:lnSpc>
            </a:pPr>
            <a:r>
              <a:rPr lang="en-US" i="1" dirty="0" smtClean="0"/>
              <a:t>T</a:t>
            </a:r>
            <a:r>
              <a:rPr lang="en-US" dirty="0" smtClean="0"/>
              <a:t> then generates a session key </a:t>
            </a:r>
            <a:r>
              <a:rPr lang="en-US" i="1" dirty="0" smtClean="0"/>
              <a:t>K</a:t>
            </a:r>
            <a:r>
              <a:rPr lang="en-US" i="1" baseline="-25000" dirty="0" smtClean="0"/>
              <a:t>AB</a:t>
            </a:r>
            <a:r>
              <a:rPr lang="en-US" dirty="0" smtClean="0"/>
              <a:t> and encrypts </a:t>
            </a:r>
            <a:r>
              <a:rPr lang="en-US" i="1" dirty="0" smtClean="0"/>
              <a:t>K</a:t>
            </a:r>
            <a:r>
              <a:rPr lang="en-US" i="1" baseline="-25000" dirty="0" smtClean="0"/>
              <a:t>AB</a:t>
            </a:r>
            <a:r>
              <a:rPr lang="en-US" dirty="0" smtClean="0"/>
              <a:t> </a:t>
            </a:r>
            <a:r>
              <a:rPr lang="en-US" dirty="0" smtClean="0">
                <a:solidFill>
                  <a:srgbClr val="C00000"/>
                </a:solidFill>
              </a:rPr>
              <a:t>together with the identity </a:t>
            </a:r>
            <a:r>
              <a:rPr lang="en-US" dirty="0" smtClean="0"/>
              <a:t>of the peer party</a:t>
            </a:r>
          </a:p>
          <a:p>
            <a:pPr lvl="2">
              <a:lnSpc>
                <a:spcPct val="160000"/>
              </a:lnSpc>
            </a:pPr>
            <a:r>
              <a:rPr lang="en-US" dirty="0" smtClean="0"/>
              <a:t>For </a:t>
            </a:r>
            <a:r>
              <a:rPr lang="en-US" i="1" dirty="0" smtClean="0"/>
              <a:t>A</a:t>
            </a:r>
            <a:r>
              <a:rPr lang="en-US" dirty="0" smtClean="0"/>
              <a:t> : </a:t>
            </a:r>
            <a:r>
              <a:rPr lang="en-US" i="1" dirty="0" err="1" smtClean="0"/>
              <a:t>enc</a:t>
            </a:r>
            <a:r>
              <a:rPr lang="en-US" i="1" baseline="-25000" dirty="0" err="1" smtClean="0"/>
              <a:t>KAT</a:t>
            </a:r>
            <a:r>
              <a:rPr lang="en-US" i="1" dirty="0" smtClean="0"/>
              <a:t>(K</a:t>
            </a:r>
            <a:r>
              <a:rPr lang="en-US" i="1" baseline="-25000" dirty="0" smtClean="0"/>
              <a:t>AB</a:t>
            </a:r>
            <a:r>
              <a:rPr lang="en-US" i="1" dirty="0" smtClean="0"/>
              <a:t>, I</a:t>
            </a:r>
            <a:r>
              <a:rPr lang="en-US" i="1" baseline="-25000" dirty="0" smtClean="0"/>
              <a:t>B</a:t>
            </a:r>
            <a:r>
              <a:rPr lang="en-US" i="1" dirty="0" smtClean="0"/>
              <a:t> )</a:t>
            </a:r>
          </a:p>
          <a:p>
            <a:pPr lvl="2">
              <a:lnSpc>
                <a:spcPct val="160000"/>
              </a:lnSpc>
            </a:pPr>
            <a:r>
              <a:rPr lang="en-US" dirty="0" smtClean="0"/>
              <a:t>For </a:t>
            </a:r>
            <a:r>
              <a:rPr lang="en-US" i="1" dirty="0" smtClean="0"/>
              <a:t>B</a:t>
            </a:r>
            <a:r>
              <a:rPr lang="en-US" dirty="0" smtClean="0"/>
              <a:t> : </a:t>
            </a:r>
            <a:r>
              <a:rPr lang="en-US" i="1" dirty="0" err="1" smtClean="0"/>
              <a:t>enc</a:t>
            </a:r>
            <a:r>
              <a:rPr lang="en-US" i="1" baseline="-25000" dirty="0" err="1" smtClean="0"/>
              <a:t>KBT</a:t>
            </a:r>
            <a:r>
              <a:rPr lang="en-US" i="1" dirty="0" smtClean="0"/>
              <a:t>(K</a:t>
            </a:r>
            <a:r>
              <a:rPr lang="en-US" i="1" baseline="-25000" dirty="0" smtClean="0"/>
              <a:t>AB</a:t>
            </a:r>
            <a:r>
              <a:rPr lang="en-US" i="1" dirty="0" smtClean="0"/>
              <a:t>, I</a:t>
            </a:r>
            <a:r>
              <a:rPr lang="en-US" i="1" baseline="-25000" dirty="0" smtClean="0"/>
              <a:t>A</a:t>
            </a:r>
            <a:r>
              <a:rPr lang="en-US" i="1" dirty="0" smtClean="0"/>
              <a:t> )</a:t>
            </a:r>
          </a:p>
          <a:p>
            <a:pPr>
              <a:lnSpc>
                <a:spcPct val="160000"/>
              </a:lnSpc>
            </a:pPr>
            <a:r>
              <a:rPr lang="en-US" dirty="0" smtClean="0"/>
              <a:t>Step 2:</a:t>
            </a:r>
          </a:p>
          <a:p>
            <a:pPr lvl="1">
              <a:lnSpc>
                <a:spcPct val="160000"/>
              </a:lnSpc>
            </a:pPr>
            <a:r>
              <a:rPr lang="en-US" i="1" dirty="0" smtClean="0"/>
              <a:t>T</a:t>
            </a:r>
            <a:r>
              <a:rPr lang="en-US" dirty="0" smtClean="0"/>
              <a:t> sends both </a:t>
            </a:r>
            <a:r>
              <a:rPr lang="en-US" dirty="0" err="1" smtClean="0"/>
              <a:t>ciphertexts</a:t>
            </a:r>
            <a:r>
              <a:rPr lang="en-US" dirty="0" smtClean="0"/>
              <a:t> to </a:t>
            </a:r>
            <a:r>
              <a:rPr lang="en-US" i="1" dirty="0" smtClean="0"/>
              <a:t>A</a:t>
            </a:r>
          </a:p>
          <a:p>
            <a:pPr lvl="1">
              <a:lnSpc>
                <a:spcPct val="160000"/>
              </a:lnSpc>
            </a:pPr>
            <a:r>
              <a:rPr lang="en-US" i="1" dirty="0" smtClean="0"/>
              <a:t>A</a:t>
            </a:r>
            <a:r>
              <a:rPr lang="en-US" dirty="0" smtClean="0"/>
              <a:t> decrypts </a:t>
            </a:r>
            <a:r>
              <a:rPr lang="en-US" i="1" dirty="0" err="1" smtClean="0"/>
              <a:t>enc</a:t>
            </a:r>
            <a:r>
              <a:rPr lang="en-US" i="1" baseline="-25000" dirty="0" err="1" smtClean="0"/>
              <a:t>KAT</a:t>
            </a:r>
            <a:r>
              <a:rPr lang="en-US" i="1" dirty="0" smtClean="0"/>
              <a:t>(K</a:t>
            </a:r>
            <a:r>
              <a:rPr lang="en-US" i="1" baseline="-25000" dirty="0" smtClean="0"/>
              <a:t>AB</a:t>
            </a:r>
            <a:r>
              <a:rPr lang="en-US" i="1" dirty="0" smtClean="0"/>
              <a:t>, I</a:t>
            </a:r>
            <a:r>
              <a:rPr lang="en-US" i="1" baseline="-25000" dirty="0" smtClean="0"/>
              <a:t>B</a:t>
            </a:r>
            <a:r>
              <a:rPr lang="en-US" i="1" dirty="0" smtClean="0"/>
              <a:t> ) </a:t>
            </a:r>
            <a:r>
              <a:rPr lang="en-US" dirty="0" smtClean="0"/>
              <a:t>and obtains the key </a:t>
            </a:r>
            <a:r>
              <a:rPr lang="en-US" i="1" dirty="0" smtClean="0"/>
              <a:t>K</a:t>
            </a:r>
            <a:r>
              <a:rPr lang="en-US" i="1" baseline="-25000" dirty="0" smtClean="0"/>
              <a:t>AB</a:t>
            </a:r>
          </a:p>
          <a:p>
            <a:pPr>
              <a:lnSpc>
                <a:spcPct val="160000"/>
              </a:lnSpc>
            </a:pPr>
            <a:r>
              <a:rPr lang="en-US" dirty="0" smtClean="0"/>
              <a:t>Step 3:</a:t>
            </a:r>
          </a:p>
          <a:p>
            <a:pPr lvl="1">
              <a:lnSpc>
                <a:spcPct val="160000"/>
              </a:lnSpc>
            </a:pPr>
            <a:r>
              <a:rPr lang="en-US" i="1" dirty="0" smtClean="0"/>
              <a:t>A</a:t>
            </a:r>
            <a:r>
              <a:rPr lang="en-US" dirty="0" smtClean="0"/>
              <a:t> forwards the </a:t>
            </a:r>
            <a:r>
              <a:rPr lang="en-US" dirty="0" err="1" smtClean="0"/>
              <a:t>ciphertext</a:t>
            </a:r>
            <a:r>
              <a:rPr lang="en-US" dirty="0" smtClean="0"/>
              <a:t> encrypted with </a:t>
            </a:r>
            <a:r>
              <a:rPr lang="en-US" i="1" dirty="0" smtClean="0"/>
              <a:t>K</a:t>
            </a:r>
            <a:r>
              <a:rPr lang="en-US" i="1" baseline="-25000" dirty="0" smtClean="0"/>
              <a:t>BT</a:t>
            </a:r>
            <a:r>
              <a:rPr lang="en-US" dirty="0" smtClean="0"/>
              <a:t> to </a:t>
            </a:r>
            <a:r>
              <a:rPr lang="en-US" i="1" dirty="0" smtClean="0"/>
              <a:t>B</a:t>
            </a:r>
          </a:p>
          <a:p>
            <a:pPr lvl="1">
              <a:lnSpc>
                <a:spcPct val="160000"/>
              </a:lnSpc>
            </a:pPr>
            <a:r>
              <a:rPr lang="en-US" i="1" dirty="0" smtClean="0"/>
              <a:t>B</a:t>
            </a:r>
            <a:r>
              <a:rPr lang="en-US" dirty="0" smtClean="0"/>
              <a:t> decrypts </a:t>
            </a:r>
            <a:r>
              <a:rPr lang="en-US" i="1" dirty="0" err="1" smtClean="0"/>
              <a:t>enc</a:t>
            </a:r>
            <a:r>
              <a:rPr lang="en-US" i="1" baseline="-25000" dirty="0" err="1" smtClean="0"/>
              <a:t>KBT</a:t>
            </a:r>
            <a:r>
              <a:rPr lang="en-US" i="1" dirty="0" smtClean="0"/>
              <a:t>(K</a:t>
            </a:r>
            <a:r>
              <a:rPr lang="en-US" i="1" baseline="-25000" dirty="0" smtClean="0"/>
              <a:t>AB</a:t>
            </a:r>
            <a:r>
              <a:rPr lang="en-US" i="1" dirty="0" smtClean="0"/>
              <a:t>, I</a:t>
            </a:r>
            <a:r>
              <a:rPr lang="en-US" i="1" baseline="-25000" dirty="0" smtClean="0"/>
              <a:t>A</a:t>
            </a:r>
            <a:r>
              <a:rPr lang="en-US" i="1" dirty="0" smtClean="0"/>
              <a:t> ) </a:t>
            </a:r>
            <a:r>
              <a:rPr lang="en-US" dirty="0" smtClean="0"/>
              <a:t>and obtains the key </a:t>
            </a:r>
            <a:r>
              <a:rPr lang="en-US" i="1" dirty="0" smtClean="0"/>
              <a:t>K</a:t>
            </a:r>
            <a:r>
              <a:rPr lang="en-US" i="1" baseline="-25000" dirty="0" smtClean="0"/>
              <a:t>AB</a:t>
            </a:r>
            <a:endParaRPr lang="en-US" i="1" baseline="-250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III: Discussion</a:t>
            </a:r>
            <a:endParaRPr lang="en-US" b="1" dirty="0">
              <a:solidFill>
                <a:srgbClr val="0070C0"/>
              </a:solidFill>
            </a:endParaRPr>
          </a:p>
        </p:txBody>
      </p:sp>
      <p:sp>
        <p:nvSpPr>
          <p:cNvPr id="3" name="Content Placeholder 2"/>
          <p:cNvSpPr>
            <a:spLocks noGrp="1"/>
          </p:cNvSpPr>
          <p:nvPr>
            <p:ph sz="quarter" idx="1"/>
          </p:nvPr>
        </p:nvSpPr>
        <p:spPr/>
        <p:txBody>
          <a:bodyPr>
            <a:normAutofit lnSpcReduction="10000"/>
          </a:bodyPr>
          <a:lstStyle/>
          <a:p>
            <a:pPr>
              <a:lnSpc>
                <a:spcPct val="150000"/>
              </a:lnSpc>
            </a:pPr>
            <a:r>
              <a:rPr lang="en-US" dirty="0" smtClean="0"/>
              <a:t>Features</a:t>
            </a:r>
          </a:p>
          <a:p>
            <a:pPr lvl="1">
              <a:lnSpc>
                <a:spcPct val="150000"/>
              </a:lnSpc>
            </a:pPr>
            <a:r>
              <a:rPr lang="en-US" dirty="0" smtClean="0"/>
              <a:t>IDs of the participants are cryptographically bound to the session key</a:t>
            </a:r>
          </a:p>
          <a:p>
            <a:pPr>
              <a:lnSpc>
                <a:spcPct val="150000"/>
              </a:lnSpc>
            </a:pPr>
            <a:r>
              <a:rPr lang="en-US" dirty="0" smtClean="0"/>
              <a:t>Both previous attacks do not work anymore</a:t>
            </a:r>
          </a:p>
          <a:p>
            <a:pPr lvl="1">
              <a:lnSpc>
                <a:spcPct val="150000"/>
              </a:lnSpc>
            </a:pPr>
            <a:r>
              <a:rPr lang="en-US" dirty="0" smtClean="0"/>
              <a:t>Because of the non‐malleability of the underlying encryption scheme it is not possible to alter the content of encrypted messages, i.e., the adversary is not able to change the encrypted identifiers in message 2 and 3: </a:t>
            </a:r>
            <a:r>
              <a:rPr lang="en-US" i="1" dirty="0" err="1" smtClean="0"/>
              <a:t>enc</a:t>
            </a:r>
            <a:r>
              <a:rPr lang="en-US" i="1" baseline="-25000" dirty="0" err="1" smtClean="0"/>
              <a:t>KAT</a:t>
            </a:r>
            <a:r>
              <a:rPr lang="en-US" i="1" dirty="0" smtClean="0"/>
              <a:t>(K</a:t>
            </a:r>
            <a:r>
              <a:rPr lang="en-US" i="1" baseline="-25000" dirty="0" smtClean="0"/>
              <a:t>AB</a:t>
            </a:r>
            <a:r>
              <a:rPr lang="en-US" i="1" dirty="0" smtClean="0"/>
              <a:t>, I</a:t>
            </a:r>
            <a:r>
              <a:rPr lang="en-US" i="1" baseline="-25000" dirty="0" smtClean="0"/>
              <a:t>B</a:t>
            </a:r>
            <a:r>
              <a:rPr lang="en-US" i="1" dirty="0" smtClean="0"/>
              <a:t> ), </a:t>
            </a:r>
            <a:r>
              <a:rPr lang="en-US" i="1" dirty="0" err="1" smtClean="0"/>
              <a:t>enc</a:t>
            </a:r>
            <a:r>
              <a:rPr lang="en-US" i="1" baseline="-25000" dirty="0" err="1" smtClean="0"/>
              <a:t>KBT</a:t>
            </a:r>
            <a:r>
              <a:rPr lang="en-US" i="1" dirty="0" smtClean="0"/>
              <a:t>(K</a:t>
            </a:r>
            <a:r>
              <a:rPr lang="en-US" i="1" baseline="-25000" dirty="0" smtClean="0"/>
              <a:t>AB</a:t>
            </a:r>
            <a:r>
              <a:rPr lang="en-US" i="1" dirty="0" smtClean="0"/>
              <a:t>, I</a:t>
            </a:r>
            <a:r>
              <a:rPr lang="en-US" i="1" baseline="-25000" dirty="0" smtClean="0"/>
              <a:t>A</a:t>
            </a:r>
            <a:r>
              <a:rPr lang="en-US" i="1" dirty="0" smtClean="0"/>
              <a:t> )</a:t>
            </a:r>
            <a:endParaRPr lang="en-US" i="1"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III: Discussion (</a:t>
            </a:r>
            <a:r>
              <a:rPr lang="en-US" b="1" dirty="0" err="1" smtClean="0">
                <a:solidFill>
                  <a:srgbClr val="0070C0"/>
                </a:solidFill>
              </a:rPr>
              <a:t>cntd</a:t>
            </a:r>
            <a:r>
              <a:rPr lang="en-US" b="1" dirty="0" smtClean="0">
                <a:solidFill>
                  <a:srgbClr val="0070C0"/>
                </a:solidFill>
              </a:rPr>
              <a:t>.)</a:t>
            </a:r>
            <a:endParaRPr lang="en-US" b="1" dirty="0">
              <a:solidFill>
                <a:srgbClr val="0070C0"/>
              </a:solidFill>
            </a:endParaRPr>
          </a:p>
        </p:txBody>
      </p:sp>
      <p:sp>
        <p:nvSpPr>
          <p:cNvPr id="3" name="Content Placeholder 2"/>
          <p:cNvSpPr>
            <a:spLocks noGrp="1"/>
          </p:cNvSpPr>
          <p:nvPr>
            <p:ph sz="quarter" idx="1"/>
          </p:nvPr>
        </p:nvSpPr>
        <p:spPr/>
        <p:txBody>
          <a:bodyPr>
            <a:normAutofit fontScale="70000" lnSpcReduction="20000"/>
          </a:bodyPr>
          <a:lstStyle/>
          <a:p>
            <a:pPr>
              <a:lnSpc>
                <a:spcPct val="160000"/>
              </a:lnSpc>
            </a:pPr>
            <a:r>
              <a:rPr lang="en-US" dirty="0" smtClean="0"/>
              <a:t>Role of the encryption </a:t>
            </a:r>
            <a:r>
              <a:rPr lang="en-US" i="1" dirty="0" err="1" smtClean="0"/>
              <a:t>enc</a:t>
            </a:r>
            <a:r>
              <a:rPr lang="en-US" i="1" baseline="-25000" dirty="0" err="1" smtClean="0"/>
              <a:t>KAT</a:t>
            </a:r>
            <a:r>
              <a:rPr lang="en-US" i="1" dirty="0" smtClean="0"/>
              <a:t>(K</a:t>
            </a:r>
            <a:r>
              <a:rPr lang="en-US" i="1" baseline="-25000" dirty="0" smtClean="0"/>
              <a:t>AB</a:t>
            </a:r>
            <a:r>
              <a:rPr lang="en-US" i="1" dirty="0" smtClean="0"/>
              <a:t>, I</a:t>
            </a:r>
            <a:r>
              <a:rPr lang="en-US" i="1" baseline="-25000" dirty="0" smtClean="0"/>
              <a:t>B</a:t>
            </a:r>
            <a:r>
              <a:rPr lang="en-US" i="1" dirty="0" smtClean="0"/>
              <a:t> )</a:t>
            </a:r>
            <a:r>
              <a:rPr lang="en-US" dirty="0" smtClean="0"/>
              <a:t>:The encryption scheme enc here should achieve much more that confidentiality</a:t>
            </a:r>
          </a:p>
          <a:p>
            <a:pPr lvl="1">
              <a:lnSpc>
                <a:spcPct val="160000"/>
              </a:lnSpc>
            </a:pPr>
            <a:r>
              <a:rPr lang="en-US" dirty="0" smtClean="0"/>
              <a:t>Confidentiality</a:t>
            </a:r>
          </a:p>
          <a:p>
            <a:pPr lvl="2">
              <a:lnSpc>
                <a:spcPct val="160000"/>
              </a:lnSpc>
            </a:pPr>
            <a:r>
              <a:rPr lang="en-US" dirty="0" smtClean="0"/>
              <a:t>The encryption should hide the new session key </a:t>
            </a:r>
            <a:r>
              <a:rPr lang="en-US" i="1" dirty="0" smtClean="0"/>
              <a:t>K</a:t>
            </a:r>
            <a:r>
              <a:rPr lang="en-US" i="1" baseline="-25000" dirty="0" smtClean="0"/>
              <a:t>AB</a:t>
            </a:r>
          </a:p>
          <a:p>
            <a:pPr lvl="1">
              <a:lnSpc>
                <a:spcPct val="160000"/>
              </a:lnSpc>
            </a:pPr>
            <a:r>
              <a:rPr lang="en-US" dirty="0" smtClean="0"/>
              <a:t>Authenticity:</a:t>
            </a:r>
          </a:p>
          <a:p>
            <a:pPr lvl="2">
              <a:lnSpc>
                <a:spcPct val="160000"/>
              </a:lnSpc>
            </a:pPr>
            <a:r>
              <a:rPr lang="en-US" i="1" dirty="0" smtClean="0"/>
              <a:t>A</a:t>
            </a:r>
            <a:r>
              <a:rPr lang="en-US" dirty="0" smtClean="0"/>
              <a:t> can be sure that this message have been generated by </a:t>
            </a:r>
            <a:r>
              <a:rPr lang="en-US" i="1" dirty="0" smtClean="0"/>
              <a:t>T</a:t>
            </a:r>
            <a:r>
              <a:rPr lang="en-US" dirty="0" smtClean="0"/>
              <a:t>, since only </a:t>
            </a:r>
            <a:r>
              <a:rPr lang="en-US" i="1" dirty="0" smtClean="0"/>
              <a:t>T</a:t>
            </a:r>
            <a:r>
              <a:rPr lang="en-US" dirty="0" smtClean="0"/>
              <a:t> knows the key </a:t>
            </a:r>
            <a:r>
              <a:rPr lang="en-US" i="1" dirty="0" smtClean="0"/>
              <a:t>K</a:t>
            </a:r>
            <a:r>
              <a:rPr lang="en-US" i="1" baseline="-25000" dirty="0" smtClean="0"/>
              <a:t>AT</a:t>
            </a:r>
            <a:r>
              <a:rPr lang="en-US" dirty="0" smtClean="0"/>
              <a:t> and can encrypt with it</a:t>
            </a:r>
          </a:p>
          <a:p>
            <a:pPr lvl="1">
              <a:lnSpc>
                <a:spcPct val="160000"/>
              </a:lnSpc>
            </a:pPr>
            <a:r>
              <a:rPr lang="en-US" dirty="0" smtClean="0"/>
              <a:t>Cryptographically binding</a:t>
            </a:r>
          </a:p>
          <a:p>
            <a:pPr lvl="2">
              <a:lnSpc>
                <a:spcPct val="160000"/>
              </a:lnSpc>
            </a:pPr>
            <a:r>
              <a:rPr lang="en-US" dirty="0" smtClean="0"/>
              <a:t>The encrypted message parts </a:t>
            </a:r>
            <a:r>
              <a:rPr lang="en-US" i="1" dirty="0" smtClean="0"/>
              <a:t>K</a:t>
            </a:r>
            <a:r>
              <a:rPr lang="en-US" i="1" baseline="-25000" dirty="0" smtClean="0"/>
              <a:t>AB</a:t>
            </a:r>
            <a:r>
              <a:rPr lang="en-US" dirty="0" smtClean="0"/>
              <a:t> and </a:t>
            </a:r>
            <a:r>
              <a:rPr lang="en-US" i="1" dirty="0" smtClean="0"/>
              <a:t>I</a:t>
            </a:r>
            <a:r>
              <a:rPr lang="en-US" i="1" baseline="-25000" dirty="0" smtClean="0"/>
              <a:t>B</a:t>
            </a:r>
            <a:r>
              <a:rPr lang="en-US" dirty="0" smtClean="0"/>
              <a:t> are bound to each other</a:t>
            </a:r>
          </a:p>
          <a:p>
            <a:pPr lvl="1">
              <a:lnSpc>
                <a:spcPct val="160000"/>
              </a:lnSpc>
            </a:pPr>
            <a:r>
              <a:rPr lang="en-US" dirty="0" smtClean="0"/>
              <a:t>Integrity</a:t>
            </a:r>
          </a:p>
          <a:p>
            <a:pPr lvl="2">
              <a:lnSpc>
                <a:spcPct val="160000"/>
              </a:lnSpc>
            </a:pPr>
            <a:r>
              <a:rPr lang="en-US" dirty="0" smtClean="0"/>
              <a:t>If the encryption scheme enc has the feature of non‐malleability, it is not possible to manipulate the </a:t>
            </a:r>
            <a:r>
              <a:rPr lang="en-US" dirty="0" err="1" smtClean="0"/>
              <a:t>ciphertextand</a:t>
            </a:r>
            <a:r>
              <a:rPr lang="en-US" dirty="0" smtClean="0"/>
              <a:t> change it in order to achieve some desired plaintext (e.g. to change </a:t>
            </a:r>
            <a:r>
              <a:rPr lang="en-US" i="1" dirty="0" smtClean="0"/>
              <a:t>I</a:t>
            </a:r>
            <a:r>
              <a:rPr lang="en-US" i="1" baseline="-25000" dirty="0" smtClean="0"/>
              <a:t>B</a:t>
            </a:r>
            <a:r>
              <a:rPr lang="en-US" dirty="0" smtClean="0"/>
              <a:t> in </a:t>
            </a:r>
            <a:r>
              <a:rPr lang="en-US" i="1" dirty="0" smtClean="0"/>
              <a:t>I</a:t>
            </a:r>
            <a:r>
              <a:rPr lang="en-US" i="1" baseline="-25000" dirty="0" smtClean="0"/>
              <a:t>C</a:t>
            </a:r>
            <a:r>
              <a:rPr lang="en-US" dirty="0" smtClean="0"/>
              <a:t>)</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III: Problems</a:t>
            </a:r>
            <a:endParaRPr lang="en-US" b="1" dirty="0">
              <a:solidFill>
                <a:srgbClr val="0070C0"/>
              </a:solidFill>
            </a:endParaRPr>
          </a:p>
        </p:txBody>
      </p:sp>
      <p:sp>
        <p:nvSpPr>
          <p:cNvPr id="3" name="Content Placeholder 2"/>
          <p:cNvSpPr>
            <a:spLocks noGrp="1"/>
          </p:cNvSpPr>
          <p:nvPr>
            <p:ph sz="quarter" idx="1"/>
          </p:nvPr>
        </p:nvSpPr>
        <p:spPr/>
        <p:txBody>
          <a:bodyPr>
            <a:normAutofit/>
          </a:bodyPr>
          <a:lstStyle/>
          <a:p>
            <a:r>
              <a:rPr lang="en-US" dirty="0" smtClean="0"/>
              <a:t>Adversary Model</a:t>
            </a:r>
          </a:p>
          <a:p>
            <a:pPr lvl="1"/>
            <a:r>
              <a:rPr lang="en-US" dirty="0" smtClean="0"/>
              <a:t>The adversary is allowed</a:t>
            </a:r>
          </a:p>
          <a:p>
            <a:pPr lvl="2"/>
            <a:r>
              <a:rPr lang="en-US" dirty="0" smtClean="0"/>
              <a:t>to use messages recorded in any previous run of the protocol</a:t>
            </a:r>
          </a:p>
          <a:p>
            <a:pPr lvl="2"/>
            <a:r>
              <a:rPr lang="en-US" dirty="0" smtClean="0"/>
              <a:t>to obtain the session key of any previous run of the protocol</a:t>
            </a:r>
          </a:p>
          <a:p>
            <a:r>
              <a:rPr lang="en-US" dirty="0" smtClean="0"/>
              <a:t>Problems</a:t>
            </a:r>
          </a:p>
          <a:p>
            <a:pPr lvl="1"/>
            <a:r>
              <a:rPr lang="en-US" dirty="0" smtClean="0"/>
              <a:t>Reuse of old protocol messages or message fields from pervious protocol runs (replay attack)</a:t>
            </a:r>
          </a:p>
          <a:p>
            <a:pPr lvl="1"/>
            <a:r>
              <a:rPr lang="en-US" dirty="0" smtClean="0"/>
              <a:t>Adversary might also be in possession of old session keys</a:t>
            </a:r>
          </a:p>
          <a:p>
            <a:pPr lvl="2"/>
            <a:r>
              <a:rPr lang="en-US" dirty="0" smtClean="0"/>
              <a:t>Old session keys are vulnerable to attacks because</a:t>
            </a:r>
          </a:p>
          <a:p>
            <a:pPr lvl="3"/>
            <a:r>
              <a:rPr lang="en-US" dirty="0" smtClean="0"/>
              <a:t>they may be used with a variety of regular data formats (might make cryptanalysis easier)</a:t>
            </a:r>
          </a:p>
          <a:p>
            <a:pPr lvl="3"/>
            <a:r>
              <a:rPr lang="en-US" dirty="0" smtClean="0"/>
              <a:t>they may be stored at insecure locations (e.g., RAM) or discarded carelessly after the session</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9594" y="3810000"/>
            <a:ext cx="762000" cy="2390775"/>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III: Replay Attack</a:t>
            </a:r>
            <a:endParaRPr lang="en-US" b="1" dirty="0">
              <a:solidFill>
                <a:srgbClr val="0070C0"/>
              </a:solidFill>
            </a:endParaRPr>
          </a:p>
        </p:txBody>
      </p:sp>
      <p:sp>
        <p:nvSpPr>
          <p:cNvPr id="3" name="Content Placeholder 2"/>
          <p:cNvSpPr>
            <a:spLocks noGrp="1"/>
          </p:cNvSpPr>
          <p:nvPr>
            <p:ph sz="quarter" idx="1"/>
          </p:nvPr>
        </p:nvSpPr>
        <p:spPr/>
        <p:txBody>
          <a:bodyPr>
            <a:normAutofit fontScale="62500" lnSpcReduction="20000"/>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sz="2400" dirty="0" smtClean="0"/>
              <a:t>The adversary </a:t>
            </a:r>
            <a:r>
              <a:rPr lang="en-US" sz="2400" i="1" dirty="0" smtClean="0"/>
              <a:t>Adv </a:t>
            </a:r>
            <a:r>
              <a:rPr lang="en-US" sz="2400" dirty="0" smtClean="0"/>
              <a:t>: </a:t>
            </a:r>
          </a:p>
          <a:p>
            <a:pPr>
              <a:buNone/>
            </a:pPr>
            <a:r>
              <a:rPr lang="en-US" sz="2400" dirty="0" smtClean="0"/>
              <a:t>    -intercepts the message </a:t>
            </a:r>
            <a:r>
              <a:rPr lang="en-US" sz="2400" i="1" dirty="0" smtClean="0"/>
              <a:t>1</a:t>
            </a:r>
            <a:r>
              <a:rPr lang="en-US" sz="2400" dirty="0" smtClean="0"/>
              <a:t> intended for </a:t>
            </a:r>
            <a:r>
              <a:rPr lang="en-US" sz="2400" i="1" dirty="0" smtClean="0"/>
              <a:t>T </a:t>
            </a:r>
          </a:p>
          <a:p>
            <a:pPr>
              <a:buNone/>
            </a:pPr>
            <a:r>
              <a:rPr lang="en-US" sz="2400" dirty="0" smtClean="0"/>
              <a:t>    -injects an old message 2 containing an old session    key </a:t>
            </a:r>
            <a:r>
              <a:rPr lang="en-US" sz="2400" i="1" dirty="0" smtClean="0"/>
              <a:t>K’</a:t>
            </a:r>
            <a:r>
              <a:rPr lang="en-US" sz="2400" i="1" baseline="-25000" dirty="0" smtClean="0"/>
              <a:t>AB</a:t>
            </a:r>
            <a:endParaRPr lang="en-US" sz="2400" i="1" baseline="-25000" dirty="0"/>
          </a:p>
        </p:txBody>
      </p:sp>
      <p:pic>
        <p:nvPicPr>
          <p:cNvPr id="4" name="Picture 3" descr="fig8.bmp"/>
          <p:cNvPicPr>
            <a:picLocks noChangeAspect="1"/>
          </p:cNvPicPr>
          <p:nvPr/>
        </p:nvPicPr>
        <p:blipFill>
          <a:blip r:embed="rId2"/>
          <a:stretch>
            <a:fillRect/>
          </a:stretch>
        </p:blipFill>
        <p:spPr>
          <a:xfrm>
            <a:off x="0" y="1219200"/>
            <a:ext cx="9144000" cy="3900839"/>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Protocol III: Analysis of the Attack</a:t>
            </a:r>
            <a:endParaRPr lang="en-US" b="1" dirty="0">
              <a:solidFill>
                <a:srgbClr val="0070C0"/>
              </a:solidFill>
            </a:endParaRPr>
          </a:p>
        </p:txBody>
      </p:sp>
      <p:sp>
        <p:nvSpPr>
          <p:cNvPr id="3" name="Content Placeholder 2"/>
          <p:cNvSpPr>
            <a:spLocks noGrp="1"/>
          </p:cNvSpPr>
          <p:nvPr>
            <p:ph sz="quarter" idx="1"/>
          </p:nvPr>
        </p:nvSpPr>
        <p:spPr/>
        <p:txBody>
          <a:bodyPr>
            <a:normAutofit fontScale="92500" lnSpcReduction="20000"/>
          </a:bodyPr>
          <a:lstStyle/>
          <a:p>
            <a:pPr>
              <a:lnSpc>
                <a:spcPct val="150000"/>
              </a:lnSpc>
            </a:pPr>
            <a:r>
              <a:rPr lang="en-US" dirty="0" smtClean="0"/>
              <a:t>Consequence of the replay attack</a:t>
            </a:r>
          </a:p>
          <a:p>
            <a:pPr lvl="1">
              <a:lnSpc>
                <a:spcPct val="150000"/>
              </a:lnSpc>
            </a:pPr>
            <a:r>
              <a:rPr lang="en-US" i="1" dirty="0" smtClean="0"/>
              <a:t>Adv</a:t>
            </a:r>
            <a:r>
              <a:rPr lang="en-US" dirty="0" smtClean="0"/>
              <a:t> makes </a:t>
            </a:r>
            <a:r>
              <a:rPr lang="en-US" i="1" dirty="0" smtClean="0"/>
              <a:t>A</a:t>
            </a:r>
            <a:r>
              <a:rPr lang="en-US" dirty="0" smtClean="0"/>
              <a:t> and </a:t>
            </a:r>
            <a:r>
              <a:rPr lang="en-US" i="1" dirty="0" smtClean="0"/>
              <a:t>B</a:t>
            </a:r>
            <a:r>
              <a:rPr lang="en-US" dirty="0" smtClean="0"/>
              <a:t> to use an old session key </a:t>
            </a:r>
            <a:r>
              <a:rPr lang="en-US" i="1" dirty="0" smtClean="0"/>
              <a:t>K’</a:t>
            </a:r>
            <a:r>
              <a:rPr lang="en-US" i="1" baseline="-25000" dirty="0" smtClean="0"/>
              <a:t>AB</a:t>
            </a:r>
          </a:p>
          <a:p>
            <a:pPr>
              <a:lnSpc>
                <a:spcPct val="150000"/>
              </a:lnSpc>
            </a:pPr>
            <a:r>
              <a:rPr lang="en-US" dirty="0" smtClean="0"/>
              <a:t>Adversary might know </a:t>
            </a:r>
            <a:r>
              <a:rPr lang="en-US" i="1" dirty="0" smtClean="0"/>
              <a:t>K’</a:t>
            </a:r>
            <a:r>
              <a:rPr lang="en-US" i="1" baseline="-25000" dirty="0" smtClean="0"/>
              <a:t>AB</a:t>
            </a:r>
          </a:p>
          <a:p>
            <a:pPr lvl="1">
              <a:lnSpc>
                <a:spcPct val="150000"/>
              </a:lnSpc>
            </a:pPr>
            <a:r>
              <a:rPr lang="en-US" dirty="0" smtClean="0"/>
              <a:t>Then </a:t>
            </a:r>
            <a:r>
              <a:rPr lang="en-US" i="1" dirty="0" smtClean="0"/>
              <a:t>Adv</a:t>
            </a:r>
            <a:r>
              <a:rPr lang="en-US" dirty="0" smtClean="0"/>
              <a:t> is able to decrypt or alter all messages encrypted with </a:t>
            </a:r>
            <a:r>
              <a:rPr lang="en-US" i="1" dirty="0" smtClean="0"/>
              <a:t>K’</a:t>
            </a:r>
            <a:r>
              <a:rPr lang="en-US" i="1" baseline="-25000" dirty="0" smtClean="0"/>
              <a:t>AB</a:t>
            </a:r>
          </a:p>
          <a:p>
            <a:pPr>
              <a:lnSpc>
                <a:spcPct val="150000"/>
              </a:lnSpc>
            </a:pPr>
            <a:r>
              <a:rPr lang="en-US" dirty="0" smtClean="0"/>
              <a:t>Remarks</a:t>
            </a:r>
          </a:p>
          <a:p>
            <a:pPr lvl="1">
              <a:lnSpc>
                <a:spcPct val="150000"/>
              </a:lnSpc>
            </a:pPr>
            <a:r>
              <a:rPr lang="en-US" dirty="0" smtClean="0"/>
              <a:t>The attack is successful even if </a:t>
            </a:r>
            <a:r>
              <a:rPr lang="en-US" i="1" dirty="0" smtClean="0"/>
              <a:t>K’</a:t>
            </a:r>
            <a:r>
              <a:rPr lang="en-US" i="1" baseline="-25000" dirty="0" smtClean="0"/>
              <a:t>AB</a:t>
            </a:r>
            <a:r>
              <a:rPr lang="en-US" dirty="0" smtClean="0"/>
              <a:t> is unknown to </a:t>
            </a:r>
            <a:r>
              <a:rPr lang="en-US" i="1" dirty="0" smtClean="0"/>
              <a:t>Adv</a:t>
            </a:r>
            <a:r>
              <a:rPr lang="en-US" dirty="0" smtClean="0"/>
              <a:t> since </a:t>
            </a:r>
            <a:r>
              <a:rPr lang="en-US" i="1" dirty="0" smtClean="0"/>
              <a:t>Adv</a:t>
            </a:r>
            <a:r>
              <a:rPr lang="en-US" dirty="0" smtClean="0"/>
              <a:t> forces </a:t>
            </a:r>
            <a:r>
              <a:rPr lang="en-US" i="1" dirty="0" smtClean="0"/>
              <a:t>A</a:t>
            </a:r>
            <a:r>
              <a:rPr lang="en-US" dirty="0" smtClean="0"/>
              <a:t> and </a:t>
            </a:r>
            <a:r>
              <a:rPr lang="en-US" i="1" dirty="0" smtClean="0"/>
              <a:t>B</a:t>
            </a:r>
            <a:r>
              <a:rPr lang="en-US" dirty="0" smtClean="0"/>
              <a:t> to accept an old session key</a:t>
            </a:r>
          </a:p>
          <a:p>
            <a:pPr lvl="1">
              <a:lnSpc>
                <a:spcPct val="150000"/>
              </a:lnSpc>
            </a:pPr>
            <a:r>
              <a:rPr lang="en-US" dirty="0" smtClean="0"/>
              <a:t>If the attack has been successful, the adversary might </a:t>
            </a:r>
          </a:p>
          <a:p>
            <a:pPr lvl="2">
              <a:lnSpc>
                <a:spcPct val="150000"/>
              </a:lnSpc>
            </a:pPr>
            <a:r>
              <a:rPr lang="en-US" dirty="0" smtClean="0"/>
              <a:t>obtain more </a:t>
            </a:r>
            <a:r>
              <a:rPr lang="en-US" dirty="0" err="1" smtClean="0"/>
              <a:t>ciphertext</a:t>
            </a:r>
            <a:r>
              <a:rPr lang="en-US" dirty="0" smtClean="0"/>
              <a:t> created with </a:t>
            </a:r>
            <a:r>
              <a:rPr lang="en-US" i="1" dirty="0" smtClean="0"/>
              <a:t>K’</a:t>
            </a:r>
            <a:r>
              <a:rPr lang="en-US" i="1" baseline="-25000" dirty="0" smtClean="0"/>
              <a:t>AB</a:t>
            </a:r>
            <a:r>
              <a:rPr lang="en-US" dirty="0" smtClean="0"/>
              <a:t> for crypt‐analysis or even </a:t>
            </a:r>
          </a:p>
          <a:p>
            <a:pPr lvl="2">
              <a:lnSpc>
                <a:spcPct val="150000"/>
              </a:lnSpc>
            </a:pPr>
            <a:r>
              <a:rPr lang="en-US" dirty="0" smtClean="0"/>
              <a:t>decrypt sessions protected by </a:t>
            </a:r>
            <a:r>
              <a:rPr lang="en-US" i="1" dirty="0" smtClean="0"/>
              <a:t>K’</a:t>
            </a:r>
            <a:r>
              <a:rPr lang="en-US" i="1" baseline="-25000" dirty="0" smtClean="0"/>
              <a:t>AB</a:t>
            </a:r>
            <a:endParaRPr lang="en-US" i="1" baseline="-250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Protocol III: Possible Countermeasures against Replay Attacks</a:t>
            </a:r>
            <a:endParaRPr lang="en-US" b="1" dirty="0">
              <a:solidFill>
                <a:srgbClr val="0070C0"/>
              </a:solidFill>
            </a:endParaRPr>
          </a:p>
        </p:txBody>
      </p:sp>
      <p:sp>
        <p:nvSpPr>
          <p:cNvPr id="3" name="Content Placeholder 2"/>
          <p:cNvSpPr>
            <a:spLocks noGrp="1"/>
          </p:cNvSpPr>
          <p:nvPr>
            <p:ph sz="quarter" idx="1"/>
          </p:nvPr>
        </p:nvSpPr>
        <p:spPr/>
        <p:txBody>
          <a:bodyPr>
            <a:normAutofit/>
          </a:bodyPr>
          <a:lstStyle/>
          <a:p>
            <a:r>
              <a:rPr lang="en-US" dirty="0" smtClean="0"/>
              <a:t>There are several possible measures against replay attacks (see the coming slides):</a:t>
            </a:r>
          </a:p>
          <a:p>
            <a:pPr lvl="1"/>
            <a:r>
              <a:rPr lang="en-US" dirty="0" smtClean="0"/>
              <a:t>each party has its fresh own input to the key generation</a:t>
            </a:r>
          </a:p>
          <a:p>
            <a:pPr lvl="1"/>
            <a:r>
              <a:rPr lang="en-US" dirty="0" err="1" smtClean="0"/>
              <a:t>nonces</a:t>
            </a:r>
            <a:endParaRPr lang="en-US" dirty="0" smtClean="0"/>
          </a:p>
          <a:p>
            <a:pPr lvl="1"/>
            <a:r>
              <a:rPr lang="en-US" dirty="0" smtClean="0"/>
              <a:t>timestamps</a:t>
            </a:r>
          </a:p>
          <a:p>
            <a:pPr lvl="1"/>
            <a:r>
              <a:rPr lang="en-US" dirty="0" smtClean="0"/>
              <a:t>sequence numbers</a:t>
            </a:r>
          </a:p>
          <a:p>
            <a:r>
              <a:rPr lang="en-US" dirty="0" smtClean="0"/>
              <a:t>One possible solution: Use of </a:t>
            </a:r>
            <a:r>
              <a:rPr lang="en-US" dirty="0" err="1" smtClean="0"/>
              <a:t>nonces</a:t>
            </a:r>
            <a:endParaRPr lang="en-US" dirty="0" smtClean="0"/>
          </a:p>
          <a:p>
            <a:pPr lvl="1"/>
            <a:r>
              <a:rPr lang="en-US" dirty="0" smtClean="0"/>
              <a:t>Nonce: </a:t>
            </a:r>
            <a:r>
              <a:rPr lang="en-US" i="1" dirty="0" smtClean="0"/>
              <a:t>A</a:t>
            </a:r>
            <a:r>
              <a:rPr lang="en-US" dirty="0" smtClean="0"/>
              <a:t> (random) value </a:t>
            </a:r>
            <a:r>
              <a:rPr lang="en-US" i="1" dirty="0" smtClean="0"/>
              <a:t>N</a:t>
            </a:r>
            <a:r>
              <a:rPr lang="en-US" dirty="0" smtClean="0"/>
              <a:t> which is generated by one party and returned by the other party and which is cryptographically bound (e.g., via encryption) to a message 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858000" y="5029201"/>
            <a:ext cx="844409" cy="1219200"/>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Basic Idea of Using </a:t>
            </a:r>
            <a:r>
              <a:rPr lang="en-US" b="1" dirty="0" err="1" smtClean="0">
                <a:solidFill>
                  <a:srgbClr val="0070C0"/>
                </a:solidFill>
              </a:rPr>
              <a:t>Nonces</a:t>
            </a:r>
            <a:endParaRPr lang="en-US" b="1" dirty="0">
              <a:solidFill>
                <a:srgbClr val="0070C0"/>
              </a:solidFill>
            </a:endParaRPr>
          </a:p>
        </p:txBody>
      </p:sp>
      <p:pic>
        <p:nvPicPr>
          <p:cNvPr id="5" name="Content Placeholder 4" descr="fig9.bmp"/>
          <p:cNvPicPr>
            <a:picLocks noGrp="1" noChangeAspect="1"/>
          </p:cNvPicPr>
          <p:nvPr>
            <p:ph sz="quarter" idx="1"/>
          </p:nvPr>
        </p:nvPicPr>
        <p:blipFill>
          <a:blip r:embed="rId2"/>
          <a:stretch>
            <a:fillRect/>
          </a:stretch>
        </p:blipFill>
        <p:spPr>
          <a:xfrm>
            <a:off x="381000" y="1371600"/>
            <a:ext cx="4229765" cy="3429000"/>
          </a:xfrm>
        </p:spPr>
      </p:pic>
      <p:sp>
        <p:nvSpPr>
          <p:cNvPr id="4" name="Content Placeholder 3"/>
          <p:cNvSpPr>
            <a:spLocks noGrp="1"/>
          </p:cNvSpPr>
          <p:nvPr>
            <p:ph sz="quarter" idx="2"/>
          </p:nvPr>
        </p:nvSpPr>
        <p:spPr/>
        <p:txBody>
          <a:bodyPr>
            <a:normAutofit/>
          </a:bodyPr>
          <a:lstStyle/>
          <a:p>
            <a:r>
              <a:rPr lang="en-US" sz="1800" dirty="0" smtClean="0"/>
              <a:t>Assumption: Only </a:t>
            </a:r>
            <a:r>
              <a:rPr lang="en-US" sz="1800" i="1" dirty="0" smtClean="0"/>
              <a:t>A</a:t>
            </a:r>
            <a:r>
              <a:rPr lang="en-US" sz="1800" dirty="0" smtClean="0"/>
              <a:t> and </a:t>
            </a:r>
            <a:r>
              <a:rPr lang="en-US" sz="1800" i="1" dirty="0" smtClean="0"/>
              <a:t>B</a:t>
            </a:r>
            <a:r>
              <a:rPr lang="en-US" sz="1800" dirty="0" smtClean="0"/>
              <a:t> share key </a:t>
            </a:r>
            <a:r>
              <a:rPr lang="en-US" sz="1800" i="1" dirty="0" smtClean="0"/>
              <a:t>K</a:t>
            </a:r>
            <a:r>
              <a:rPr lang="en-US" sz="1800" i="1" baseline="-25000" dirty="0" smtClean="0"/>
              <a:t>AB</a:t>
            </a:r>
          </a:p>
          <a:p>
            <a:pPr lvl="1">
              <a:buNone/>
            </a:pPr>
            <a:r>
              <a:rPr lang="en-US" sz="1800" dirty="0" smtClean="0"/>
              <a:t>1.  </a:t>
            </a:r>
            <a:r>
              <a:rPr lang="en-US" sz="1800" i="1" dirty="0" smtClean="0"/>
              <a:t>A</a:t>
            </a:r>
            <a:r>
              <a:rPr lang="en-US" sz="1800" dirty="0" smtClean="0"/>
              <a:t> randomly chooses nonce </a:t>
            </a:r>
            <a:r>
              <a:rPr lang="en-US" sz="1800" i="1" dirty="0" smtClean="0"/>
              <a:t>N</a:t>
            </a:r>
            <a:r>
              <a:rPr lang="en-US" sz="1800" dirty="0" smtClean="0"/>
              <a:t> and sends it to </a:t>
            </a:r>
            <a:r>
              <a:rPr lang="en-US" sz="1800" i="1" dirty="0" smtClean="0"/>
              <a:t>B</a:t>
            </a:r>
          </a:p>
          <a:p>
            <a:pPr lvl="1">
              <a:buNone/>
            </a:pPr>
            <a:r>
              <a:rPr lang="en-US" sz="1800" dirty="0" smtClean="0"/>
              <a:t>2. </a:t>
            </a:r>
            <a:r>
              <a:rPr lang="en-US" sz="1800" i="1" dirty="0" smtClean="0"/>
              <a:t>B</a:t>
            </a:r>
            <a:r>
              <a:rPr lang="en-US" sz="1800" dirty="0" smtClean="0"/>
              <a:t> cryptographically binds it to its message m, e.g., by encrypting it with </a:t>
            </a:r>
            <a:r>
              <a:rPr lang="en-US" sz="1800" i="1" dirty="0" smtClean="0"/>
              <a:t>K</a:t>
            </a:r>
            <a:r>
              <a:rPr lang="en-US" sz="1800" i="1" baseline="-25000" dirty="0" smtClean="0"/>
              <a:t>AB</a:t>
            </a:r>
          </a:p>
          <a:p>
            <a:pPr lvl="1">
              <a:buNone/>
            </a:pPr>
            <a:r>
              <a:rPr lang="en-US" sz="1800" dirty="0" smtClean="0"/>
              <a:t>3. If message 2 contains </a:t>
            </a:r>
            <a:r>
              <a:rPr lang="en-US" sz="1800" i="1" dirty="0" smtClean="0"/>
              <a:t>N</a:t>
            </a:r>
            <a:r>
              <a:rPr lang="en-US" sz="1800" dirty="0" smtClean="0"/>
              <a:t>, </a:t>
            </a:r>
            <a:r>
              <a:rPr lang="en-US" sz="1800" i="1" dirty="0" smtClean="0"/>
              <a:t>A</a:t>
            </a:r>
            <a:r>
              <a:rPr lang="en-US" sz="1800" dirty="0" smtClean="0"/>
              <a:t> knows, that </a:t>
            </a:r>
            <a:r>
              <a:rPr lang="en-US" sz="1800" i="1" dirty="0" smtClean="0"/>
              <a:t>B</a:t>
            </a:r>
            <a:r>
              <a:rPr lang="en-US" sz="1800" dirty="0" smtClean="0"/>
              <a:t> must have participated in the current protocol run (since only </a:t>
            </a:r>
            <a:r>
              <a:rPr lang="en-US" sz="1800" i="1" dirty="0" smtClean="0"/>
              <a:t>B</a:t>
            </a:r>
            <a:r>
              <a:rPr lang="en-US" sz="1800" dirty="0" smtClean="0"/>
              <a:t> knows </a:t>
            </a:r>
            <a:r>
              <a:rPr lang="en-US" sz="1800" i="1" dirty="0" smtClean="0"/>
              <a:t>K</a:t>
            </a:r>
            <a:r>
              <a:rPr lang="en-US" sz="1800" i="1" baseline="-25000" dirty="0" smtClean="0"/>
              <a:t>AB</a:t>
            </a:r>
            <a:r>
              <a:rPr lang="en-US" sz="1800" dirty="0" smtClean="0"/>
              <a:t> and thus only </a:t>
            </a:r>
            <a:r>
              <a:rPr lang="en-US" sz="1800" i="1" dirty="0" smtClean="0"/>
              <a:t>B</a:t>
            </a:r>
            <a:r>
              <a:rPr lang="en-US" sz="1800" dirty="0" smtClean="0"/>
              <a:t> was able to include </a:t>
            </a:r>
            <a:r>
              <a:rPr lang="en-US" sz="1800" i="1" dirty="0" smtClean="0"/>
              <a:t>N</a:t>
            </a:r>
            <a:r>
              <a:rPr lang="en-US" sz="1800" dirty="0" smtClean="0"/>
              <a:t> into message 2)</a:t>
            </a:r>
            <a:endParaRPr lang="en-US" sz="18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pt-BR" b="1" dirty="0" smtClean="0">
                <a:solidFill>
                  <a:srgbClr val="0070C0"/>
                </a:solidFill>
              </a:rPr>
              <a:t>Protocol IV (Needham‐Schroeder Protocol): Flow</a:t>
            </a:r>
            <a:endParaRPr lang="en-US" dirty="0"/>
          </a:p>
        </p:txBody>
      </p:sp>
      <p:pic>
        <p:nvPicPr>
          <p:cNvPr id="4" name="Content Placeholder 3" descr="fig10.bmp"/>
          <p:cNvPicPr>
            <a:picLocks noGrp="1" noChangeAspect="1"/>
          </p:cNvPicPr>
          <p:nvPr>
            <p:ph sz="quarter" idx="1"/>
          </p:nvPr>
        </p:nvPicPr>
        <p:blipFill>
          <a:blip r:embed="rId2"/>
          <a:stretch>
            <a:fillRect/>
          </a:stretch>
        </p:blipFill>
        <p:spPr>
          <a:xfrm>
            <a:off x="228600" y="1447800"/>
            <a:ext cx="8620799" cy="4572000"/>
          </a:xfr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solidFill>
                  <a:srgbClr val="0070C0"/>
                </a:solidFill>
              </a:rPr>
              <a:t>Neednam‐Schr</a:t>
            </a:r>
            <a:r>
              <a:rPr lang="en-US" b="1" dirty="0" smtClean="0">
                <a:solidFill>
                  <a:srgbClr val="0070C0"/>
                </a:solidFill>
              </a:rPr>
              <a:t>. Protocol: Description (1)</a:t>
            </a:r>
            <a:endParaRPr lang="en-US" dirty="0">
              <a:solidFill>
                <a:srgbClr val="0070C0"/>
              </a:solidFill>
            </a:endParaRPr>
          </a:p>
        </p:txBody>
      </p:sp>
      <p:sp>
        <p:nvSpPr>
          <p:cNvPr id="3" name="Content Placeholder 2"/>
          <p:cNvSpPr>
            <a:spLocks noGrp="1"/>
          </p:cNvSpPr>
          <p:nvPr>
            <p:ph sz="quarter" idx="1"/>
          </p:nvPr>
        </p:nvSpPr>
        <p:spPr/>
        <p:txBody>
          <a:bodyPr>
            <a:normAutofit/>
          </a:bodyPr>
          <a:lstStyle/>
          <a:p>
            <a:pPr>
              <a:lnSpc>
                <a:spcPct val="170000"/>
              </a:lnSpc>
            </a:pPr>
            <a:r>
              <a:rPr lang="en-US" sz="1200" dirty="0" smtClean="0"/>
              <a:t>Step 1:</a:t>
            </a:r>
          </a:p>
          <a:p>
            <a:pPr lvl="1">
              <a:lnSpc>
                <a:spcPct val="170000"/>
              </a:lnSpc>
            </a:pPr>
            <a:r>
              <a:rPr lang="en-US" sz="1200" i="1" dirty="0" smtClean="0"/>
              <a:t>A</a:t>
            </a:r>
            <a:r>
              <a:rPr lang="en-US" sz="1200" dirty="0" smtClean="0"/>
              <a:t> starts the protocol by sending its own identifier </a:t>
            </a:r>
            <a:r>
              <a:rPr lang="en-US" sz="1200" i="1" dirty="0" smtClean="0"/>
              <a:t>I</a:t>
            </a:r>
            <a:r>
              <a:rPr lang="en-US" sz="1200" i="1" baseline="-25000" dirty="0" smtClean="0"/>
              <a:t>A</a:t>
            </a:r>
            <a:r>
              <a:rPr lang="en-US" sz="1200" dirty="0" smtClean="0"/>
              <a:t> and the identifier </a:t>
            </a:r>
            <a:r>
              <a:rPr lang="en-US" sz="1200" i="1" dirty="0" smtClean="0"/>
              <a:t>I</a:t>
            </a:r>
            <a:r>
              <a:rPr lang="en-US" sz="1200" i="1" baseline="-25000" dirty="0" smtClean="0"/>
              <a:t>B</a:t>
            </a:r>
            <a:r>
              <a:rPr lang="en-US" sz="1200" dirty="0" smtClean="0"/>
              <a:t> of its intended communication partner </a:t>
            </a:r>
            <a:r>
              <a:rPr lang="en-US" sz="1200" i="1" dirty="0" smtClean="0"/>
              <a:t>B</a:t>
            </a:r>
            <a:r>
              <a:rPr lang="en-US" sz="1200" dirty="0" smtClean="0"/>
              <a:t> to </a:t>
            </a:r>
            <a:r>
              <a:rPr lang="en-US" sz="1200" i="1" dirty="0" smtClean="0"/>
              <a:t>T</a:t>
            </a:r>
          </a:p>
          <a:p>
            <a:pPr lvl="1">
              <a:lnSpc>
                <a:spcPct val="170000"/>
              </a:lnSpc>
            </a:pPr>
            <a:r>
              <a:rPr lang="en-US" sz="1200" i="1" dirty="0" smtClean="0"/>
              <a:t>T</a:t>
            </a:r>
            <a:r>
              <a:rPr lang="en-US" sz="1200" dirty="0" smtClean="0"/>
              <a:t> creates a session key </a:t>
            </a:r>
            <a:r>
              <a:rPr lang="en-US" sz="1200" i="1" dirty="0" smtClean="0"/>
              <a:t>K</a:t>
            </a:r>
            <a:r>
              <a:rPr lang="en-US" sz="1200" i="1" baseline="-25000" dirty="0" smtClean="0"/>
              <a:t>AB</a:t>
            </a:r>
            <a:r>
              <a:rPr lang="en-US" sz="1200" dirty="0" smtClean="0"/>
              <a:t> for the secure communication between </a:t>
            </a:r>
            <a:r>
              <a:rPr lang="en-US" sz="1200" i="1" dirty="0" smtClean="0"/>
              <a:t>A</a:t>
            </a:r>
            <a:r>
              <a:rPr lang="en-US" sz="1200" dirty="0" smtClean="0"/>
              <a:t> and </a:t>
            </a:r>
            <a:r>
              <a:rPr lang="en-US" sz="1200" i="1" dirty="0" smtClean="0"/>
              <a:t>B</a:t>
            </a:r>
          </a:p>
          <a:p>
            <a:pPr lvl="1">
              <a:lnSpc>
                <a:spcPct val="170000"/>
              </a:lnSpc>
            </a:pPr>
            <a:r>
              <a:rPr lang="en-US" sz="1200" i="1" dirty="0" smtClean="0"/>
              <a:t>T</a:t>
            </a:r>
            <a:r>
              <a:rPr lang="en-US" sz="1200" dirty="0" smtClean="0"/>
              <a:t> first encrypts the session key </a:t>
            </a:r>
            <a:r>
              <a:rPr lang="en-US" sz="1200" i="1" dirty="0" smtClean="0"/>
              <a:t>K</a:t>
            </a:r>
            <a:r>
              <a:rPr lang="en-US" sz="1200" i="1" baseline="-25000" dirty="0" smtClean="0"/>
              <a:t>AB</a:t>
            </a:r>
            <a:r>
              <a:rPr lang="en-US" sz="1200" dirty="0" smtClean="0"/>
              <a:t> and </a:t>
            </a:r>
            <a:r>
              <a:rPr lang="en-US" sz="1200" i="1" dirty="0" smtClean="0"/>
              <a:t>I</a:t>
            </a:r>
            <a:r>
              <a:rPr lang="en-US" sz="1200" i="1" baseline="-25000" dirty="0" smtClean="0"/>
              <a:t>A</a:t>
            </a:r>
            <a:r>
              <a:rPr lang="en-US" sz="1200" dirty="0" smtClean="0"/>
              <a:t> with </a:t>
            </a:r>
            <a:r>
              <a:rPr lang="en-US" sz="1200" i="1" dirty="0" smtClean="0"/>
              <a:t>K</a:t>
            </a:r>
            <a:r>
              <a:rPr lang="en-US" sz="1200" i="1" baseline="-25000" dirty="0" smtClean="0"/>
              <a:t>BT</a:t>
            </a:r>
          </a:p>
          <a:p>
            <a:pPr lvl="1">
              <a:lnSpc>
                <a:spcPct val="170000"/>
              </a:lnSpc>
            </a:pPr>
            <a:r>
              <a:rPr lang="en-US" sz="1200" dirty="0" smtClean="0"/>
              <a:t>then </a:t>
            </a:r>
            <a:r>
              <a:rPr lang="en-US" sz="1200" i="1" dirty="0" smtClean="0"/>
              <a:t>T</a:t>
            </a:r>
            <a:r>
              <a:rPr lang="en-US" sz="1200" dirty="0" smtClean="0"/>
              <a:t> encrypts </a:t>
            </a:r>
            <a:r>
              <a:rPr lang="en-US" sz="1200" i="1" dirty="0" smtClean="0"/>
              <a:t>K</a:t>
            </a:r>
            <a:r>
              <a:rPr lang="en-US" sz="1200" i="1" baseline="-25000" dirty="0" smtClean="0"/>
              <a:t>AB</a:t>
            </a:r>
            <a:r>
              <a:rPr lang="en-US" sz="1200" dirty="0" smtClean="0"/>
              <a:t>, </a:t>
            </a:r>
            <a:r>
              <a:rPr lang="en-US" sz="1200" i="1" dirty="0" smtClean="0"/>
              <a:t>NA</a:t>
            </a:r>
            <a:r>
              <a:rPr lang="en-US" sz="1200" dirty="0" smtClean="0"/>
              <a:t>, </a:t>
            </a:r>
            <a:r>
              <a:rPr lang="en-US" sz="1200" i="1" dirty="0" smtClean="0"/>
              <a:t>I</a:t>
            </a:r>
            <a:r>
              <a:rPr lang="en-US" sz="1200" i="1" baseline="-25000" dirty="0" smtClean="0"/>
              <a:t>B</a:t>
            </a:r>
            <a:r>
              <a:rPr lang="en-US" sz="1200" dirty="0" smtClean="0"/>
              <a:t> and the message encrypted with </a:t>
            </a:r>
            <a:r>
              <a:rPr lang="en-US" sz="1200" i="1" dirty="0" smtClean="0"/>
              <a:t>K</a:t>
            </a:r>
            <a:r>
              <a:rPr lang="en-US" sz="1200" i="1" baseline="-25000" dirty="0" smtClean="0"/>
              <a:t>BT</a:t>
            </a:r>
            <a:r>
              <a:rPr lang="en-US" sz="1200" dirty="0" smtClean="0"/>
              <a:t> with </a:t>
            </a:r>
            <a:r>
              <a:rPr lang="en-US" sz="1200" i="1" dirty="0" smtClean="0"/>
              <a:t>K</a:t>
            </a:r>
            <a:r>
              <a:rPr lang="en-US" sz="1200" i="1" baseline="-25000" dirty="0" smtClean="0"/>
              <a:t>AT</a:t>
            </a:r>
          </a:p>
          <a:p>
            <a:pPr>
              <a:lnSpc>
                <a:spcPct val="170000"/>
              </a:lnSpc>
            </a:pPr>
            <a:r>
              <a:rPr lang="en-US" sz="1200" dirty="0" smtClean="0"/>
              <a:t>Step 2:</a:t>
            </a:r>
          </a:p>
          <a:p>
            <a:pPr lvl="1">
              <a:lnSpc>
                <a:spcPct val="170000"/>
              </a:lnSpc>
            </a:pPr>
            <a:r>
              <a:rPr lang="en-US" sz="1200" dirty="0" smtClean="0"/>
              <a:t>Upon receipt of message 2, </a:t>
            </a:r>
            <a:r>
              <a:rPr lang="en-US" sz="1200" i="1" dirty="0" smtClean="0"/>
              <a:t>A</a:t>
            </a:r>
            <a:r>
              <a:rPr lang="en-US" sz="1200" dirty="0" smtClean="0"/>
              <a:t> decrypts with </a:t>
            </a:r>
            <a:r>
              <a:rPr lang="en-US" sz="1200" i="1" dirty="0" smtClean="0"/>
              <a:t>K</a:t>
            </a:r>
            <a:r>
              <a:rPr lang="en-US" sz="1200" i="1" baseline="-25000" dirty="0" smtClean="0"/>
              <a:t>AT</a:t>
            </a:r>
            <a:r>
              <a:rPr lang="en-US" sz="1200" dirty="0" smtClean="0"/>
              <a:t> and obtains </a:t>
            </a:r>
            <a:r>
              <a:rPr lang="en-US" sz="1200" i="1" dirty="0" smtClean="0"/>
              <a:t>K</a:t>
            </a:r>
            <a:r>
              <a:rPr lang="en-US" sz="1200" i="1" baseline="-25000" dirty="0" smtClean="0"/>
              <a:t>AB</a:t>
            </a:r>
          </a:p>
          <a:p>
            <a:pPr lvl="1">
              <a:lnSpc>
                <a:spcPct val="170000"/>
              </a:lnSpc>
            </a:pPr>
            <a:r>
              <a:rPr lang="en-US" sz="1200" i="1" dirty="0" smtClean="0"/>
              <a:t>T</a:t>
            </a:r>
            <a:r>
              <a:rPr lang="en-US" sz="1200" dirty="0" smtClean="0"/>
              <a:t> is trusted ⇒only </a:t>
            </a:r>
            <a:r>
              <a:rPr lang="en-US" sz="1200" i="1" dirty="0" smtClean="0"/>
              <a:t>T</a:t>
            </a:r>
            <a:r>
              <a:rPr lang="en-US" sz="1200" dirty="0" smtClean="0"/>
              <a:t>(and </a:t>
            </a:r>
            <a:r>
              <a:rPr lang="en-US" sz="1200" i="1" dirty="0" smtClean="0"/>
              <a:t>A</a:t>
            </a:r>
            <a:r>
              <a:rPr lang="en-US" sz="1200" dirty="0" smtClean="0"/>
              <a:t>) knows </a:t>
            </a:r>
            <a:r>
              <a:rPr lang="en-US" sz="1200" i="1" dirty="0" smtClean="0"/>
              <a:t>K</a:t>
            </a:r>
            <a:r>
              <a:rPr lang="en-US" sz="1200" i="1" baseline="-25000" dirty="0" smtClean="0"/>
              <a:t>AT</a:t>
            </a:r>
            <a:r>
              <a:rPr lang="en-US" sz="1200" dirty="0" smtClean="0"/>
              <a:t> required to create message 2</a:t>
            </a:r>
          </a:p>
          <a:p>
            <a:pPr lvl="1">
              <a:lnSpc>
                <a:spcPct val="170000"/>
              </a:lnSpc>
            </a:pPr>
            <a:r>
              <a:rPr lang="en-US" sz="1200" dirty="0" smtClean="0"/>
              <a:t>Therefore, if message 2 contains</a:t>
            </a:r>
          </a:p>
          <a:p>
            <a:pPr lvl="2">
              <a:lnSpc>
                <a:spcPct val="170000"/>
              </a:lnSpc>
            </a:pPr>
            <a:r>
              <a:rPr lang="en-US" sz="1200" dirty="0" smtClean="0"/>
              <a:t>Nonce </a:t>
            </a:r>
            <a:r>
              <a:rPr lang="en-US" sz="1200" i="1" dirty="0" smtClean="0"/>
              <a:t>NA</a:t>
            </a:r>
            <a:r>
              <a:rPr lang="en-US" sz="1200" dirty="0" smtClean="0"/>
              <a:t>, </a:t>
            </a:r>
            <a:r>
              <a:rPr lang="en-US" sz="1200" i="1" dirty="0" smtClean="0"/>
              <a:t>A</a:t>
            </a:r>
            <a:r>
              <a:rPr lang="en-US" sz="1200" dirty="0" smtClean="0"/>
              <a:t> can deduce that the message, and thus </a:t>
            </a:r>
            <a:r>
              <a:rPr lang="en-US" sz="1200" i="1" dirty="0" smtClean="0"/>
              <a:t>K</a:t>
            </a:r>
            <a:r>
              <a:rPr lang="en-US" sz="1200" i="1" baseline="-25000" dirty="0" smtClean="0"/>
              <a:t>AB</a:t>
            </a:r>
            <a:r>
              <a:rPr lang="en-US" sz="1200" dirty="0" smtClean="0"/>
              <a:t> must have been recently created by </a:t>
            </a:r>
            <a:r>
              <a:rPr lang="en-US" sz="1200" i="1" dirty="0" smtClean="0"/>
              <a:t>T</a:t>
            </a:r>
            <a:r>
              <a:rPr lang="en-US" sz="1200" dirty="0" smtClean="0"/>
              <a:t>(</a:t>
            </a:r>
            <a:r>
              <a:rPr lang="en-US" sz="1200" i="1" dirty="0" smtClean="0"/>
              <a:t>T</a:t>
            </a:r>
            <a:r>
              <a:rPr lang="en-US" sz="1200" dirty="0" smtClean="0"/>
              <a:t> is trusted ⇒</a:t>
            </a:r>
            <a:r>
              <a:rPr lang="en-US" sz="1200" i="1" dirty="0" smtClean="0"/>
              <a:t>K</a:t>
            </a:r>
            <a:r>
              <a:rPr lang="en-US" sz="1200" i="1" baseline="-25000" dirty="0" smtClean="0"/>
              <a:t>AB</a:t>
            </a:r>
            <a:r>
              <a:rPr lang="en-US" sz="1200" dirty="0" smtClean="0"/>
              <a:t> has been newly created)</a:t>
            </a:r>
          </a:p>
          <a:p>
            <a:pPr lvl="2">
              <a:lnSpc>
                <a:spcPct val="170000"/>
              </a:lnSpc>
            </a:pPr>
            <a:r>
              <a:rPr lang="en-US" sz="1200" dirty="0" smtClean="0"/>
              <a:t>Identifier </a:t>
            </a:r>
            <a:r>
              <a:rPr lang="en-US" sz="1200" i="1" dirty="0" smtClean="0"/>
              <a:t>I</a:t>
            </a:r>
            <a:r>
              <a:rPr lang="en-US" sz="1200" i="1" baseline="-25000" dirty="0" smtClean="0"/>
              <a:t>B</a:t>
            </a:r>
            <a:r>
              <a:rPr lang="en-US" sz="1200" dirty="0" smtClean="0"/>
              <a:t>,  </a:t>
            </a:r>
            <a:r>
              <a:rPr lang="en-US" sz="1200" i="1" dirty="0" smtClean="0"/>
              <a:t>A</a:t>
            </a:r>
            <a:r>
              <a:rPr lang="en-US" sz="1200" dirty="0" smtClean="0"/>
              <a:t> can deduce that </a:t>
            </a:r>
            <a:r>
              <a:rPr lang="en-US" sz="1200" i="1" dirty="0" smtClean="0"/>
              <a:t>T</a:t>
            </a:r>
            <a:r>
              <a:rPr lang="en-US" sz="1200" dirty="0" smtClean="0"/>
              <a:t> has correctly received the identifier </a:t>
            </a:r>
            <a:r>
              <a:rPr lang="en-US" sz="1200" i="1" dirty="0" smtClean="0"/>
              <a:t>I</a:t>
            </a:r>
            <a:r>
              <a:rPr lang="en-US" sz="1200" i="1" baseline="-25000" dirty="0" smtClean="0"/>
              <a:t>B</a:t>
            </a:r>
            <a:r>
              <a:rPr lang="en-US" sz="1200" dirty="0" smtClean="0"/>
              <a:t> of </a:t>
            </a:r>
            <a:r>
              <a:rPr lang="en-US" sz="1200" i="1" dirty="0" smtClean="0"/>
              <a:t>A</a:t>
            </a:r>
            <a:r>
              <a:rPr lang="en-US" sz="1200" dirty="0" smtClean="0"/>
              <a:t>’s intended communication partner </a:t>
            </a:r>
            <a:r>
              <a:rPr lang="en-US" sz="1200" i="1" dirty="0" smtClean="0"/>
              <a:t>B</a:t>
            </a:r>
            <a:r>
              <a:rPr lang="en-US" sz="1200" dirty="0" smtClean="0"/>
              <a:t> ⇒ only </a:t>
            </a:r>
            <a:r>
              <a:rPr lang="en-US" sz="1200" i="1" dirty="0" smtClean="0"/>
              <a:t>B</a:t>
            </a:r>
            <a:r>
              <a:rPr lang="en-US" sz="1200" dirty="0" smtClean="0"/>
              <a:t>(except </a:t>
            </a:r>
            <a:r>
              <a:rPr lang="en-US" sz="1200" i="1" dirty="0" smtClean="0"/>
              <a:t>A</a:t>
            </a:r>
            <a:r>
              <a:rPr lang="en-US" sz="1200" dirty="0" smtClean="0"/>
              <a:t> and </a:t>
            </a:r>
            <a:r>
              <a:rPr lang="en-US" sz="1200" i="1" dirty="0" smtClean="0"/>
              <a:t>T</a:t>
            </a:r>
            <a:r>
              <a:rPr lang="en-US" sz="1200" dirty="0" smtClean="0"/>
              <a:t>) will be able to get </a:t>
            </a:r>
            <a:r>
              <a:rPr lang="en-US" sz="1200" i="1" dirty="0" smtClean="0"/>
              <a:t>K</a:t>
            </a:r>
            <a:r>
              <a:rPr lang="en-US" sz="1200" i="1" baseline="-25000" dirty="0" smtClean="0"/>
              <a:t>AB</a:t>
            </a:r>
            <a:r>
              <a:rPr lang="en-US" sz="1200" dirty="0" smtClean="0"/>
              <a:t>(since </a:t>
            </a:r>
            <a:r>
              <a:rPr lang="en-US" sz="1200" i="1" dirty="0" smtClean="0"/>
              <a:t>T</a:t>
            </a:r>
            <a:r>
              <a:rPr lang="en-US" sz="1200" dirty="0" smtClean="0"/>
              <a:t> only encrypts </a:t>
            </a:r>
            <a:r>
              <a:rPr lang="en-US" sz="1200" i="1" dirty="0" smtClean="0"/>
              <a:t>K</a:t>
            </a:r>
            <a:r>
              <a:rPr lang="en-US" sz="1200" i="1" baseline="-25000" dirty="0" smtClean="0"/>
              <a:t>AB </a:t>
            </a:r>
            <a:r>
              <a:rPr lang="en-US" sz="1200" dirty="0" smtClean="0"/>
              <a:t>with </a:t>
            </a:r>
            <a:r>
              <a:rPr lang="en-US" sz="1200" i="1" dirty="0" smtClean="0"/>
              <a:t>K</a:t>
            </a:r>
            <a:r>
              <a:rPr lang="en-US" sz="1200" i="1" baseline="-25000" dirty="0" smtClean="0"/>
              <a:t>BT</a:t>
            </a:r>
            <a:r>
              <a:rPr lang="en-US" sz="1200" dirty="0" smtClean="0"/>
              <a:t> and </a:t>
            </a:r>
            <a:r>
              <a:rPr lang="en-US" sz="1200" i="1" dirty="0" smtClean="0"/>
              <a:t>K</a:t>
            </a:r>
            <a:r>
              <a:rPr lang="en-US" sz="1200" i="1" baseline="-25000" dirty="0" smtClean="0"/>
              <a:t>AT</a:t>
            </a:r>
            <a:r>
              <a:rPr lang="en-US" sz="1200" dirty="0" smtClean="0"/>
              <a:t>)</a:t>
            </a:r>
            <a:endParaRPr lang="en-US" sz="12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solidFill>
                  <a:srgbClr val="0070C0"/>
                </a:solidFill>
              </a:rPr>
              <a:t>Neednam‐Schr</a:t>
            </a:r>
            <a:r>
              <a:rPr lang="en-US" b="1" dirty="0" smtClean="0">
                <a:solidFill>
                  <a:srgbClr val="0070C0"/>
                </a:solidFill>
              </a:rPr>
              <a:t>. Protocol: Description (2)</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Step 3:</a:t>
            </a:r>
          </a:p>
          <a:p>
            <a:pPr lvl="1"/>
            <a:r>
              <a:rPr lang="en-US" i="1" dirty="0" smtClean="0"/>
              <a:t>A</a:t>
            </a:r>
            <a:r>
              <a:rPr lang="en-US" dirty="0" smtClean="0"/>
              <a:t> forwards the message encrypted with </a:t>
            </a:r>
            <a:r>
              <a:rPr lang="en-US" i="1" dirty="0" smtClean="0"/>
              <a:t>K</a:t>
            </a:r>
            <a:r>
              <a:rPr lang="en-US" i="1" baseline="-25000" dirty="0" smtClean="0"/>
              <a:t>BT</a:t>
            </a:r>
            <a:r>
              <a:rPr lang="en-US" dirty="0" smtClean="0"/>
              <a:t> to </a:t>
            </a:r>
            <a:r>
              <a:rPr lang="en-US" i="1" dirty="0" smtClean="0"/>
              <a:t>B</a:t>
            </a:r>
          </a:p>
          <a:p>
            <a:pPr lvl="1"/>
            <a:r>
              <a:rPr lang="en-US" dirty="0" smtClean="0"/>
              <a:t>Upon receipt of message 3 party </a:t>
            </a:r>
            <a:r>
              <a:rPr lang="en-US" i="1" dirty="0" smtClean="0"/>
              <a:t>B</a:t>
            </a:r>
          </a:p>
          <a:p>
            <a:pPr lvl="2"/>
            <a:r>
              <a:rPr lang="en-US" dirty="0" smtClean="0"/>
              <a:t>knows that </a:t>
            </a:r>
            <a:r>
              <a:rPr lang="en-US" i="1" dirty="0" smtClean="0"/>
              <a:t>A</a:t>
            </a:r>
            <a:r>
              <a:rPr lang="en-US" dirty="0" smtClean="0"/>
              <a:t> must have known this message (since only </a:t>
            </a:r>
            <a:r>
              <a:rPr lang="en-US" i="1" dirty="0" smtClean="0"/>
              <a:t>A</a:t>
            </a:r>
            <a:r>
              <a:rPr lang="en-US" dirty="0" smtClean="0"/>
              <a:t> knows </a:t>
            </a:r>
            <a:r>
              <a:rPr lang="en-US" i="1" dirty="0" smtClean="0"/>
              <a:t>K</a:t>
            </a:r>
            <a:r>
              <a:rPr lang="en-US" i="1" baseline="-25000" dirty="0" smtClean="0"/>
              <a:t>AT</a:t>
            </a:r>
            <a:r>
              <a:rPr lang="en-US" dirty="0" smtClean="0"/>
              <a:t> to decrypt message 2)</a:t>
            </a:r>
          </a:p>
          <a:p>
            <a:pPr lvl="2"/>
            <a:r>
              <a:rPr lang="en-US" dirty="0" smtClean="0"/>
              <a:t>knows that </a:t>
            </a:r>
            <a:r>
              <a:rPr lang="en-US" i="1" dirty="0" smtClean="0"/>
              <a:t>A</a:t>
            </a:r>
            <a:r>
              <a:rPr lang="en-US" dirty="0" smtClean="0"/>
              <a:t> must have obtained </a:t>
            </a:r>
            <a:r>
              <a:rPr lang="en-US" i="1" dirty="0" smtClean="0"/>
              <a:t>K</a:t>
            </a:r>
            <a:r>
              <a:rPr lang="en-US" i="1" baseline="-25000" dirty="0" smtClean="0"/>
              <a:t>AB</a:t>
            </a:r>
            <a:r>
              <a:rPr lang="en-US" dirty="0" smtClean="0"/>
              <a:t>(since message 2 also included </a:t>
            </a:r>
            <a:r>
              <a:rPr lang="en-US" i="1" dirty="0" smtClean="0"/>
              <a:t>K</a:t>
            </a:r>
            <a:r>
              <a:rPr lang="en-US" i="1" baseline="-25000" dirty="0" smtClean="0"/>
              <a:t>AB</a:t>
            </a:r>
            <a:r>
              <a:rPr lang="en-US" dirty="0" smtClean="0"/>
              <a:t>)</a:t>
            </a:r>
          </a:p>
          <a:p>
            <a:pPr lvl="2"/>
            <a:r>
              <a:rPr lang="en-US" dirty="0" smtClean="0"/>
              <a:t>decrypts it with </a:t>
            </a:r>
            <a:r>
              <a:rPr lang="en-US" i="1" dirty="0" smtClean="0"/>
              <a:t>K</a:t>
            </a:r>
            <a:r>
              <a:rPr lang="en-US" i="1" baseline="-25000" dirty="0" smtClean="0"/>
              <a:t>BT</a:t>
            </a:r>
            <a:r>
              <a:rPr lang="en-US" dirty="0" smtClean="0"/>
              <a:t> and obtains </a:t>
            </a:r>
            <a:r>
              <a:rPr lang="en-US" i="1" dirty="0" smtClean="0"/>
              <a:t>K</a:t>
            </a:r>
            <a:r>
              <a:rPr lang="en-US" i="1" baseline="-25000" dirty="0" smtClean="0"/>
              <a:t>AB</a:t>
            </a:r>
          </a:p>
          <a:p>
            <a:pPr lvl="1"/>
            <a:r>
              <a:rPr lang="en-US" dirty="0" smtClean="0"/>
              <a:t>If message 3 contains </a:t>
            </a:r>
            <a:r>
              <a:rPr lang="en-US" i="1" dirty="0" smtClean="0"/>
              <a:t>I</a:t>
            </a:r>
            <a:r>
              <a:rPr lang="en-US" i="1" baseline="-25000" dirty="0" smtClean="0"/>
              <a:t>A</a:t>
            </a:r>
            <a:r>
              <a:rPr lang="en-US" dirty="0" smtClean="0"/>
              <a:t>, </a:t>
            </a:r>
            <a:r>
              <a:rPr lang="en-US" i="1" dirty="0" smtClean="0"/>
              <a:t>B</a:t>
            </a:r>
            <a:r>
              <a:rPr lang="en-US" dirty="0" smtClean="0"/>
              <a:t> knows that </a:t>
            </a:r>
            <a:r>
              <a:rPr lang="en-US" i="1" dirty="0" smtClean="0"/>
              <a:t>K</a:t>
            </a:r>
            <a:r>
              <a:rPr lang="en-US" i="1" baseline="-25000" dirty="0" smtClean="0"/>
              <a:t>AB</a:t>
            </a:r>
            <a:r>
              <a:rPr lang="en-US" dirty="0" smtClean="0"/>
              <a:t> is to be shared with </a:t>
            </a:r>
            <a:r>
              <a:rPr lang="en-US" i="1" dirty="0" smtClean="0"/>
              <a:t>A</a:t>
            </a:r>
          </a:p>
          <a:p>
            <a:pPr lvl="2"/>
            <a:r>
              <a:rPr lang="en-US" i="1" dirty="0" smtClean="0"/>
              <a:t>T</a:t>
            </a:r>
            <a:r>
              <a:rPr lang="en-US" dirty="0" smtClean="0"/>
              <a:t> is trusted ⇒only </a:t>
            </a:r>
            <a:r>
              <a:rPr lang="en-US" i="1" dirty="0" smtClean="0"/>
              <a:t>T</a:t>
            </a:r>
            <a:r>
              <a:rPr lang="en-US" dirty="0" smtClean="0"/>
              <a:t>(and </a:t>
            </a:r>
            <a:r>
              <a:rPr lang="en-US" i="1" dirty="0" smtClean="0"/>
              <a:t>B</a:t>
            </a:r>
            <a:r>
              <a:rPr lang="en-US" dirty="0" smtClean="0"/>
              <a:t>) knows </a:t>
            </a:r>
            <a:r>
              <a:rPr lang="en-US" i="1" dirty="0" smtClean="0"/>
              <a:t>K</a:t>
            </a:r>
            <a:r>
              <a:rPr lang="en-US" i="1" baseline="-25000" dirty="0" smtClean="0"/>
              <a:t>BT</a:t>
            </a:r>
            <a:r>
              <a:rPr lang="en-US" dirty="0" smtClean="0"/>
              <a:t> required to include </a:t>
            </a:r>
            <a:r>
              <a:rPr lang="en-US" i="1" dirty="0" smtClean="0"/>
              <a:t>I</a:t>
            </a:r>
            <a:r>
              <a:rPr lang="en-US" i="1" baseline="-25000" dirty="0" smtClean="0"/>
              <a:t>A</a:t>
            </a:r>
            <a:r>
              <a:rPr lang="en-US" dirty="0" smtClean="0"/>
              <a:t> into message 3</a:t>
            </a:r>
          </a:p>
          <a:p>
            <a:pPr lvl="3"/>
            <a:r>
              <a:rPr lang="en-US" dirty="0" smtClean="0"/>
              <a:t>⇒</a:t>
            </a:r>
            <a:r>
              <a:rPr lang="en-US" i="1" dirty="0" smtClean="0"/>
              <a:t>B</a:t>
            </a:r>
            <a:r>
              <a:rPr lang="en-US" dirty="0" smtClean="0"/>
              <a:t> knows, that only </a:t>
            </a:r>
            <a:r>
              <a:rPr lang="en-US" i="1" dirty="0" smtClean="0"/>
              <a:t>A</a:t>
            </a:r>
            <a:r>
              <a:rPr lang="en-US" dirty="0" smtClean="0"/>
              <a:t> can get </a:t>
            </a:r>
            <a:r>
              <a:rPr lang="en-US" i="1" dirty="0" smtClean="0"/>
              <a:t>K</a:t>
            </a:r>
            <a:r>
              <a:rPr lang="en-US" i="1" baseline="-25000" dirty="0" smtClean="0"/>
              <a:t>AB</a:t>
            </a:r>
            <a:r>
              <a:rPr lang="en-US" dirty="0" smtClean="0"/>
              <a:t>(since </a:t>
            </a:r>
            <a:r>
              <a:rPr lang="en-US" i="1" dirty="0" smtClean="0"/>
              <a:t>T</a:t>
            </a:r>
            <a:r>
              <a:rPr lang="en-US" dirty="0" smtClean="0"/>
              <a:t> only encrypts it with </a:t>
            </a:r>
            <a:r>
              <a:rPr lang="en-US" i="1" dirty="0" smtClean="0"/>
              <a:t>K</a:t>
            </a:r>
            <a:r>
              <a:rPr lang="en-US" i="1" baseline="-25000" dirty="0" smtClean="0"/>
              <a:t>AT</a:t>
            </a:r>
            <a:r>
              <a:rPr lang="en-US" dirty="0" smtClean="0"/>
              <a:t> and </a:t>
            </a:r>
            <a:r>
              <a:rPr lang="en-US" i="1" dirty="0" smtClean="0"/>
              <a:t>K</a:t>
            </a:r>
            <a:r>
              <a:rPr lang="en-US" i="1" baseline="-25000" dirty="0" smtClean="0"/>
              <a:t>BT</a:t>
            </a:r>
            <a:r>
              <a:rPr lang="en-US" dirty="0" smtClean="0"/>
              <a:t>)</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solidFill>
                  <a:srgbClr val="0070C0"/>
                </a:solidFill>
              </a:rPr>
              <a:t>Neednam‐Schr</a:t>
            </a:r>
            <a:r>
              <a:rPr lang="en-US" b="1" dirty="0" smtClean="0">
                <a:solidFill>
                  <a:srgbClr val="0070C0"/>
                </a:solidFill>
              </a:rPr>
              <a:t>. Protocol: Description (3)</a:t>
            </a:r>
            <a:endParaRPr lang="en-US" b="1" dirty="0">
              <a:solidFill>
                <a:srgbClr val="0070C0"/>
              </a:solidFill>
            </a:endParaRPr>
          </a:p>
        </p:txBody>
      </p:sp>
      <p:sp>
        <p:nvSpPr>
          <p:cNvPr id="3" name="Content Placeholder 2"/>
          <p:cNvSpPr>
            <a:spLocks noGrp="1"/>
          </p:cNvSpPr>
          <p:nvPr>
            <p:ph sz="quarter" idx="1"/>
          </p:nvPr>
        </p:nvSpPr>
        <p:spPr/>
        <p:txBody>
          <a:bodyPr>
            <a:normAutofit/>
          </a:bodyPr>
          <a:lstStyle/>
          <a:p>
            <a:r>
              <a:rPr lang="en-US" dirty="0" smtClean="0"/>
              <a:t>Step 4:</a:t>
            </a:r>
          </a:p>
          <a:p>
            <a:pPr lvl="1"/>
            <a:r>
              <a:rPr lang="en-US" i="1" dirty="0" smtClean="0"/>
              <a:t>B</a:t>
            </a:r>
            <a:r>
              <a:rPr lang="en-US" dirty="0" smtClean="0"/>
              <a:t> generates a nonce </a:t>
            </a:r>
            <a:r>
              <a:rPr lang="en-US" i="1" dirty="0" smtClean="0"/>
              <a:t>NB</a:t>
            </a:r>
            <a:r>
              <a:rPr lang="en-US" dirty="0" smtClean="0"/>
              <a:t>, encrypts it with </a:t>
            </a:r>
            <a:r>
              <a:rPr lang="en-US" i="1" dirty="0" smtClean="0"/>
              <a:t>K</a:t>
            </a:r>
            <a:r>
              <a:rPr lang="en-US" i="1" baseline="-25000" dirty="0" smtClean="0"/>
              <a:t>AB</a:t>
            </a:r>
            <a:r>
              <a:rPr lang="en-US" dirty="0" smtClean="0"/>
              <a:t> and sends the corresponding </a:t>
            </a:r>
            <a:r>
              <a:rPr lang="en-US" dirty="0" err="1" smtClean="0"/>
              <a:t>ciphertext</a:t>
            </a:r>
            <a:r>
              <a:rPr lang="en-US" dirty="0" smtClean="0"/>
              <a:t> to </a:t>
            </a:r>
            <a:r>
              <a:rPr lang="en-US" i="1" dirty="0" smtClean="0"/>
              <a:t>A</a:t>
            </a:r>
          </a:p>
          <a:p>
            <a:pPr lvl="1"/>
            <a:r>
              <a:rPr lang="en-US" i="1" dirty="0" smtClean="0"/>
              <a:t>A</a:t>
            </a:r>
            <a:r>
              <a:rPr lang="en-US" dirty="0" smtClean="0"/>
              <a:t> decrypts </a:t>
            </a:r>
            <a:r>
              <a:rPr lang="en-US" i="1" dirty="0" smtClean="0"/>
              <a:t>NB</a:t>
            </a:r>
            <a:r>
              <a:rPr lang="en-US" dirty="0" smtClean="0"/>
              <a:t> using </a:t>
            </a:r>
            <a:r>
              <a:rPr lang="en-US" i="1" dirty="0" smtClean="0"/>
              <a:t>K</a:t>
            </a:r>
            <a:r>
              <a:rPr lang="en-US" i="1" baseline="-25000" dirty="0" smtClean="0"/>
              <a:t>AB</a:t>
            </a:r>
            <a:r>
              <a:rPr lang="en-US" dirty="0" smtClean="0"/>
              <a:t>, decrements it, re‐encrypts it with </a:t>
            </a:r>
            <a:r>
              <a:rPr lang="en-US" i="1" dirty="0" smtClean="0"/>
              <a:t>K</a:t>
            </a:r>
            <a:r>
              <a:rPr lang="en-US" i="1" baseline="-25000" dirty="0" smtClean="0"/>
              <a:t>AB</a:t>
            </a:r>
            <a:r>
              <a:rPr lang="en-US" dirty="0" smtClean="0"/>
              <a:t> and sends the corresponding </a:t>
            </a:r>
            <a:r>
              <a:rPr lang="en-US" dirty="0" err="1" smtClean="0"/>
              <a:t>ciphertext</a:t>
            </a:r>
            <a:r>
              <a:rPr lang="en-US" dirty="0" smtClean="0"/>
              <a:t> to </a:t>
            </a:r>
            <a:r>
              <a:rPr lang="en-US" i="1" dirty="0" smtClean="0"/>
              <a:t>B</a:t>
            </a:r>
          </a:p>
          <a:p>
            <a:r>
              <a:rPr lang="en-US" dirty="0" smtClean="0"/>
              <a:t>Step 5:</a:t>
            </a:r>
          </a:p>
          <a:p>
            <a:pPr lvl="1"/>
            <a:r>
              <a:rPr lang="en-US" dirty="0" smtClean="0"/>
              <a:t>Upon receipt of message 5, </a:t>
            </a:r>
            <a:r>
              <a:rPr lang="en-US" i="1" dirty="0" smtClean="0"/>
              <a:t>B</a:t>
            </a:r>
            <a:r>
              <a:rPr lang="en-US" dirty="0" smtClean="0"/>
              <a:t> decrypts with </a:t>
            </a:r>
            <a:r>
              <a:rPr lang="en-US" i="1" dirty="0" smtClean="0"/>
              <a:t>K</a:t>
            </a:r>
            <a:r>
              <a:rPr lang="en-US" i="1" baseline="-25000" dirty="0" smtClean="0"/>
              <a:t>AB</a:t>
            </a:r>
          </a:p>
          <a:p>
            <a:pPr lvl="1"/>
            <a:r>
              <a:rPr lang="en-US" dirty="0" smtClean="0"/>
              <a:t>If message 5 contains </a:t>
            </a:r>
            <a:r>
              <a:rPr lang="en-US" i="1" dirty="0" smtClean="0"/>
              <a:t>NB‐1</a:t>
            </a:r>
            <a:r>
              <a:rPr lang="en-US" dirty="0" smtClean="0"/>
              <a:t>, then </a:t>
            </a:r>
            <a:r>
              <a:rPr lang="en-US" i="1" dirty="0" smtClean="0"/>
              <a:t>B</a:t>
            </a:r>
            <a:r>
              <a:rPr lang="en-US" dirty="0" smtClean="0"/>
              <a:t> can deduce that the current communication partner must be in possession of </a:t>
            </a:r>
            <a:r>
              <a:rPr lang="en-US" i="1" dirty="0" smtClean="0"/>
              <a:t>K</a:t>
            </a:r>
            <a:r>
              <a:rPr lang="en-US" i="1" baseline="-25000" dirty="0" smtClean="0"/>
              <a:t>AB</a:t>
            </a:r>
            <a:r>
              <a:rPr lang="en-US" dirty="0" smtClean="0"/>
              <a:t> in order to create this message</a:t>
            </a:r>
          </a:p>
          <a:p>
            <a:pPr lvl="2"/>
            <a:r>
              <a:rPr lang="en-US" dirty="0" smtClean="0"/>
              <a:t>Note that </a:t>
            </a:r>
            <a:r>
              <a:rPr lang="en-US" i="1" dirty="0" smtClean="0"/>
              <a:t>B</a:t>
            </a:r>
            <a:r>
              <a:rPr lang="en-US" dirty="0" smtClean="0"/>
              <a:t> has no assurance of the freshness of </a:t>
            </a:r>
            <a:r>
              <a:rPr lang="en-US" i="1" dirty="0" smtClean="0"/>
              <a:t>K</a:t>
            </a:r>
            <a:r>
              <a:rPr lang="en-US" baseline="-25000" dirty="0" smtClean="0"/>
              <a:t>AB</a:t>
            </a:r>
            <a:r>
              <a:rPr lang="en-US" dirty="0" smtClean="0"/>
              <a:t>(see next slides…)</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NS Protocol: Problems</a:t>
            </a:r>
            <a:endParaRPr lang="en-US" b="1" dirty="0">
              <a:solidFill>
                <a:srgbClr val="0070C0"/>
              </a:solidFill>
            </a:endParaRPr>
          </a:p>
        </p:txBody>
      </p:sp>
      <p:sp>
        <p:nvSpPr>
          <p:cNvPr id="3" name="Content Placeholder 2"/>
          <p:cNvSpPr>
            <a:spLocks noGrp="1"/>
          </p:cNvSpPr>
          <p:nvPr>
            <p:ph sz="quarter" idx="1"/>
          </p:nvPr>
        </p:nvSpPr>
        <p:spPr/>
        <p:txBody>
          <a:bodyPr>
            <a:normAutofit/>
          </a:bodyPr>
          <a:lstStyle/>
          <a:p>
            <a:r>
              <a:rPr lang="en-US" dirty="0" smtClean="0"/>
              <a:t>Situation about key freshness:</a:t>
            </a:r>
          </a:p>
          <a:p>
            <a:pPr lvl="1"/>
            <a:r>
              <a:rPr lang="en-US" i="1" dirty="0" smtClean="0"/>
              <a:t>A</a:t>
            </a:r>
            <a:r>
              <a:rPr lang="en-US" dirty="0" smtClean="0"/>
              <a:t> is assured that </a:t>
            </a:r>
            <a:r>
              <a:rPr lang="en-US" i="1" dirty="0" smtClean="0"/>
              <a:t>K</a:t>
            </a:r>
            <a:r>
              <a:rPr lang="en-US" i="1" baseline="-25000" dirty="0" smtClean="0"/>
              <a:t>AB</a:t>
            </a:r>
            <a:r>
              <a:rPr lang="en-US" dirty="0" smtClean="0"/>
              <a:t> has been newly generated if message 2 contains its nonce </a:t>
            </a:r>
            <a:r>
              <a:rPr lang="en-US" i="1" dirty="0" smtClean="0"/>
              <a:t>NA</a:t>
            </a:r>
          </a:p>
          <a:p>
            <a:pPr lvl="1"/>
            <a:r>
              <a:rPr lang="en-US" dirty="0" smtClean="0"/>
              <a:t>What about </a:t>
            </a:r>
            <a:r>
              <a:rPr lang="en-US" i="1" dirty="0" smtClean="0"/>
              <a:t>B</a:t>
            </a:r>
            <a:r>
              <a:rPr lang="en-US" dirty="0" smtClean="0"/>
              <a:t> ?</a:t>
            </a:r>
          </a:p>
          <a:p>
            <a:r>
              <a:rPr lang="en-US" dirty="0" smtClean="0"/>
              <a:t>Question: How is B able to get confidence in key freshness of </a:t>
            </a:r>
            <a:r>
              <a:rPr lang="en-US" i="1" dirty="0" smtClean="0"/>
              <a:t>K</a:t>
            </a:r>
            <a:r>
              <a:rPr lang="en-US" i="1" baseline="-25000" dirty="0" smtClean="0"/>
              <a:t>AB</a:t>
            </a:r>
            <a:r>
              <a:rPr lang="en-US" dirty="0" smtClean="0"/>
              <a:t>?</a:t>
            </a:r>
          </a:p>
          <a:p>
            <a:pPr lvl="1">
              <a:buNone/>
            </a:pPr>
            <a:r>
              <a:rPr lang="en-US" dirty="0" smtClean="0"/>
              <a:t>  </a:t>
            </a:r>
            <a:r>
              <a:rPr lang="en-US" i="1" dirty="0" smtClean="0"/>
              <a:t>B</a:t>
            </a:r>
            <a:r>
              <a:rPr lang="en-US" dirty="0" smtClean="0"/>
              <a:t> does not directly communicate with </a:t>
            </a:r>
            <a:r>
              <a:rPr lang="en-US" i="1" dirty="0" smtClean="0"/>
              <a:t>T</a:t>
            </a:r>
          </a:p>
          <a:p>
            <a:pPr lvl="1"/>
            <a:r>
              <a:rPr lang="en-US" i="1" dirty="0" smtClean="0"/>
              <a:t>A</a:t>
            </a:r>
            <a:r>
              <a:rPr lang="en-US" dirty="0" smtClean="0"/>
              <a:t> should transfer this confidence in the challenge‐and‐response part between </a:t>
            </a:r>
            <a:r>
              <a:rPr lang="en-US" i="1" dirty="0" smtClean="0"/>
              <a:t>A</a:t>
            </a:r>
            <a:r>
              <a:rPr lang="en-US" dirty="0" smtClean="0"/>
              <a:t> and </a:t>
            </a:r>
            <a:r>
              <a:rPr lang="en-US" i="1" dirty="0" smtClean="0"/>
              <a:t>B</a:t>
            </a:r>
            <a:r>
              <a:rPr lang="en-US" dirty="0" smtClean="0"/>
              <a:t>(messages 4 and 5)</a:t>
            </a:r>
          </a:p>
          <a:p>
            <a:pPr lvl="1"/>
            <a:r>
              <a:rPr lang="en-US" dirty="0" smtClean="0"/>
              <a:t>However, this assumes that only </a:t>
            </a:r>
            <a:r>
              <a:rPr lang="en-US" i="1" dirty="0" smtClean="0"/>
              <a:t>A</a:t>
            </a:r>
            <a:r>
              <a:rPr lang="en-US" dirty="0" smtClean="0"/>
              <a:t> is able to create message 5</a:t>
            </a:r>
          </a:p>
          <a:p>
            <a:pPr lvl="1"/>
            <a:r>
              <a:rPr lang="en-US" dirty="0" smtClean="0">
                <a:solidFill>
                  <a:srgbClr val="C00000"/>
                </a:solidFill>
              </a:rPr>
              <a:t>This assumption is not reasonable since an adversary might be in possession of an old session key (replay attack)!</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Denning‐Sacco Attack on NS‐Protocol</a:t>
            </a:r>
            <a:endParaRPr lang="en-US" b="1" dirty="0">
              <a:solidFill>
                <a:srgbClr val="0070C0"/>
              </a:solidFill>
            </a:endParaRPr>
          </a:p>
        </p:txBody>
      </p:sp>
      <p:sp>
        <p:nvSpPr>
          <p:cNvPr id="3" name="Content Placeholder 2"/>
          <p:cNvSpPr>
            <a:spLocks noGrp="1"/>
          </p:cNvSpPr>
          <p:nvPr>
            <p:ph sz="quarter" idx="1"/>
          </p:nvPr>
        </p:nvSpPr>
        <p:spPr/>
        <p:txBody>
          <a:bodyPr>
            <a:normAutofit fontScale="77500" lnSpcReduction="20000"/>
          </a:bodyPr>
          <a:lstStyle/>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r>
              <a:rPr lang="en-US" sz="2000" dirty="0" smtClean="0"/>
              <a:t>Assumption:  </a:t>
            </a:r>
            <a:r>
              <a:rPr lang="en-US" sz="2000" i="1" dirty="0" err="1" smtClean="0"/>
              <a:t>Adv</a:t>
            </a:r>
            <a:r>
              <a:rPr lang="en-US" sz="2000" dirty="0" smtClean="0"/>
              <a:t> knows an old session key </a:t>
            </a:r>
            <a:r>
              <a:rPr lang="en-US" sz="2000" i="1" dirty="0" smtClean="0"/>
              <a:t>K’</a:t>
            </a:r>
            <a:r>
              <a:rPr lang="en-US" sz="2000" i="1" baseline="-25000" dirty="0" smtClean="0"/>
              <a:t>AB</a:t>
            </a:r>
            <a:r>
              <a:rPr lang="en-US" sz="2000" dirty="0" smtClean="0"/>
              <a:t> between </a:t>
            </a:r>
            <a:r>
              <a:rPr lang="en-US" sz="2000" i="1" dirty="0" smtClean="0"/>
              <a:t>A</a:t>
            </a:r>
            <a:r>
              <a:rPr lang="en-US" sz="2000" dirty="0" smtClean="0"/>
              <a:t> and </a:t>
            </a:r>
            <a:r>
              <a:rPr lang="en-US" sz="2000" i="1" dirty="0" smtClean="0"/>
              <a:t>B</a:t>
            </a:r>
            <a:r>
              <a:rPr lang="en-US" sz="2000" dirty="0" smtClean="0"/>
              <a:t> </a:t>
            </a:r>
          </a:p>
          <a:p>
            <a:r>
              <a:rPr lang="en-US" sz="2000" dirty="0" smtClean="0"/>
              <a:t>Attack:  </a:t>
            </a:r>
            <a:r>
              <a:rPr lang="en-US" sz="2000" i="1" dirty="0" err="1" smtClean="0"/>
              <a:t>Adv</a:t>
            </a:r>
            <a:r>
              <a:rPr lang="en-US" sz="2000" dirty="0" smtClean="0"/>
              <a:t> masquerades as </a:t>
            </a:r>
            <a:r>
              <a:rPr lang="en-US" sz="2000" i="1" dirty="0" smtClean="0"/>
              <a:t>A</a:t>
            </a:r>
            <a:r>
              <a:rPr lang="en-US" sz="2000" dirty="0" smtClean="0"/>
              <a:t> to </a:t>
            </a:r>
            <a:r>
              <a:rPr lang="en-US" sz="2000" i="1" dirty="0" smtClean="0"/>
              <a:t>B</a:t>
            </a:r>
            <a:r>
              <a:rPr lang="en-US" sz="2000" dirty="0" smtClean="0"/>
              <a:t> and makes </a:t>
            </a:r>
            <a:r>
              <a:rPr lang="en-US" sz="2000" i="1" dirty="0" smtClean="0"/>
              <a:t>B</a:t>
            </a:r>
            <a:r>
              <a:rPr lang="en-US" sz="2000" dirty="0" smtClean="0"/>
              <a:t> to accept an old session key</a:t>
            </a:r>
            <a:endParaRPr lang="en-US" sz="2000" dirty="0"/>
          </a:p>
        </p:txBody>
      </p:sp>
      <p:pic>
        <p:nvPicPr>
          <p:cNvPr id="4" name="Picture 3" descr="fig11.bmp"/>
          <p:cNvPicPr>
            <a:picLocks noChangeAspect="1"/>
          </p:cNvPicPr>
          <p:nvPr/>
        </p:nvPicPr>
        <p:blipFill>
          <a:blip r:embed="rId2"/>
          <a:stretch>
            <a:fillRect/>
          </a:stretch>
        </p:blipFill>
        <p:spPr>
          <a:xfrm>
            <a:off x="133350" y="1143000"/>
            <a:ext cx="9010650" cy="430530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Avoiding the Attack on the NS‐Protocol</a:t>
            </a:r>
            <a:endParaRPr lang="en-US" b="1" dirty="0">
              <a:solidFill>
                <a:srgbClr val="0070C0"/>
              </a:solidFill>
            </a:endParaRPr>
          </a:p>
        </p:txBody>
      </p:sp>
      <p:sp>
        <p:nvSpPr>
          <p:cNvPr id="3" name="Content Placeholder 2"/>
          <p:cNvSpPr>
            <a:spLocks noGrp="1"/>
          </p:cNvSpPr>
          <p:nvPr>
            <p:ph sz="quarter" idx="1"/>
          </p:nvPr>
        </p:nvSpPr>
        <p:spPr/>
        <p:txBody>
          <a:bodyPr>
            <a:normAutofit/>
          </a:bodyPr>
          <a:lstStyle/>
          <a:p>
            <a:r>
              <a:rPr lang="en-US" dirty="0" smtClean="0"/>
              <a:t>Countermeasure</a:t>
            </a:r>
          </a:p>
          <a:p>
            <a:pPr lvl="1"/>
            <a:r>
              <a:rPr lang="en-US" dirty="0" smtClean="0"/>
              <a:t>Both </a:t>
            </a:r>
            <a:r>
              <a:rPr lang="en-US" i="1" dirty="0" smtClean="0"/>
              <a:t>A</a:t>
            </a:r>
            <a:r>
              <a:rPr lang="en-US" dirty="0" smtClean="0"/>
              <a:t> and </a:t>
            </a:r>
            <a:r>
              <a:rPr lang="en-US" i="1" dirty="0" smtClean="0"/>
              <a:t>B</a:t>
            </a:r>
            <a:r>
              <a:rPr lang="en-US" dirty="0" smtClean="0"/>
              <a:t> send their </a:t>
            </a:r>
            <a:r>
              <a:rPr lang="en-US" dirty="0" err="1" smtClean="0"/>
              <a:t>nonces</a:t>
            </a:r>
            <a:r>
              <a:rPr lang="en-US" dirty="0" smtClean="0"/>
              <a:t> to </a:t>
            </a:r>
            <a:r>
              <a:rPr lang="en-US" i="1" dirty="0" smtClean="0"/>
              <a:t>T</a:t>
            </a:r>
            <a:r>
              <a:rPr lang="en-US" dirty="0" smtClean="0"/>
              <a:t>, so that the key generated by </a:t>
            </a:r>
            <a:r>
              <a:rPr lang="en-US" i="1" dirty="0" smtClean="0"/>
              <a:t>T</a:t>
            </a:r>
            <a:r>
              <a:rPr lang="en-US" dirty="0" smtClean="0"/>
              <a:t> can be cryptographically bound also with </a:t>
            </a:r>
            <a:r>
              <a:rPr lang="en-US" i="1" dirty="0" smtClean="0"/>
              <a:t>B</a:t>
            </a:r>
            <a:r>
              <a:rPr lang="en-US" dirty="0" smtClean="0"/>
              <a:t>’s nonce</a:t>
            </a:r>
          </a:p>
          <a:p>
            <a:pPr lvl="2">
              <a:buNone/>
            </a:pPr>
            <a:r>
              <a:rPr lang="en-US" dirty="0" smtClean="0"/>
              <a:t>⇒Freshness assurance for </a:t>
            </a:r>
            <a:r>
              <a:rPr lang="en-US" i="1" dirty="0" smtClean="0"/>
              <a:t>B</a:t>
            </a:r>
          </a:p>
          <a:p>
            <a:r>
              <a:rPr lang="en-US" dirty="0" smtClean="0"/>
              <a:t>Protocol modification</a:t>
            </a:r>
          </a:p>
          <a:p>
            <a:pPr lvl="1"/>
            <a:r>
              <a:rPr lang="en-US" i="1" dirty="0" smtClean="0"/>
              <a:t>B</a:t>
            </a:r>
            <a:r>
              <a:rPr lang="en-US" dirty="0" smtClean="0"/>
              <a:t> sends nonce </a:t>
            </a:r>
            <a:r>
              <a:rPr lang="en-US" i="1" dirty="0" smtClean="0"/>
              <a:t>NB</a:t>
            </a:r>
            <a:r>
              <a:rPr lang="en-US" dirty="0" smtClean="0"/>
              <a:t> to </a:t>
            </a:r>
            <a:r>
              <a:rPr lang="en-US" i="1" dirty="0" smtClean="0"/>
              <a:t>A</a:t>
            </a:r>
          </a:p>
          <a:p>
            <a:pPr lvl="1"/>
            <a:r>
              <a:rPr lang="en-US" i="1" dirty="0" smtClean="0"/>
              <a:t>A</a:t>
            </a:r>
            <a:r>
              <a:rPr lang="en-US" dirty="0" smtClean="0"/>
              <a:t> adds its nonce </a:t>
            </a:r>
            <a:r>
              <a:rPr lang="en-US" i="1" dirty="0" smtClean="0"/>
              <a:t>NA</a:t>
            </a:r>
            <a:r>
              <a:rPr lang="en-US" dirty="0" smtClean="0"/>
              <a:t> and queries </a:t>
            </a:r>
            <a:r>
              <a:rPr lang="en-US" i="1" dirty="0" smtClean="0"/>
              <a:t>T</a:t>
            </a:r>
          </a:p>
          <a:p>
            <a:pPr lvl="1"/>
            <a:r>
              <a:rPr lang="en-US" dirty="0" smtClean="0"/>
              <a:t>Reply from </a:t>
            </a:r>
            <a:r>
              <a:rPr lang="en-US" i="1" dirty="0" smtClean="0"/>
              <a:t>T</a:t>
            </a:r>
            <a:r>
              <a:rPr lang="en-US" dirty="0" smtClean="0"/>
              <a:t> can be checked on key freshness by </a:t>
            </a:r>
            <a:r>
              <a:rPr lang="en-US" i="1" dirty="0" smtClean="0"/>
              <a:t>A</a:t>
            </a:r>
            <a:r>
              <a:rPr lang="en-US" dirty="0" smtClean="0"/>
              <a:t> and </a:t>
            </a:r>
            <a:r>
              <a:rPr lang="en-US" i="1" dirty="0" smtClean="0"/>
              <a:t>B</a:t>
            </a:r>
          </a:p>
          <a:p>
            <a:pPr lvl="1">
              <a:buNone/>
            </a:pPr>
            <a:r>
              <a:rPr lang="en-US" dirty="0" smtClean="0"/>
              <a:t>    ⇒Bauer‐</a:t>
            </a:r>
            <a:r>
              <a:rPr lang="en-US" dirty="0" err="1" smtClean="0"/>
              <a:t>Berson‐Feiertag</a:t>
            </a:r>
            <a:r>
              <a:rPr lang="en-US" dirty="0" smtClean="0"/>
              <a:t>(BBF) protocol</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3810000" y="4953000"/>
            <a:ext cx="949960" cy="137160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Protocol V: Bauer‐</a:t>
            </a:r>
            <a:r>
              <a:rPr lang="en-US" b="1" dirty="0" err="1" smtClean="0">
                <a:solidFill>
                  <a:srgbClr val="0070C0"/>
                </a:solidFill>
              </a:rPr>
              <a:t>Berson</a:t>
            </a:r>
            <a:r>
              <a:rPr lang="en-US" b="1" dirty="0" smtClean="0">
                <a:solidFill>
                  <a:srgbClr val="0070C0"/>
                </a:solidFill>
              </a:rPr>
              <a:t>‐</a:t>
            </a:r>
            <a:r>
              <a:rPr lang="en-US" b="1" dirty="0" err="1" smtClean="0">
                <a:solidFill>
                  <a:srgbClr val="0070C0"/>
                </a:solidFill>
              </a:rPr>
              <a:t>Feiertag</a:t>
            </a:r>
            <a:r>
              <a:rPr lang="en-US" b="1" dirty="0" smtClean="0">
                <a:solidFill>
                  <a:srgbClr val="0070C0"/>
                </a:solidFill>
              </a:rPr>
              <a:t>(BBF) Protocol</a:t>
            </a:r>
            <a:endParaRPr lang="en-US" b="1" dirty="0">
              <a:solidFill>
                <a:srgbClr val="0070C0"/>
              </a:solidFill>
            </a:endParaRPr>
          </a:p>
        </p:txBody>
      </p:sp>
      <p:pic>
        <p:nvPicPr>
          <p:cNvPr id="4" name="Content Placeholder 3" descr="fig12.bmp"/>
          <p:cNvPicPr>
            <a:picLocks noGrp="1" noChangeAspect="1"/>
          </p:cNvPicPr>
          <p:nvPr>
            <p:ph sz="quarter" idx="1"/>
          </p:nvPr>
        </p:nvPicPr>
        <p:blipFill>
          <a:blip r:embed="rId2"/>
          <a:stretch>
            <a:fillRect/>
          </a:stretch>
        </p:blipFill>
        <p:spPr>
          <a:xfrm>
            <a:off x="457200" y="1563708"/>
            <a:ext cx="8229600" cy="4248109"/>
          </a:xfr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BBF Protocol: Discussion</a:t>
            </a:r>
            <a:endParaRPr lang="en-US" b="1" dirty="0">
              <a:solidFill>
                <a:srgbClr val="0070C0"/>
              </a:solidFill>
            </a:endParaRPr>
          </a:p>
        </p:txBody>
      </p:sp>
      <p:sp>
        <p:nvSpPr>
          <p:cNvPr id="3" name="Content Placeholder 2"/>
          <p:cNvSpPr>
            <a:spLocks noGrp="1"/>
          </p:cNvSpPr>
          <p:nvPr>
            <p:ph sz="quarter" idx="1"/>
          </p:nvPr>
        </p:nvSpPr>
        <p:spPr/>
        <p:txBody>
          <a:bodyPr>
            <a:normAutofit/>
          </a:bodyPr>
          <a:lstStyle/>
          <a:p>
            <a:r>
              <a:rPr lang="en-US" dirty="0" smtClean="0"/>
              <a:t>The Denning‐Sacco Replay attack is not possible any more</a:t>
            </a:r>
          </a:p>
          <a:p>
            <a:pPr lvl="1"/>
            <a:r>
              <a:rPr lang="en-US" dirty="0" smtClean="0"/>
              <a:t>⇒Freshness assurance for </a:t>
            </a:r>
            <a:r>
              <a:rPr lang="en-US" i="1" dirty="0" smtClean="0"/>
              <a:t>B</a:t>
            </a:r>
          </a:p>
          <a:p>
            <a:r>
              <a:rPr lang="en-US" dirty="0" smtClean="0"/>
              <a:t>The BBF Protocol does not provide key-confirmation</a:t>
            </a:r>
          </a:p>
          <a:p>
            <a:pPr lvl="1"/>
            <a:r>
              <a:rPr lang="en-US" dirty="0" smtClean="0"/>
              <a:t>This means, that </a:t>
            </a:r>
            <a:r>
              <a:rPr lang="en-US" i="1" dirty="0" smtClean="0"/>
              <a:t>A</a:t>
            </a:r>
            <a:r>
              <a:rPr lang="en-US" dirty="0" smtClean="0"/>
              <a:t> and </a:t>
            </a:r>
            <a:r>
              <a:rPr lang="en-US" i="1" dirty="0" smtClean="0"/>
              <a:t>B</a:t>
            </a:r>
            <a:r>
              <a:rPr lang="en-US" dirty="0" smtClean="0"/>
              <a:t> cannot be sure whether the other party has correctly received </a:t>
            </a:r>
            <a:r>
              <a:rPr lang="en-US" i="1" dirty="0" smtClean="0"/>
              <a:t>K</a:t>
            </a:r>
            <a:r>
              <a:rPr lang="en-US" i="1" baseline="-25000" dirty="0" smtClean="0"/>
              <a:t>AB</a:t>
            </a:r>
            <a:r>
              <a:rPr lang="en-US" dirty="0" smtClean="0"/>
              <a:t> after a successful protocol‐run</a:t>
            </a:r>
          </a:p>
          <a:p>
            <a:pPr lvl="1"/>
            <a:r>
              <a:rPr lang="en-US" dirty="0" smtClean="0"/>
              <a:t>Exercise</a:t>
            </a:r>
          </a:p>
          <a:p>
            <a:pPr lvl="2"/>
            <a:r>
              <a:rPr lang="en-US" dirty="0" smtClean="0"/>
              <a:t>Extend the BBF protocol such that </a:t>
            </a:r>
            <a:r>
              <a:rPr lang="en-US" i="1" dirty="0" smtClean="0"/>
              <a:t>A</a:t>
            </a:r>
            <a:r>
              <a:rPr lang="en-US" dirty="0" smtClean="0"/>
              <a:t> and </a:t>
            </a:r>
            <a:r>
              <a:rPr lang="en-US" i="1" dirty="0" smtClean="0"/>
              <a:t>B</a:t>
            </a:r>
            <a:r>
              <a:rPr lang="en-US" dirty="0" smtClean="0"/>
              <a:t> can be sure that the other party has received </a:t>
            </a:r>
            <a:r>
              <a:rPr lang="en-US" i="1" dirty="0" smtClean="0"/>
              <a:t>K</a:t>
            </a:r>
            <a:r>
              <a:rPr lang="en-US" i="1" baseline="-25000" dirty="0" smtClean="0"/>
              <a:t>AB</a:t>
            </a:r>
            <a:r>
              <a:rPr lang="en-US" dirty="0" smtClean="0"/>
              <a:t> correctly!</a:t>
            </a:r>
          </a:p>
          <a:p>
            <a:pPr lvl="2"/>
            <a:r>
              <a:rPr lang="en-US" dirty="0" smtClean="0"/>
              <a:t>Other problems with the BBF Protocol?</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172200" y="4572000"/>
            <a:ext cx="1543429" cy="1514723"/>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Summary: Adversary Model</a:t>
            </a:r>
            <a:endParaRPr lang="en-US" b="1" dirty="0">
              <a:solidFill>
                <a:srgbClr val="0070C0"/>
              </a:solidFill>
            </a:endParaRPr>
          </a:p>
        </p:txBody>
      </p:sp>
      <p:sp>
        <p:nvSpPr>
          <p:cNvPr id="3" name="Content Placeholder 2"/>
          <p:cNvSpPr>
            <a:spLocks noGrp="1"/>
          </p:cNvSpPr>
          <p:nvPr>
            <p:ph sz="quarter" idx="1"/>
          </p:nvPr>
        </p:nvSpPr>
        <p:spPr/>
        <p:txBody>
          <a:bodyPr>
            <a:normAutofit/>
          </a:bodyPr>
          <a:lstStyle/>
          <a:p>
            <a:r>
              <a:rPr lang="en-US" dirty="0" smtClean="0"/>
              <a:t>Assumption 1: The adversary is able to eavesdrop all messages on the communication channel</a:t>
            </a:r>
          </a:p>
          <a:p>
            <a:r>
              <a:rPr lang="en-US" dirty="0" smtClean="0"/>
              <a:t>Assumption 2:The adversary can control the communication channel and thus is able to alter </a:t>
            </a:r>
            <a:r>
              <a:rPr lang="en-US" dirty="0" err="1" smtClean="0"/>
              <a:t>messagesor</a:t>
            </a:r>
            <a:r>
              <a:rPr lang="en-US" dirty="0" smtClean="0"/>
              <a:t> their destination</a:t>
            </a:r>
          </a:p>
          <a:p>
            <a:r>
              <a:rPr lang="en-US" dirty="0" smtClean="0"/>
              <a:t>Assumption 3:The adversary is allowed to be an insider or a collusion of an insider and an outsider</a:t>
            </a:r>
          </a:p>
          <a:p>
            <a:r>
              <a:rPr lang="en-US" dirty="0" smtClean="0"/>
              <a:t>Assumption 4:The adversary is allowed</a:t>
            </a:r>
          </a:p>
          <a:p>
            <a:pPr lvl="1"/>
            <a:r>
              <a:rPr lang="en-US" dirty="0" smtClean="0"/>
              <a:t>to use messages recorded in any previous run of the protocol</a:t>
            </a:r>
          </a:p>
          <a:p>
            <a:pPr lvl="1"/>
            <a:r>
              <a:rPr lang="en-US" dirty="0" smtClean="0"/>
              <a:t>to obtain the session key of any previous run of the protocol</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sz="quarter" idx="1"/>
          </p:nvPr>
        </p:nvPicPr>
        <p:blipFill>
          <a:blip r:embed="rId2"/>
          <a:srcRect/>
          <a:stretch>
            <a:fillRect/>
          </a:stretch>
        </p:blipFill>
        <p:spPr bwMode="auto">
          <a:xfrm>
            <a:off x="2133600" y="1447800"/>
            <a:ext cx="5134501" cy="4038600"/>
          </a:xfrm>
          <a:prstGeom prst="rect">
            <a:avLst/>
          </a:prstGeom>
          <a:noFill/>
          <a:ln w="9525">
            <a:noFill/>
            <a:miter lim="800000"/>
            <a:headEnd/>
            <a:tailEnd/>
          </a:ln>
          <a:effectLst/>
        </p:spPr>
      </p:pic>
    </p:spTree>
    <p:extLst>
      <p:ext uri="{BB962C8B-B14F-4D97-AF65-F5344CB8AC3E}">
        <p14:creationId xmlns:p14="http://schemas.microsoft.com/office/powerpoint/2010/main" xmlns="" val="125835593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378</TotalTime>
  <Words>3392</Words>
  <Application>Microsoft Office PowerPoint</Application>
  <PresentationFormat>On-screen Show (4:3)</PresentationFormat>
  <Paragraphs>444</Paragraphs>
  <Slides>49</Slides>
  <Notes>0</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Origin</vt:lpstr>
      <vt:lpstr>Authentication and Key Establishment Protocols</vt:lpstr>
      <vt:lpstr>Roadmap</vt:lpstr>
      <vt:lpstr>Why do we have Protocols for Authentication and Key Establishment?</vt:lpstr>
      <vt:lpstr>Importance</vt:lpstr>
      <vt:lpstr>Roadmap</vt:lpstr>
      <vt:lpstr>Authentication</vt:lpstr>
      <vt:lpstr>Entity Authentication (EA)</vt:lpstr>
      <vt:lpstr>More Notions about Authentication</vt:lpstr>
      <vt:lpstr>Key Establishment</vt:lpstr>
      <vt:lpstr>Types of Key Establishment</vt:lpstr>
      <vt:lpstr>Types of Cryptographic Keys</vt:lpstr>
      <vt:lpstr>Key Management</vt:lpstr>
      <vt:lpstr>Authenticated Key Establishment (AKE)</vt:lpstr>
      <vt:lpstr>General Principle</vt:lpstr>
      <vt:lpstr>Roadmap</vt:lpstr>
      <vt:lpstr>Assumptions</vt:lpstr>
      <vt:lpstr>Non-maleable Encryption Schemes</vt:lpstr>
      <vt:lpstr>Model and Main Requirements</vt:lpstr>
      <vt:lpstr>Protocol I</vt:lpstr>
      <vt:lpstr>Protocol I: Description</vt:lpstr>
      <vt:lpstr>Protocol I: Analysis</vt:lpstr>
      <vt:lpstr>Protocol II: Flow</vt:lpstr>
      <vt:lpstr>Protocol II: Description</vt:lpstr>
      <vt:lpstr>Protocol II: Analysis</vt:lpstr>
      <vt:lpstr>Protocol II: First Attack </vt:lpstr>
      <vt:lpstr>Protocol II: Analysis of the First Attack</vt:lpstr>
      <vt:lpstr>Protocol II: Second Attack</vt:lpstr>
      <vt:lpstr>Protocol II: Analysis of the Second Attack</vt:lpstr>
      <vt:lpstr>Protocol II: Analysis of the Second Attack (cntd.)</vt:lpstr>
      <vt:lpstr>Protocol III: Flow</vt:lpstr>
      <vt:lpstr>Protocol III: Description</vt:lpstr>
      <vt:lpstr>Protocol III: Discussion</vt:lpstr>
      <vt:lpstr>Protocol III: Discussion (cntd.)</vt:lpstr>
      <vt:lpstr>Protocol III: Problems</vt:lpstr>
      <vt:lpstr>Protocol III: Replay Attack</vt:lpstr>
      <vt:lpstr>Protocol III: Analysis of the Attack</vt:lpstr>
      <vt:lpstr>Protocol III: Possible Countermeasures against Replay Attacks</vt:lpstr>
      <vt:lpstr>Basic Idea of Using Nonces</vt:lpstr>
      <vt:lpstr>Protocol IV (Needham‐Schroeder Protocol): Flow</vt:lpstr>
      <vt:lpstr>Neednam‐Schr. Protocol: Description (1)</vt:lpstr>
      <vt:lpstr>Neednam‐Schr. Protocol: Description (2)</vt:lpstr>
      <vt:lpstr>Neednam‐Schr. Protocol: Description (3)</vt:lpstr>
      <vt:lpstr>NS Protocol: Problems</vt:lpstr>
      <vt:lpstr>Denning‐Sacco Attack on NS‐Protocol</vt:lpstr>
      <vt:lpstr>Avoiding the Attack on the NS‐Protocol</vt:lpstr>
      <vt:lpstr>Protocol V: Bauer‐Berson‐Feiertag(BBF) Protocol</vt:lpstr>
      <vt:lpstr>BBF Protocol: Discussion</vt:lpstr>
      <vt:lpstr>Summary: Adversary Model</vt:lpstr>
      <vt:lpstr>Slide 49</vt:lpstr>
    </vt:vector>
  </TitlesOfParts>
  <Company>MAM</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Amrita University</dc:creator>
  <cp:lastModifiedBy>Lakshmy</cp:lastModifiedBy>
  <cp:revision>244</cp:revision>
  <dcterms:created xsi:type="dcterms:W3CDTF">2011-05-21T09:50:37Z</dcterms:created>
  <dcterms:modified xsi:type="dcterms:W3CDTF">2017-12-11T04:13:49Z</dcterms:modified>
</cp:coreProperties>
</file>