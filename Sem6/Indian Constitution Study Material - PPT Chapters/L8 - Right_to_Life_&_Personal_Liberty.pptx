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3" r:id="rId7"/>
    <p:sldId id="267" r:id="rId8"/>
    <p:sldId id="264" r:id="rId9"/>
    <p:sldId id="262" r:id="rId10"/>
    <p:sldId id="259" r:id="rId11"/>
    <p:sldId id="275" r:id="rId12"/>
    <p:sldId id="265" r:id="rId13"/>
    <p:sldId id="266" r:id="rId14"/>
    <p:sldId id="268" r:id="rId15"/>
    <p:sldId id="270" r:id="rId16"/>
    <p:sldId id="269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66" autoAdjust="0"/>
    <p:restoredTop sz="94660"/>
  </p:normalViewPr>
  <p:slideViewPr>
    <p:cSldViewPr>
      <p:cViewPr varScale="1">
        <p:scale>
          <a:sx n="80" d="100"/>
          <a:sy n="80" d="100"/>
        </p:scale>
        <p:origin x="142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Right to Life &amp; Personal Liberty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35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Why Right to Life &amp; Personal Liberty is important?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Right to Life &amp; Personal Liberty: </a:t>
            </a:r>
            <a:r>
              <a:rPr lang="en-US" dirty="0" smtClean="0">
                <a:solidFill>
                  <a:srgbClr val="FF0000"/>
                </a:solidFill>
              </a:rPr>
              <a:t>Heart of Fundamental Rights. </a:t>
            </a:r>
            <a:r>
              <a:rPr lang="en-US" dirty="0" smtClean="0">
                <a:solidFill>
                  <a:srgbClr val="92D050"/>
                </a:solidFill>
              </a:rPr>
              <a:t>Other Rights can be exercised only when life is protected.</a:t>
            </a:r>
          </a:p>
          <a:p>
            <a:r>
              <a:rPr lang="en-US" dirty="0" smtClean="0"/>
              <a:t>Right </a:t>
            </a:r>
            <a:r>
              <a:rPr lang="en-US" dirty="0"/>
              <a:t>to life and personal liberty is the </a:t>
            </a:r>
            <a:r>
              <a:rPr lang="en-US" dirty="0">
                <a:solidFill>
                  <a:srgbClr val="7030A0"/>
                </a:solidFill>
              </a:rPr>
              <a:t>primordial right </a:t>
            </a:r>
            <a:r>
              <a:rPr lang="en-US" dirty="0"/>
              <a:t>which every human being everywhere </a:t>
            </a:r>
            <a:r>
              <a:rPr lang="en-US" dirty="0">
                <a:solidFill>
                  <a:srgbClr val="FF0000"/>
                </a:solidFill>
              </a:rPr>
              <a:t>at all times </a:t>
            </a:r>
            <a:r>
              <a:rPr lang="en-US" dirty="0" smtClean="0"/>
              <a:t>ought </a:t>
            </a:r>
            <a:r>
              <a:rPr lang="en-US" dirty="0"/>
              <a:t>to have</a:t>
            </a:r>
            <a:r>
              <a:rPr lang="en-US" dirty="0" smtClean="0"/>
              <a:t>.</a:t>
            </a:r>
          </a:p>
          <a:p>
            <a:r>
              <a:rPr lang="en-US" dirty="0"/>
              <a:t>Right to life and personal liberty is  </a:t>
            </a:r>
            <a:r>
              <a:rPr lang="en-US" dirty="0" smtClean="0"/>
              <a:t>most basic or natural right. </a:t>
            </a:r>
            <a:r>
              <a:rPr lang="en-US" dirty="0">
                <a:solidFill>
                  <a:srgbClr val="FFC000"/>
                </a:solidFill>
              </a:rPr>
              <a:t>It is </a:t>
            </a:r>
            <a:r>
              <a:rPr lang="en-US" dirty="0" smtClean="0">
                <a:solidFill>
                  <a:srgbClr val="FFC000"/>
                </a:solidFill>
              </a:rPr>
              <a:t>inalienable </a:t>
            </a:r>
            <a:r>
              <a:rPr lang="en-US" dirty="0">
                <a:solidFill>
                  <a:srgbClr val="FFC000"/>
                </a:solidFill>
              </a:rPr>
              <a:t>fundamental </a:t>
            </a:r>
            <a:r>
              <a:rPr lang="en-US" dirty="0" smtClean="0">
                <a:solidFill>
                  <a:srgbClr val="FFC000"/>
                </a:solidFill>
              </a:rPr>
              <a:t>right.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Magna </a:t>
            </a:r>
            <a:r>
              <a:rPr lang="en-US" dirty="0" err="1">
                <a:solidFill>
                  <a:srgbClr val="FF0000"/>
                </a:solidFill>
              </a:rPr>
              <a:t>Carta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of 1215: </a:t>
            </a:r>
            <a:r>
              <a:rPr lang="en-US" dirty="0" smtClean="0"/>
              <a:t>No </a:t>
            </a:r>
            <a:r>
              <a:rPr lang="en-US" dirty="0"/>
              <a:t>free man shall be taken, or imprisoned or deceased or outlawed or banished or any ways destroyed, nor will the King </a:t>
            </a:r>
            <a:r>
              <a:rPr lang="en-US" dirty="0" smtClean="0"/>
              <a:t>pass </a:t>
            </a:r>
            <a:r>
              <a:rPr lang="en-US" dirty="0"/>
              <a:t>upon him or </a:t>
            </a:r>
            <a:r>
              <a:rPr lang="en-US" dirty="0">
                <a:solidFill>
                  <a:srgbClr val="7030A0"/>
                </a:solidFill>
              </a:rPr>
              <a:t>commit him to prison unless by the judgment of his peers or the law of the </a:t>
            </a:r>
            <a:r>
              <a:rPr lang="en-US" dirty="0" smtClean="0">
                <a:solidFill>
                  <a:srgbClr val="7030A0"/>
                </a:solidFill>
              </a:rPr>
              <a:t>land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7896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What is the significance of Article 21?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State was brought into existence through social contract </a:t>
            </a:r>
            <a:r>
              <a:rPr lang="en-US" dirty="0" smtClean="0">
                <a:solidFill>
                  <a:srgbClr val="FF0000"/>
                </a:solidFill>
              </a:rPr>
              <a:t>to protect life &amp; property. </a:t>
            </a:r>
          </a:p>
          <a:p>
            <a:r>
              <a:rPr lang="en-US" dirty="0" smtClean="0"/>
              <a:t>Protects Sanctity of Human Life.</a:t>
            </a:r>
          </a:p>
          <a:p>
            <a:r>
              <a:rPr lang="en-US" dirty="0" smtClean="0"/>
              <a:t>It embodies </a:t>
            </a:r>
            <a:r>
              <a:rPr lang="en-US" dirty="0" smtClean="0">
                <a:solidFill>
                  <a:srgbClr val="00B0F0"/>
                </a:solidFill>
              </a:rPr>
              <a:t>constitutional </a:t>
            </a:r>
            <a:r>
              <a:rPr lang="en-US" dirty="0">
                <a:solidFill>
                  <a:srgbClr val="00B0F0"/>
                </a:solidFill>
              </a:rPr>
              <a:t>value of supreme importance</a:t>
            </a:r>
            <a:r>
              <a:rPr lang="en-US" dirty="0"/>
              <a:t> i</a:t>
            </a:r>
            <a:r>
              <a:rPr lang="en-US" dirty="0" smtClean="0"/>
              <a:t>n </a:t>
            </a:r>
            <a:r>
              <a:rPr lang="en-US" dirty="0"/>
              <a:t>a democratic </a:t>
            </a:r>
            <a:r>
              <a:rPr lang="en-US" dirty="0" smtClean="0"/>
              <a:t>society.</a:t>
            </a:r>
          </a:p>
          <a:p>
            <a:r>
              <a:rPr lang="en-US" dirty="0" smtClean="0"/>
              <a:t>Human Life is impossible without the protection of Life &amp; Personal Liberty.</a:t>
            </a:r>
          </a:p>
        </p:txBody>
      </p:sp>
    </p:spTree>
    <p:extLst>
      <p:ext uri="{BB962C8B-B14F-4D97-AF65-F5344CB8AC3E}">
        <p14:creationId xmlns:p14="http://schemas.microsoft.com/office/powerpoint/2010/main" val="515316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Drafting of Article 21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algn="just"/>
            <a:r>
              <a:rPr lang="en-IN" dirty="0" smtClean="0"/>
              <a:t>Draft Article 15 was debated in the Constituent Assembly on </a:t>
            </a:r>
            <a:r>
              <a:rPr lang="en-IN" dirty="0" smtClean="0">
                <a:solidFill>
                  <a:srgbClr val="00B0F0"/>
                </a:solidFill>
              </a:rPr>
              <a:t>6</a:t>
            </a:r>
            <a:r>
              <a:rPr lang="en-IN" baseline="30000" dirty="0" smtClean="0">
                <a:solidFill>
                  <a:srgbClr val="00B0F0"/>
                </a:solidFill>
              </a:rPr>
              <a:t>th</a:t>
            </a:r>
            <a:r>
              <a:rPr lang="en-IN" dirty="0" smtClean="0">
                <a:solidFill>
                  <a:srgbClr val="00B0F0"/>
                </a:solidFill>
              </a:rPr>
              <a:t> and 13</a:t>
            </a:r>
            <a:r>
              <a:rPr lang="en-IN" baseline="30000" dirty="0" smtClean="0">
                <a:solidFill>
                  <a:srgbClr val="00B0F0"/>
                </a:solidFill>
              </a:rPr>
              <a:t>th</a:t>
            </a:r>
            <a:r>
              <a:rPr lang="en-IN" dirty="0" smtClean="0">
                <a:solidFill>
                  <a:srgbClr val="00B0F0"/>
                </a:solidFill>
              </a:rPr>
              <a:t> December,1948.</a:t>
            </a:r>
          </a:p>
          <a:p>
            <a:pPr algn="just"/>
            <a:r>
              <a:rPr lang="en-IN" dirty="0" smtClean="0"/>
              <a:t>Difference of Opinion on:</a:t>
            </a:r>
          </a:p>
          <a:p>
            <a:pPr algn="just"/>
            <a:r>
              <a:rPr lang="en-IN" dirty="0" smtClean="0"/>
              <a:t>Due Process of Law of United States: Vague &amp; gives too much of power to Judges</a:t>
            </a:r>
          </a:p>
          <a:p>
            <a:pPr algn="just"/>
            <a:r>
              <a:rPr lang="en-IN" dirty="0"/>
              <a:t>Procedure Established  by </a:t>
            </a:r>
            <a:r>
              <a:rPr lang="en-IN" dirty="0" smtClean="0"/>
              <a:t>Law: </a:t>
            </a:r>
            <a:r>
              <a:rPr lang="en-IN" dirty="0" smtClean="0">
                <a:solidFill>
                  <a:srgbClr val="FF0000"/>
                </a:solidFill>
              </a:rPr>
              <a:t>Japanese Constitution</a:t>
            </a:r>
          </a:p>
          <a:p>
            <a:pPr algn="just"/>
            <a:r>
              <a:rPr lang="en-IN" dirty="0" smtClean="0"/>
              <a:t>Article 15:</a:t>
            </a:r>
            <a:r>
              <a:rPr lang="en-US" dirty="0"/>
              <a:t>No person shall be deprived of his life or personal liberty except according to procedure established by law, </a:t>
            </a:r>
            <a:r>
              <a:rPr lang="en-US" dirty="0">
                <a:solidFill>
                  <a:srgbClr val="7030A0"/>
                </a:solidFill>
              </a:rPr>
              <a:t>nor shall any person be denied equality before the law or the equal protection of the laws within the territory of India</a:t>
            </a:r>
            <a:r>
              <a:rPr lang="en-US" dirty="0" smtClean="0">
                <a:solidFill>
                  <a:srgbClr val="7030A0"/>
                </a:solidFill>
              </a:rPr>
              <a:t>.</a:t>
            </a:r>
          </a:p>
          <a:p>
            <a:pPr algn="just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Second Part became Article 14 in the final Constitution.</a:t>
            </a:r>
          </a:p>
          <a:p>
            <a:pPr algn="just"/>
            <a:r>
              <a:rPr lang="en-US" dirty="0"/>
              <a:t>Article 21: </a:t>
            </a:r>
            <a:r>
              <a:rPr lang="en-US" dirty="0">
                <a:solidFill>
                  <a:srgbClr val="C00000"/>
                </a:solidFill>
              </a:rPr>
              <a:t>No one shall be deprived of his life or personal liberty except according to procedure established by law.</a:t>
            </a:r>
          </a:p>
          <a:p>
            <a:pPr algn="just"/>
            <a:endParaRPr lang="en-IN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153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the meaning of Life?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L</a:t>
            </a:r>
            <a:r>
              <a:rPr lang="en-US" dirty="0" smtClean="0">
                <a:solidFill>
                  <a:srgbClr val="FFC000"/>
                </a:solidFill>
              </a:rPr>
              <a:t>ife does not mean </a:t>
            </a:r>
            <a:r>
              <a:rPr lang="en-US" dirty="0">
                <a:solidFill>
                  <a:srgbClr val="FFC000"/>
                </a:solidFill>
              </a:rPr>
              <a:t>mere animal </a:t>
            </a:r>
            <a:r>
              <a:rPr lang="en-US" dirty="0" smtClean="0">
                <a:solidFill>
                  <a:srgbClr val="FFC000"/>
                </a:solidFill>
              </a:rPr>
              <a:t>existence.</a:t>
            </a:r>
          </a:p>
          <a:p>
            <a:r>
              <a:rPr lang="en-US" dirty="0" smtClean="0"/>
              <a:t>It  </a:t>
            </a:r>
            <a:r>
              <a:rPr lang="en-US" dirty="0"/>
              <a:t>extends to all those limbs and faculties by which life is enjoyed</a:t>
            </a:r>
            <a:r>
              <a:rPr lang="en-US" dirty="0" smtClean="0"/>
              <a:t>.</a:t>
            </a:r>
          </a:p>
          <a:p>
            <a:r>
              <a:rPr lang="en-US" dirty="0" err="1"/>
              <a:t>Maneka</a:t>
            </a:r>
            <a:r>
              <a:rPr lang="en-US" dirty="0"/>
              <a:t> Gandhi </a:t>
            </a:r>
            <a:r>
              <a:rPr lang="en-US" dirty="0" smtClean="0"/>
              <a:t>v. Union of India(1978)-Right </a:t>
            </a:r>
            <a:r>
              <a:rPr lang="en-US" dirty="0"/>
              <a:t>to life is not confined to physical existence but </a:t>
            </a:r>
            <a:r>
              <a:rPr lang="en-US" dirty="0">
                <a:solidFill>
                  <a:srgbClr val="FF0000"/>
                </a:solidFill>
              </a:rPr>
              <a:t>it includes right to life with human </a:t>
            </a:r>
            <a:r>
              <a:rPr lang="en-US" dirty="0" smtClean="0">
                <a:solidFill>
                  <a:srgbClr val="FF0000"/>
                </a:solidFill>
              </a:rPr>
              <a:t>dignity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and</a:t>
            </a:r>
          </a:p>
          <a:p>
            <a:r>
              <a:rPr lang="en-US" dirty="0" smtClean="0"/>
              <a:t>All </a:t>
            </a:r>
            <a:r>
              <a:rPr lang="en-US" dirty="0"/>
              <a:t>that goes along with it , namely , the bare </a:t>
            </a:r>
            <a:r>
              <a:rPr lang="en-US" dirty="0" smtClean="0"/>
              <a:t>necessities of </a:t>
            </a:r>
            <a:r>
              <a:rPr lang="en-US" dirty="0"/>
              <a:t>life such as </a:t>
            </a:r>
            <a:r>
              <a:rPr lang="en-US" dirty="0">
                <a:solidFill>
                  <a:srgbClr val="7030A0"/>
                </a:solidFill>
              </a:rPr>
              <a:t>adequate nutrition , clothing and shelter over the head and facilities for reading , writing and expressing oneself in diverse </a:t>
            </a:r>
            <a:r>
              <a:rPr lang="en-US" dirty="0" smtClean="0">
                <a:solidFill>
                  <a:srgbClr val="7030A0"/>
                </a:solidFill>
              </a:rPr>
              <a:t>forms</a:t>
            </a:r>
            <a:r>
              <a:rPr lang="en-US" dirty="0"/>
              <a:t>,</a:t>
            </a:r>
            <a:r>
              <a:rPr lang="en-US" dirty="0" smtClean="0"/>
              <a:t> </a:t>
            </a:r>
            <a:r>
              <a:rPr lang="en-US" dirty="0"/>
              <a:t>freely moving </a:t>
            </a:r>
            <a:r>
              <a:rPr lang="en-US" dirty="0" smtClean="0"/>
              <a:t>about etc.</a:t>
            </a:r>
          </a:p>
        </p:txBody>
      </p:sp>
    </p:spTree>
    <p:extLst>
      <p:ext uri="{BB962C8B-B14F-4D97-AF65-F5344CB8AC3E}">
        <p14:creationId xmlns:p14="http://schemas.microsoft.com/office/powerpoint/2010/main" val="2766904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included in right to life?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 smtClean="0">
                <a:solidFill>
                  <a:srgbClr val="7030A0"/>
                </a:solidFill>
              </a:rPr>
              <a:t>Right of only Natural Persons including non-Citizens</a:t>
            </a:r>
            <a:endParaRPr lang="en-IN" dirty="0">
              <a:solidFill>
                <a:srgbClr val="00B050"/>
              </a:solidFill>
            </a:endParaRPr>
          </a:p>
          <a:p>
            <a:pPr algn="just"/>
            <a:r>
              <a:rPr lang="en-US" dirty="0" smtClean="0"/>
              <a:t>It also includes following: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Olga </a:t>
            </a:r>
            <a:r>
              <a:rPr lang="en-US" dirty="0" err="1">
                <a:solidFill>
                  <a:srgbClr val="FF0000"/>
                </a:solidFill>
              </a:rPr>
              <a:t>Tellis</a:t>
            </a:r>
            <a:r>
              <a:rPr lang="en-US" dirty="0">
                <a:solidFill>
                  <a:srgbClr val="FF0000"/>
                </a:solidFill>
              </a:rPr>
              <a:t> v. Bombay Municipal Corporation(1985):  </a:t>
            </a:r>
            <a:r>
              <a:rPr lang="en-US" dirty="0">
                <a:solidFill>
                  <a:srgbClr val="00B050"/>
                </a:solidFill>
              </a:rPr>
              <a:t>Right to livelihood</a:t>
            </a:r>
            <a:endParaRPr lang="en-US" dirty="0" smtClean="0"/>
          </a:p>
          <a:p>
            <a:pPr algn="just"/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Paschim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Banga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Khet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Mazdoor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Samiti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v. State of West Bengal(1996): </a:t>
            </a:r>
            <a:r>
              <a:rPr lang="en-US" dirty="0" smtClean="0"/>
              <a:t>Right to Health and emergency medical aid </a:t>
            </a:r>
            <a:r>
              <a:rPr lang="en-US" dirty="0" smtClean="0">
                <a:solidFill>
                  <a:srgbClr val="FF0000"/>
                </a:solidFill>
              </a:rPr>
              <a:t>even in private hospitals.</a:t>
            </a:r>
          </a:p>
          <a:p>
            <a:pPr algn="just"/>
            <a:r>
              <a:rPr lang="en-US" dirty="0" err="1" smtClean="0">
                <a:solidFill>
                  <a:srgbClr val="00B050"/>
                </a:solidFill>
              </a:rPr>
              <a:t>M.C.Mehta</a:t>
            </a:r>
            <a:r>
              <a:rPr lang="en-US" dirty="0" smtClean="0">
                <a:solidFill>
                  <a:srgbClr val="00B050"/>
                </a:solidFill>
              </a:rPr>
              <a:t> v. Union of India(1987):Right to unpolluted environment </a:t>
            </a:r>
          </a:p>
          <a:p>
            <a:pPr algn="just"/>
            <a:r>
              <a:rPr lang="en-US" dirty="0" smtClean="0"/>
              <a:t>Right to shelter</a:t>
            </a:r>
          </a:p>
          <a:p>
            <a:pPr algn="just"/>
            <a:r>
              <a:rPr lang="en-US" dirty="0" err="1" smtClean="0"/>
              <a:t>Unnikrishnanan</a:t>
            </a:r>
            <a:r>
              <a:rPr lang="en-US" dirty="0" smtClean="0"/>
              <a:t> </a:t>
            </a:r>
            <a:r>
              <a:rPr lang="en-US" dirty="0" err="1" smtClean="0"/>
              <a:t>v.State</a:t>
            </a:r>
            <a:r>
              <a:rPr lang="en-US" dirty="0" smtClean="0"/>
              <a:t> of A.P.(1993):Right to education of children till 14 years. </a:t>
            </a:r>
            <a:r>
              <a:rPr lang="en-US" dirty="0" smtClean="0">
                <a:solidFill>
                  <a:srgbClr val="00B050"/>
                </a:solidFill>
              </a:rPr>
              <a:t>Higher Education not included.</a:t>
            </a:r>
          </a:p>
          <a:p>
            <a:pPr algn="just"/>
            <a:r>
              <a:rPr lang="en-US" dirty="0" smtClean="0">
                <a:solidFill>
                  <a:srgbClr val="00B050"/>
                </a:solidFill>
              </a:rPr>
              <a:t>Article 2-A, 86</a:t>
            </a:r>
            <a:r>
              <a:rPr lang="en-US" baseline="30000" dirty="0" smtClean="0">
                <a:solidFill>
                  <a:srgbClr val="00B050"/>
                </a:solidFill>
              </a:rPr>
              <a:t>th</a:t>
            </a:r>
            <a:r>
              <a:rPr lang="en-US" dirty="0" smtClean="0">
                <a:solidFill>
                  <a:srgbClr val="00B050"/>
                </a:solidFill>
              </a:rPr>
              <a:t> Amendment,2002: Free education for children between 6-14 years of age.</a:t>
            </a:r>
            <a:r>
              <a:rPr lang="en-US" dirty="0"/>
              <a:t> The Right of Children to Free and Compulsory Education (RTE) Act, </a:t>
            </a:r>
            <a:r>
              <a:rPr lang="en-US" dirty="0" smtClean="0"/>
              <a:t>2009.</a:t>
            </a:r>
            <a:endParaRPr lang="en-US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125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included in Right to Life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Right to Reputation</a:t>
            </a:r>
          </a:p>
          <a:p>
            <a:r>
              <a:rPr lang="en-US" dirty="0">
                <a:solidFill>
                  <a:srgbClr val="C00000"/>
                </a:solidFill>
              </a:rPr>
              <a:t>Right to Fair &amp; Speedy Trial: Justice Delayed is Justice Denied</a:t>
            </a:r>
          </a:p>
          <a:p>
            <a:r>
              <a:rPr lang="en-US" dirty="0" err="1"/>
              <a:t>M.H.Hoskot</a:t>
            </a:r>
            <a:r>
              <a:rPr lang="en-US" dirty="0"/>
              <a:t> v. State of Maharashtra(1978): </a:t>
            </a:r>
            <a:r>
              <a:rPr lang="en-US" dirty="0">
                <a:solidFill>
                  <a:srgbClr val="FFC000"/>
                </a:solidFill>
              </a:rPr>
              <a:t>Right to Legal </a:t>
            </a:r>
            <a:r>
              <a:rPr lang="en-US" dirty="0" smtClean="0">
                <a:solidFill>
                  <a:srgbClr val="FFC000"/>
                </a:solidFill>
              </a:rPr>
              <a:t>Aid</a:t>
            </a:r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Ram </a:t>
            </a:r>
            <a:r>
              <a:rPr lang="en-US" dirty="0" err="1">
                <a:solidFill>
                  <a:srgbClr val="00B050"/>
                </a:solidFill>
              </a:rPr>
              <a:t>Dev</a:t>
            </a:r>
            <a:r>
              <a:rPr lang="en-US" dirty="0">
                <a:solidFill>
                  <a:srgbClr val="00B050"/>
                </a:solidFill>
              </a:rPr>
              <a:t> v. Home Secretary(2012): Right to Sound Sleep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3611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</a:t>
            </a:r>
            <a:r>
              <a:rPr lang="en-US" dirty="0" smtClean="0"/>
              <a:t>is not included </a:t>
            </a:r>
            <a:r>
              <a:rPr lang="en-US" dirty="0"/>
              <a:t>in right to life?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 smtClean="0">
                <a:solidFill>
                  <a:srgbClr val="00B0F0"/>
                </a:solidFill>
              </a:rPr>
              <a:t>P.Rathinam</a:t>
            </a:r>
            <a:r>
              <a:rPr lang="en-US" dirty="0" smtClean="0">
                <a:solidFill>
                  <a:srgbClr val="00B0F0"/>
                </a:solidFill>
              </a:rPr>
              <a:t> v. Union of India: Right to Die.</a:t>
            </a:r>
            <a:r>
              <a:rPr lang="en-US" dirty="0" smtClean="0"/>
              <a:t> Section 309 of IPC was struck down. It was overruled in </a:t>
            </a:r>
            <a:r>
              <a:rPr lang="en-US" dirty="0" err="1" smtClean="0">
                <a:solidFill>
                  <a:srgbClr val="FF0000"/>
                </a:solidFill>
              </a:rPr>
              <a:t>Gyan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Kaur</a:t>
            </a:r>
            <a:r>
              <a:rPr lang="en-US" dirty="0" smtClean="0">
                <a:solidFill>
                  <a:srgbClr val="FF0000"/>
                </a:solidFill>
              </a:rPr>
              <a:t> v. State of Punjab(1996</a:t>
            </a:r>
            <a:r>
              <a:rPr lang="en-US" dirty="0" smtClean="0"/>
              <a:t>)</a:t>
            </a:r>
          </a:p>
          <a:p>
            <a:r>
              <a:rPr lang="en-US" dirty="0" smtClean="0"/>
              <a:t>Right to Vote</a:t>
            </a:r>
          </a:p>
          <a:p>
            <a:r>
              <a:rPr lang="en-US" dirty="0" smtClean="0"/>
              <a:t>Right to Property : Displacement of Landowner due to Land Acquisition not covered.</a:t>
            </a:r>
          </a:p>
          <a:p>
            <a:r>
              <a:rPr lang="en-US" dirty="0" smtClean="0">
                <a:solidFill>
                  <a:srgbClr val="FFC000"/>
                </a:solidFill>
              </a:rPr>
              <a:t>Right to revision of Pay </a:t>
            </a:r>
          </a:p>
          <a:p>
            <a:r>
              <a:rPr lang="en-US" dirty="0" smtClean="0"/>
              <a:t>Right to participate in Student’s Union Elections</a:t>
            </a:r>
          </a:p>
          <a:p>
            <a:r>
              <a:rPr lang="en-US" dirty="0" smtClean="0"/>
              <a:t>Right to Food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Right to Minimum Support Price(MSP) for  the Crops</a:t>
            </a:r>
          </a:p>
          <a:p>
            <a:r>
              <a:rPr lang="en-US" dirty="0" smtClean="0">
                <a:solidFill>
                  <a:srgbClr val="92D050"/>
                </a:solidFill>
              </a:rPr>
              <a:t>Right to Housing</a:t>
            </a:r>
            <a:endParaRPr lang="en-IN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02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Personal Liberty?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endParaRPr lang="en-US" dirty="0" smtClean="0"/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Expression “Liberty” in American Constitution is given wider meaning and it takes in all freedoms.</a:t>
            </a:r>
          </a:p>
          <a:p>
            <a:pPr algn="just"/>
            <a:r>
              <a:rPr lang="en-US" dirty="0" smtClean="0">
                <a:solidFill>
                  <a:srgbClr val="7030A0"/>
                </a:solidFill>
              </a:rPr>
              <a:t>Liberty is not confined just to bodily restraints and extends to full range of activities which an individual is free to pursue.</a:t>
            </a:r>
          </a:p>
          <a:p>
            <a:pPr algn="just"/>
            <a:r>
              <a:rPr lang="en-US" dirty="0" smtClean="0">
                <a:solidFill>
                  <a:schemeClr val="accent1"/>
                </a:solidFill>
              </a:rPr>
              <a:t>Article 21: Liberty is qualified by the expression “Personal.”</a:t>
            </a:r>
          </a:p>
          <a:p>
            <a:pPr algn="just"/>
            <a:r>
              <a:rPr lang="en-US" dirty="0" err="1">
                <a:solidFill>
                  <a:srgbClr val="7030A0"/>
                </a:solidFill>
              </a:rPr>
              <a:t>Kharak</a:t>
            </a:r>
            <a:r>
              <a:rPr lang="en-US" dirty="0">
                <a:solidFill>
                  <a:srgbClr val="7030A0"/>
                </a:solidFill>
              </a:rPr>
              <a:t> Singh </a:t>
            </a:r>
            <a:r>
              <a:rPr lang="en-US" dirty="0" err="1">
                <a:solidFill>
                  <a:srgbClr val="7030A0"/>
                </a:solidFill>
              </a:rPr>
              <a:t>v.State</a:t>
            </a:r>
            <a:r>
              <a:rPr lang="en-US" dirty="0">
                <a:solidFill>
                  <a:srgbClr val="7030A0"/>
                </a:solidFill>
              </a:rPr>
              <a:t> of U.P.(1963</a:t>
            </a:r>
            <a:r>
              <a:rPr lang="en-US" dirty="0" smtClean="0">
                <a:solidFill>
                  <a:srgbClr val="7030A0"/>
                </a:solidFill>
              </a:rPr>
              <a:t>):</a:t>
            </a:r>
            <a:r>
              <a:rPr lang="en-US" dirty="0" smtClean="0">
                <a:solidFill>
                  <a:srgbClr val="00B0F0"/>
                </a:solidFill>
              </a:rPr>
              <a:t>Personal liberty not confined just to </a:t>
            </a:r>
            <a:r>
              <a:rPr lang="en-US" dirty="0">
                <a:solidFill>
                  <a:srgbClr val="00B0F0"/>
                </a:solidFill>
              </a:rPr>
              <a:t>a personal right not to be subjected to imprisonment, arrest or other physical coercion in any manner that does not admit of legal </a:t>
            </a:r>
            <a:r>
              <a:rPr lang="en-US" dirty="0" smtClean="0">
                <a:solidFill>
                  <a:srgbClr val="00B0F0"/>
                </a:solidFill>
              </a:rPr>
              <a:t>justification. 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It includes all liberties of man not included in Article 19(1). The residue liberties are included in Article 21.</a:t>
            </a:r>
          </a:p>
          <a:p>
            <a:pPr algn="just"/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Maneka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Gandhi v. Union of India(1978): expression personal Liberty is of widest amplitude and </a:t>
            </a:r>
            <a:r>
              <a:rPr lang="en-US" dirty="0" smtClean="0">
                <a:solidFill>
                  <a:srgbClr val="C00000"/>
                </a:solidFill>
              </a:rPr>
              <a:t>covers variety of rights.</a:t>
            </a:r>
          </a:p>
          <a:p>
            <a:pPr marL="0" indent="0" algn="just">
              <a:buNone/>
            </a:pPr>
            <a:endParaRPr lang="en-US" dirty="0" smtClean="0">
              <a:solidFill>
                <a:srgbClr val="7030A0"/>
              </a:solidFill>
            </a:endParaRPr>
          </a:p>
          <a:p>
            <a:pPr algn="just"/>
            <a:endParaRPr lang="en-IN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621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included in Personal Liberty?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 smtClean="0"/>
              <a:t>Justice </a:t>
            </a:r>
            <a:r>
              <a:rPr lang="en-US" dirty="0" err="1" smtClean="0"/>
              <a:t>K.M.Puttuswami</a:t>
            </a:r>
            <a:r>
              <a:rPr lang="en-US" dirty="0" smtClean="0"/>
              <a:t> v. Union of India (2017): </a:t>
            </a:r>
            <a:r>
              <a:rPr lang="en-US" dirty="0" smtClean="0">
                <a:solidFill>
                  <a:srgbClr val="7030A0"/>
                </a:solidFill>
              </a:rPr>
              <a:t>Right to Privacy and is the constitutional core of human dignity.</a:t>
            </a:r>
          </a:p>
          <a:p>
            <a:pPr algn="just"/>
            <a:r>
              <a:rPr lang="en-US" dirty="0" smtClean="0">
                <a:solidFill>
                  <a:srgbClr val="002060"/>
                </a:solidFill>
              </a:rPr>
              <a:t>Right to Privacy  like other Fundamental </a:t>
            </a:r>
            <a:r>
              <a:rPr lang="en-US" dirty="0" err="1" smtClean="0">
                <a:solidFill>
                  <a:srgbClr val="002060"/>
                </a:solidFill>
              </a:rPr>
              <a:t>Rightd</a:t>
            </a:r>
            <a:r>
              <a:rPr lang="en-US" dirty="0" smtClean="0">
                <a:solidFill>
                  <a:srgbClr val="002060"/>
                </a:solidFill>
              </a:rPr>
              <a:t> is not Absolute</a:t>
            </a:r>
          </a:p>
          <a:p>
            <a:pPr algn="just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Even a woman of easy virtue is entitled to  Right to Privacy.</a:t>
            </a:r>
          </a:p>
          <a:p>
            <a:pPr algn="just"/>
            <a:r>
              <a:rPr lang="en-US" dirty="0" smtClean="0">
                <a:solidFill>
                  <a:srgbClr val="00B050"/>
                </a:solidFill>
              </a:rPr>
              <a:t>Telephone Tapping: Violation of Privacy.</a:t>
            </a:r>
          </a:p>
          <a:p>
            <a:pPr algn="just"/>
            <a:r>
              <a:rPr lang="en-US" dirty="0" smtClean="0"/>
              <a:t>HIV Positive Person: No right to Privacy </a:t>
            </a:r>
            <a:r>
              <a:rPr lang="en-US" dirty="0" smtClean="0">
                <a:solidFill>
                  <a:srgbClr val="7030A0"/>
                </a:solidFill>
              </a:rPr>
              <a:t>if doctor disclosed his status to would be wife.</a:t>
            </a:r>
          </a:p>
          <a:p>
            <a:pPr algn="just"/>
            <a:r>
              <a:rPr lang="en-US" dirty="0" smtClean="0">
                <a:solidFill>
                  <a:srgbClr val="00B0F0"/>
                </a:solidFill>
              </a:rPr>
              <a:t>Right to Travel abroad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Right of prisoner to write a book &amp; includes right to socialize with family members.</a:t>
            </a:r>
          </a:p>
          <a:p>
            <a:pPr algn="just"/>
            <a:r>
              <a:rPr lang="en-US" dirty="0" smtClean="0">
                <a:solidFill>
                  <a:srgbClr val="00B050"/>
                </a:solidFill>
              </a:rPr>
              <a:t>Handcuffing of accused is permitted only in extraordinary circumstances.</a:t>
            </a:r>
          </a:p>
          <a:p>
            <a:pPr algn="just"/>
            <a:r>
              <a:rPr lang="en-US" dirty="0" smtClean="0">
                <a:solidFill>
                  <a:srgbClr val="00B050"/>
                </a:solidFill>
              </a:rPr>
              <a:t>Passive Euthanasia </a:t>
            </a:r>
          </a:p>
          <a:p>
            <a:pPr algn="just"/>
            <a:r>
              <a:rPr lang="en-US" dirty="0" smtClean="0">
                <a:solidFill>
                  <a:srgbClr val="C00000"/>
                </a:solidFill>
              </a:rPr>
              <a:t>Right to choose Spouse</a:t>
            </a:r>
          </a:p>
          <a:p>
            <a:pPr algn="just"/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160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included in Personal Liberty?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FFC000"/>
                </a:solidFill>
              </a:rPr>
              <a:t>Right to compensation</a:t>
            </a:r>
            <a:r>
              <a:rPr lang="en-US" dirty="0" smtClean="0"/>
              <a:t>: </a:t>
            </a:r>
            <a:r>
              <a:rPr lang="en-US" dirty="0" err="1" smtClean="0"/>
              <a:t>Rudul</a:t>
            </a:r>
            <a:r>
              <a:rPr lang="en-US" dirty="0" smtClean="0"/>
              <a:t> </a:t>
            </a:r>
            <a:r>
              <a:rPr lang="en-US" dirty="0" err="1" smtClean="0"/>
              <a:t>Sah</a:t>
            </a:r>
            <a:r>
              <a:rPr lang="en-US" dirty="0" smtClean="0"/>
              <a:t> v. State of Bihar(1983): Compensation by the Writ Courts.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Delay in execution </a:t>
            </a:r>
            <a:r>
              <a:rPr lang="en-US" dirty="0" smtClean="0"/>
              <a:t>is </a:t>
            </a:r>
            <a:r>
              <a:rPr lang="en-US" dirty="0" err="1" smtClean="0"/>
              <a:t>violative</a:t>
            </a:r>
            <a:r>
              <a:rPr lang="en-US" dirty="0" smtClean="0"/>
              <a:t> of Right to Life &amp; Personal Liberty.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Public Hanging </a:t>
            </a:r>
            <a:r>
              <a:rPr lang="en-US" dirty="0" smtClean="0"/>
              <a:t>is </a:t>
            </a:r>
            <a:r>
              <a:rPr lang="en-US" dirty="0" err="1"/>
              <a:t>violative</a:t>
            </a:r>
            <a:r>
              <a:rPr lang="en-US" dirty="0"/>
              <a:t> of Right to Life &amp; Personal Liberty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FFC000"/>
                </a:solidFill>
              </a:rPr>
              <a:t>Right to Electricity</a:t>
            </a:r>
          </a:p>
          <a:p>
            <a:r>
              <a:rPr lang="en-US" dirty="0" smtClean="0"/>
              <a:t>Right to pollution free water.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601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the meaning of procedure established by Law?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Procedure established by Statute or prescribed by Law.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It must be  the procedure under valid Law.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American Law: Due process: wider expression: courts would examine justness &amp; fairness of Law.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A.K. </a:t>
            </a:r>
            <a:r>
              <a:rPr lang="en-US" dirty="0" err="1" smtClean="0">
                <a:solidFill>
                  <a:srgbClr val="FF0000"/>
                </a:solidFill>
              </a:rPr>
              <a:t>Gopalan</a:t>
            </a:r>
            <a:r>
              <a:rPr lang="en-US" dirty="0" smtClean="0">
                <a:solidFill>
                  <a:srgbClr val="FF0000"/>
                </a:solidFill>
              </a:rPr>
              <a:t>. State of Madras(1950): Procedure established by law means nothing more than the procedure enacted by State. </a:t>
            </a:r>
            <a:r>
              <a:rPr lang="en-US" dirty="0" smtClean="0">
                <a:solidFill>
                  <a:srgbClr val="FFC000"/>
                </a:solidFill>
              </a:rPr>
              <a:t>It does not include ‘due Process of Law’.</a:t>
            </a:r>
          </a:p>
          <a:p>
            <a:r>
              <a:rPr lang="en-US" dirty="0" err="1" smtClean="0">
                <a:solidFill>
                  <a:srgbClr val="00B050"/>
                </a:solidFill>
              </a:rPr>
              <a:t>Maneka</a:t>
            </a:r>
            <a:r>
              <a:rPr lang="en-US" dirty="0" smtClean="0">
                <a:solidFill>
                  <a:srgbClr val="00B050"/>
                </a:solidFill>
              </a:rPr>
              <a:t> Gandhi(1978): Procedure must be just, fair, reasonable, non-arbitrary, fanciful or oppressive.</a:t>
            </a:r>
          </a:p>
        </p:txBody>
      </p:sp>
    </p:spTree>
    <p:extLst>
      <p:ext uri="{BB962C8B-B14F-4D97-AF65-F5344CB8AC3E}">
        <p14:creationId xmlns:p14="http://schemas.microsoft.com/office/powerpoint/2010/main" val="365349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the relationship between Articles 14,19 &amp; 21?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 smtClean="0"/>
              <a:t>A.K. </a:t>
            </a:r>
            <a:r>
              <a:rPr lang="en-US" dirty="0" err="1" smtClean="0"/>
              <a:t>Gopalan</a:t>
            </a:r>
            <a:r>
              <a:rPr lang="en-US" dirty="0" smtClean="0"/>
              <a:t> (1950): </a:t>
            </a:r>
            <a:r>
              <a:rPr lang="en-US" dirty="0"/>
              <a:t>liberties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FF0000"/>
                </a:solidFill>
              </a:rPr>
              <a:t>Not </a:t>
            </a:r>
            <a:r>
              <a:rPr lang="en-US" dirty="0">
                <a:solidFill>
                  <a:srgbClr val="FF0000"/>
                </a:solidFill>
              </a:rPr>
              <a:t>interrelated but </a:t>
            </a:r>
            <a:r>
              <a:rPr lang="en-US" dirty="0" smtClean="0">
                <a:solidFill>
                  <a:srgbClr val="FF0000"/>
                </a:solidFill>
              </a:rPr>
              <a:t>exclusive. </a:t>
            </a:r>
            <a:r>
              <a:rPr lang="en-US" dirty="0" smtClean="0"/>
              <a:t>Article 19 not applicable to preventive detention. Article 21 and Article 19 deal with different kinds of liberties.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err="1" smtClean="0">
                <a:solidFill>
                  <a:srgbClr val="7030A0"/>
                </a:solidFill>
              </a:rPr>
              <a:t>Maneka</a:t>
            </a:r>
            <a:r>
              <a:rPr lang="en-US" dirty="0" smtClean="0">
                <a:solidFill>
                  <a:srgbClr val="7030A0"/>
                </a:solidFill>
              </a:rPr>
              <a:t> Gandhi(1978): Interconnected &amp; are to be read together.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Article 14 &amp; 21 if read together require ‘Reasonableness’.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Privacy Judgment (2017): Rights are not be read in silos.</a:t>
            </a:r>
          </a:p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Silences of the Constitution are equally Important.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118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When can Right to Life and Personal Liberty be suspended?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Article </a:t>
            </a:r>
            <a:r>
              <a:rPr lang="en-US" dirty="0" smtClean="0"/>
              <a:t>352</a:t>
            </a:r>
            <a:r>
              <a:rPr lang="en-IN" dirty="0" smtClean="0"/>
              <a:t>:</a:t>
            </a:r>
            <a:r>
              <a:rPr lang="en-US" dirty="0" smtClean="0"/>
              <a:t>Emergency can be declared when the </a:t>
            </a:r>
            <a:r>
              <a:rPr lang="en-US" dirty="0" smtClean="0">
                <a:solidFill>
                  <a:srgbClr val="FF0000"/>
                </a:solidFill>
              </a:rPr>
              <a:t>security of India is threatened by armed rebellion or war or external aggression.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Article 358: Article 19 rights are automatically suspended.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Article 359: right to move to the court can be suspended through a presidential Order.</a:t>
            </a:r>
          </a:p>
          <a:p>
            <a:r>
              <a:rPr lang="en-US" dirty="0" smtClean="0"/>
              <a:t>National Emergency:1975; Habeas Corpus Case    (ADM Jabalpur v. </a:t>
            </a:r>
            <a:r>
              <a:rPr lang="en-US" dirty="0" err="1" smtClean="0"/>
              <a:t>Shivkant</a:t>
            </a:r>
            <a:r>
              <a:rPr lang="en-US" dirty="0" smtClean="0"/>
              <a:t> </a:t>
            </a:r>
            <a:r>
              <a:rPr lang="en-US" dirty="0" err="1" smtClean="0"/>
              <a:t>Shukla</a:t>
            </a:r>
            <a:r>
              <a:rPr lang="en-US" dirty="0" smtClean="0"/>
              <a:t> (1976)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44</a:t>
            </a:r>
            <a:r>
              <a:rPr lang="en-US" baseline="30000" dirty="0" smtClean="0">
                <a:solidFill>
                  <a:srgbClr val="00B050"/>
                </a:solidFill>
              </a:rPr>
              <a:t>th</a:t>
            </a:r>
            <a:r>
              <a:rPr lang="en-US" dirty="0" smtClean="0">
                <a:solidFill>
                  <a:srgbClr val="00B050"/>
                </a:solidFill>
              </a:rPr>
              <a:t> Amendment, 1978: Articles 20 and 21 are now non-</a:t>
            </a:r>
            <a:r>
              <a:rPr lang="en-US" dirty="0" err="1" smtClean="0">
                <a:solidFill>
                  <a:srgbClr val="00B050"/>
                </a:solidFill>
              </a:rPr>
              <a:t>derogable</a:t>
            </a:r>
            <a:r>
              <a:rPr lang="en-US" dirty="0" smtClean="0">
                <a:solidFill>
                  <a:srgbClr val="00B050"/>
                </a:solidFill>
              </a:rPr>
              <a:t> Fundamental Rights.</a:t>
            </a:r>
          </a:p>
        </p:txBody>
      </p:sp>
    </p:spTree>
    <p:extLst>
      <p:ext uri="{BB962C8B-B14F-4D97-AF65-F5344CB8AC3E}">
        <p14:creationId xmlns:p14="http://schemas.microsoft.com/office/powerpoint/2010/main" val="1083429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was </a:t>
            </a:r>
            <a:r>
              <a:rPr lang="en-US" dirty="0" err="1" smtClean="0"/>
              <a:t>Aadhaar</a:t>
            </a:r>
            <a:r>
              <a:rPr lang="en-US" dirty="0" smtClean="0"/>
              <a:t> Judgment?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 smtClean="0"/>
              <a:t>Aadhar</a:t>
            </a:r>
            <a:r>
              <a:rPr lang="en-US" dirty="0" smtClean="0"/>
              <a:t>: </a:t>
            </a:r>
            <a:r>
              <a:rPr lang="en-US" dirty="0" err="1">
                <a:solidFill>
                  <a:srgbClr val="FF0000"/>
                </a:solidFill>
              </a:rPr>
              <a:t>Aadhaar</a:t>
            </a:r>
            <a:r>
              <a:rPr lang="en-US" dirty="0">
                <a:solidFill>
                  <a:srgbClr val="FF0000"/>
                </a:solidFill>
              </a:rPr>
              <a:t> is a verifiable 12-digit identification number </a:t>
            </a:r>
            <a:r>
              <a:rPr lang="en-US" dirty="0"/>
              <a:t>issued by </a:t>
            </a:r>
            <a:r>
              <a:rPr lang="en-US" dirty="0" smtClean="0"/>
              <a:t>Unique Identification Authority of India; </a:t>
            </a:r>
            <a:r>
              <a:rPr lang="en-US" dirty="0" smtClean="0">
                <a:solidFill>
                  <a:srgbClr val="00B050"/>
                </a:solidFill>
              </a:rPr>
              <a:t>Not proof of citizenship </a:t>
            </a:r>
            <a:r>
              <a:rPr lang="en-US" dirty="0" smtClean="0">
                <a:solidFill>
                  <a:srgbClr val="7030A0"/>
                </a:solidFill>
              </a:rPr>
              <a:t>but  of residence.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Supreme Court upheld </a:t>
            </a:r>
            <a:r>
              <a:rPr lang="en-US" dirty="0">
                <a:solidFill>
                  <a:srgbClr val="FF0000"/>
                </a:solidFill>
              </a:rPr>
              <a:t>the constitutionality of the </a:t>
            </a:r>
            <a:r>
              <a:rPr lang="en-US" dirty="0" err="1">
                <a:solidFill>
                  <a:srgbClr val="FF0000"/>
                </a:solidFill>
              </a:rPr>
              <a:t>Aadhaar</a:t>
            </a:r>
            <a:r>
              <a:rPr lang="en-US" dirty="0">
                <a:solidFill>
                  <a:srgbClr val="FF0000"/>
                </a:solidFill>
              </a:rPr>
              <a:t> Act, 2016 </a:t>
            </a:r>
            <a:r>
              <a:rPr lang="en-US" dirty="0"/>
              <a:t>barring a few provisions on disclosure of personal information, cognizance of offences and </a:t>
            </a:r>
            <a:r>
              <a:rPr lang="en-US" dirty="0">
                <a:solidFill>
                  <a:srgbClr val="7030A0"/>
                </a:solidFill>
              </a:rPr>
              <a:t>use of the </a:t>
            </a:r>
            <a:r>
              <a:rPr lang="en-US" dirty="0" err="1">
                <a:solidFill>
                  <a:srgbClr val="7030A0"/>
                </a:solidFill>
              </a:rPr>
              <a:t>Aadhaar</a:t>
            </a:r>
            <a:r>
              <a:rPr lang="en-US" dirty="0">
                <a:solidFill>
                  <a:srgbClr val="7030A0"/>
                </a:solidFill>
              </a:rPr>
              <a:t> ecosystem by private corporations</a:t>
            </a:r>
            <a:r>
              <a:rPr lang="en-US" dirty="0" smtClean="0">
                <a:solidFill>
                  <a:srgbClr val="7030A0"/>
                </a:solidFill>
              </a:rPr>
              <a:t>.</a:t>
            </a:r>
          </a:p>
          <a:p>
            <a:pPr algn="just"/>
            <a:r>
              <a:rPr lang="en-US" dirty="0"/>
              <a:t>Circular dated March 23, 2017 </a:t>
            </a:r>
            <a:r>
              <a:rPr lang="en-US" dirty="0">
                <a:solidFill>
                  <a:srgbClr val="C00000"/>
                </a:solidFill>
              </a:rPr>
              <a:t>mandating linking of mobile number with </a:t>
            </a:r>
            <a:r>
              <a:rPr lang="en-US" dirty="0" err="1">
                <a:solidFill>
                  <a:srgbClr val="C00000"/>
                </a:solidFill>
              </a:rPr>
              <a:t>Aadhaar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was </a:t>
            </a:r>
            <a:r>
              <a:rPr lang="en-US" dirty="0">
                <a:solidFill>
                  <a:srgbClr val="C00000"/>
                </a:solidFill>
              </a:rPr>
              <a:t>held </a:t>
            </a:r>
            <a:r>
              <a:rPr lang="en-US" dirty="0" smtClean="0">
                <a:solidFill>
                  <a:srgbClr val="C00000"/>
                </a:solidFill>
              </a:rPr>
              <a:t>as illegal </a:t>
            </a:r>
            <a:r>
              <a:rPr lang="en-US" dirty="0">
                <a:solidFill>
                  <a:srgbClr val="C00000"/>
                </a:solidFill>
              </a:rPr>
              <a:t>and unconstitutional </a:t>
            </a:r>
            <a:r>
              <a:rPr lang="en-US" dirty="0"/>
              <a:t>as it </a:t>
            </a:r>
            <a:r>
              <a:rPr lang="en-US" dirty="0" smtClean="0"/>
              <a:t>was </a:t>
            </a:r>
            <a:r>
              <a:rPr lang="en-US" dirty="0"/>
              <a:t>not backed by </a:t>
            </a:r>
            <a:r>
              <a:rPr lang="en-US" dirty="0">
                <a:solidFill>
                  <a:srgbClr val="C00000"/>
                </a:solidFill>
              </a:rPr>
              <a:t>any law </a:t>
            </a:r>
            <a:r>
              <a:rPr lang="en-US" dirty="0"/>
              <a:t>and </a:t>
            </a:r>
            <a:r>
              <a:rPr lang="en-US" dirty="0" smtClean="0"/>
              <a:t>was thus </a:t>
            </a:r>
            <a:r>
              <a:rPr lang="en-US" dirty="0"/>
              <a:t>quashed</a:t>
            </a:r>
            <a:r>
              <a:rPr lang="en-US" dirty="0" smtClean="0"/>
              <a:t>.</a:t>
            </a:r>
          </a:p>
          <a:p>
            <a:pPr algn="just"/>
            <a:r>
              <a:rPr lang="en-US" dirty="0" err="1" smtClean="0">
                <a:solidFill>
                  <a:srgbClr val="00B050"/>
                </a:solidFill>
              </a:rPr>
              <a:t>Aadhaar</a:t>
            </a:r>
            <a:r>
              <a:rPr lang="en-US" dirty="0" smtClean="0">
                <a:solidFill>
                  <a:srgbClr val="00B050"/>
                </a:solidFill>
              </a:rPr>
              <a:t> does not violate Right to Privacy.</a:t>
            </a:r>
          </a:p>
          <a:p>
            <a:pPr algn="just"/>
            <a:r>
              <a:rPr lang="en-US" dirty="0"/>
              <a:t>The architecture of </a:t>
            </a:r>
            <a:r>
              <a:rPr lang="en-US" dirty="0" err="1"/>
              <a:t>Aadhaar</a:t>
            </a:r>
            <a:r>
              <a:rPr lang="en-US" dirty="0"/>
              <a:t> as well as the provisions of the </a:t>
            </a:r>
            <a:r>
              <a:rPr lang="en-US" dirty="0" err="1"/>
              <a:t>Aadhaar</a:t>
            </a:r>
            <a:r>
              <a:rPr lang="en-US" dirty="0"/>
              <a:t> Act do not tend to create a surveillance state. </a:t>
            </a:r>
            <a:endParaRPr lang="en-I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419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protection is available against arrest and detention?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Article 22: No person is to be arrested </a:t>
            </a:r>
            <a:r>
              <a:rPr lang="en-US" dirty="0" smtClean="0">
                <a:solidFill>
                  <a:srgbClr val="FF0000"/>
                </a:solidFill>
              </a:rPr>
              <a:t>without being informed as soon as may be of the grounds for such arrest.</a:t>
            </a:r>
          </a:p>
          <a:p>
            <a:r>
              <a:rPr lang="en-US" dirty="0" smtClean="0"/>
              <a:t>Nor shall he be denied the </a:t>
            </a:r>
            <a:r>
              <a:rPr lang="en-US" dirty="0" smtClean="0">
                <a:solidFill>
                  <a:srgbClr val="C00000"/>
                </a:solidFill>
              </a:rPr>
              <a:t>right to consult and to be defended by a legal practitioner </a:t>
            </a:r>
            <a:r>
              <a:rPr lang="en-US" dirty="0" smtClean="0"/>
              <a:t>of his choice.</a:t>
            </a:r>
          </a:p>
          <a:p>
            <a:r>
              <a:rPr lang="en-US" dirty="0" smtClean="0"/>
              <a:t>Lawyering is only profession mentioned in the Constitution.</a:t>
            </a:r>
          </a:p>
          <a:p>
            <a:r>
              <a:rPr lang="en-US" dirty="0" smtClean="0"/>
              <a:t>To be produced before Magistrate within 24 hours.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334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protection is available against arrest and detention?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Rights not available: These Rights not available to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Enemy Alien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Arrested under Preventive Detention Laws i.e. NSA, UAPA &amp; MISA etc.</a:t>
            </a:r>
          </a:p>
          <a:p>
            <a:r>
              <a:rPr lang="en-US" dirty="0" smtClean="0"/>
              <a:t>Preventive Detention Laws: </a:t>
            </a:r>
            <a:r>
              <a:rPr lang="en-US" dirty="0" smtClean="0">
                <a:solidFill>
                  <a:srgbClr val="00B0F0"/>
                </a:solidFill>
              </a:rPr>
              <a:t>Prevention is better than Cure. </a:t>
            </a:r>
            <a:r>
              <a:rPr lang="en-US" dirty="0" smtClean="0"/>
              <a:t>HIV &amp; Covid-19.</a:t>
            </a:r>
          </a:p>
          <a:p>
            <a:r>
              <a:rPr lang="en-US" dirty="0" smtClean="0"/>
              <a:t>No detention beyond three months except on the recommendation of advisory Board consisting of members who are or have been or are qualified to be appointed as High Court Judges.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44</a:t>
            </a:r>
            <a:r>
              <a:rPr lang="en-US" baseline="30000" dirty="0" smtClean="0">
                <a:solidFill>
                  <a:srgbClr val="00B050"/>
                </a:solidFill>
              </a:rPr>
              <a:t>th</a:t>
            </a:r>
            <a:r>
              <a:rPr lang="en-US" dirty="0" smtClean="0">
                <a:solidFill>
                  <a:srgbClr val="00B050"/>
                </a:solidFill>
              </a:rPr>
              <a:t> amendment  of 1978 tried to further humanize detention but has not yet been notified.</a:t>
            </a:r>
            <a:endParaRPr lang="en-I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1490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295400"/>
            <a:ext cx="8229600" cy="1143000"/>
          </a:xfrm>
        </p:spPr>
        <p:txBody>
          <a:bodyPr/>
          <a:lstStyle/>
          <a:p>
            <a:r>
              <a:rPr lang="en-US" dirty="0" smtClean="0"/>
              <a:t>What did we learn today?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0"/>
            <a:ext cx="8229600" cy="4525963"/>
          </a:xfrm>
        </p:spPr>
        <p:txBody>
          <a:bodyPr/>
          <a:lstStyle/>
          <a:p>
            <a:r>
              <a:rPr lang="en-US" dirty="0" smtClean="0"/>
              <a:t>Right to Life &amp; Personal Liberty is the most important Fundamental Right.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American Due Process Clause has now been brought by the judiciary.</a:t>
            </a:r>
          </a:p>
          <a:p>
            <a:pPr marL="0" indent="0">
              <a:buNone/>
            </a:pPr>
            <a:r>
              <a:rPr lang="en-US" dirty="0" smtClean="0"/>
              <a:t>Next Lecture: Freedom of Religion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4075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1573</Words>
  <Application>Microsoft Office PowerPoint</Application>
  <PresentationFormat>On-screen Show (4:3)</PresentationFormat>
  <Paragraphs>113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Right to Life &amp; Personal Liberty</vt:lpstr>
      <vt:lpstr>Why Right to Life &amp; Personal Liberty is important?</vt:lpstr>
      <vt:lpstr>What is the significance of Article 21?</vt:lpstr>
      <vt:lpstr>Drafting of Article 21</vt:lpstr>
      <vt:lpstr>What is the meaning of Life?</vt:lpstr>
      <vt:lpstr>What is included in right to life?</vt:lpstr>
      <vt:lpstr>What is included in Right to Life</vt:lpstr>
      <vt:lpstr>What is not included in right to life?</vt:lpstr>
      <vt:lpstr>What is Personal Liberty?</vt:lpstr>
      <vt:lpstr>What is included in Personal Liberty?</vt:lpstr>
      <vt:lpstr>What is included in Personal Liberty?</vt:lpstr>
      <vt:lpstr>What is the meaning of procedure established by Law?</vt:lpstr>
      <vt:lpstr>What is the relationship between Articles 14,19 &amp; 21?</vt:lpstr>
      <vt:lpstr>When can Right to Life and Personal Liberty be suspended?</vt:lpstr>
      <vt:lpstr>What was Aadhaar Judgment?</vt:lpstr>
      <vt:lpstr>What protection is available against arrest and detention?</vt:lpstr>
      <vt:lpstr>What protection is available against arrest and detention?</vt:lpstr>
      <vt:lpstr>What did we learn today?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Right to Life &amp; Personal Liberty</dc:title>
  <dc:creator>Faizan mustafa</dc:creator>
  <cp:lastModifiedBy>amrita</cp:lastModifiedBy>
  <cp:revision>29</cp:revision>
  <dcterms:created xsi:type="dcterms:W3CDTF">2006-08-16T00:00:00Z</dcterms:created>
  <dcterms:modified xsi:type="dcterms:W3CDTF">2022-03-15T05:26:45Z</dcterms:modified>
</cp:coreProperties>
</file>