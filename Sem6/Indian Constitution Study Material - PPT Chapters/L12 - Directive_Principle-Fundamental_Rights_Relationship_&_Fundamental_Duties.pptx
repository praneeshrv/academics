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57" r:id="rId5"/>
    <p:sldId id="260" r:id="rId6"/>
    <p:sldId id="266" r:id="rId7"/>
    <p:sldId id="258" r:id="rId8"/>
    <p:sldId id="259" r:id="rId9"/>
    <p:sldId id="261" r:id="rId10"/>
    <p:sldId id="262" r:id="rId11"/>
    <p:sldId id="263" r:id="rId12"/>
    <p:sldId id="265" r:id="rId13"/>
    <p:sldId id="264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408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373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39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76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991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40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039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29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780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60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668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5DA06-DE4B-4431-AE52-11AEE09D4744}" type="datetimeFigureOut">
              <a:rPr lang="en-IN" smtClean="0"/>
              <a:t>15-03-2022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8EEC7-E16A-47AD-B770-FD49F9250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22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Fundamental Rights, Directive Principles &amp; Fundamental Duties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46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What is the relationship between Fundamental Rights &amp; Directive Principles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We had discussed in the last lecture that Fundamental Rights are Civil &amp; Political Rights &amp; Directive Principles are Socio-Economic &amp; cultural Rights.</a:t>
            </a:r>
          </a:p>
          <a:p>
            <a:r>
              <a:rPr lang="en-US" dirty="0" smtClean="0"/>
              <a:t>Fundamental Rights are justiciable, Directive Principles are non-justiciable.</a:t>
            </a:r>
          </a:p>
          <a:p>
            <a:r>
              <a:rPr lang="en-US" dirty="0" smtClean="0">
                <a:solidFill>
                  <a:srgbClr val="00B0F0"/>
                </a:solidFill>
              </a:rPr>
              <a:t>Fundamental Rights are Negative Restrictions on Powers of State, Directive Principles are the Positive Obligations of the State.</a:t>
            </a:r>
          </a:p>
          <a:p>
            <a:r>
              <a:rPr lang="en-US" dirty="0" smtClean="0"/>
              <a:t>Fundamental Rights use definite language, Directive Principles have been vaguely expressed.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98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the relationship between Fundamental Rights &amp; Directive Principles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1600" b="1" dirty="0" smtClean="0"/>
              <a:t>In </a:t>
            </a:r>
            <a:r>
              <a:rPr lang="en-US" sz="1600" b="1" dirty="0" err="1" smtClean="0"/>
              <a:t>Dorairajan</a:t>
            </a:r>
            <a:r>
              <a:rPr lang="en-US" sz="1600" b="1" dirty="0" smtClean="0"/>
              <a:t> case(1951), Supreme Court held that Directive Principles are sub-ordinate to Fundamental Rights. </a:t>
            </a:r>
            <a:r>
              <a:rPr lang="en-US" sz="1600" b="1" dirty="0" smtClean="0">
                <a:solidFill>
                  <a:srgbClr val="FF0000"/>
                </a:solidFill>
              </a:rPr>
              <a:t>First Constitutional amendment had to be passed to save reservation policies and overturn this judgment.</a:t>
            </a:r>
            <a:r>
              <a:rPr lang="en-US" sz="1600" b="1" dirty="0">
                <a:solidFill>
                  <a:srgbClr val="FF0000"/>
                </a:solidFill>
              </a:rPr>
              <a:t> </a:t>
            </a:r>
            <a:endParaRPr lang="en-US" sz="1600" b="1" dirty="0" smtClean="0">
              <a:solidFill>
                <a:srgbClr val="FF0000"/>
              </a:solidFill>
            </a:endParaRPr>
          </a:p>
          <a:p>
            <a:pPr algn="just"/>
            <a:r>
              <a:rPr lang="en-US" sz="1600" b="1" dirty="0" smtClean="0">
                <a:solidFill>
                  <a:srgbClr val="00B050"/>
                </a:solidFill>
              </a:rPr>
              <a:t>Subsequently Court propounded the doctrine of Harmonious construction so that conflict between the two is avoided and both are given effect to</a:t>
            </a:r>
            <a:r>
              <a:rPr lang="en-US" sz="1600" b="1" dirty="0" smtClean="0"/>
              <a:t>;</a:t>
            </a:r>
          </a:p>
          <a:p>
            <a:pPr algn="just"/>
            <a:r>
              <a:rPr lang="en-US" sz="1600" b="1" dirty="0" err="1" smtClean="0"/>
              <a:t>Keshavand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Bharti</a:t>
            </a:r>
            <a:r>
              <a:rPr lang="en-US" sz="1600" b="1" dirty="0" smtClean="0"/>
              <a:t>(1973):What </a:t>
            </a:r>
            <a:r>
              <a:rPr lang="en-US" sz="1600" b="1" dirty="0"/>
              <a:t>is fundamental in the governance of the country cannot surely be less significant than what is fundamental in the life of the individual</a:t>
            </a:r>
            <a:r>
              <a:rPr lang="en-US" sz="1600" b="1" dirty="0" smtClean="0"/>
              <a:t>.</a:t>
            </a:r>
          </a:p>
          <a:p>
            <a:pPr algn="just"/>
            <a:r>
              <a:rPr lang="en-US" sz="1600" b="1" dirty="0" smtClean="0">
                <a:solidFill>
                  <a:srgbClr val="00B050"/>
                </a:solidFill>
              </a:rPr>
              <a:t>Article31-C: Directive Principles to prevail over Fundamental Rights of Articles 14 &amp; 19.</a:t>
            </a:r>
          </a:p>
          <a:p>
            <a:pPr algn="just"/>
            <a:r>
              <a:rPr lang="en-US" sz="1600" b="1" dirty="0"/>
              <a:t>In </a:t>
            </a:r>
            <a:r>
              <a:rPr lang="en-US" sz="1600" b="1" dirty="0" err="1"/>
              <a:t>Dalmia</a:t>
            </a:r>
            <a:r>
              <a:rPr lang="en-US" sz="1600" b="1" dirty="0"/>
              <a:t> Cement vs. Union of </a:t>
            </a:r>
            <a:r>
              <a:rPr lang="en-US" sz="1600" b="1" dirty="0" smtClean="0"/>
              <a:t>India(1996</a:t>
            </a:r>
            <a:r>
              <a:rPr lang="en-US" sz="1600" b="1" i="1" dirty="0" smtClean="0"/>
              <a:t>)</a:t>
            </a:r>
            <a:r>
              <a:rPr lang="en-US" sz="1600" b="1" dirty="0"/>
              <a:t>  </a:t>
            </a:r>
            <a:r>
              <a:rPr lang="en-US" sz="1600" b="1" dirty="0" smtClean="0">
                <a:solidFill>
                  <a:srgbClr val="7030A0"/>
                </a:solidFill>
              </a:rPr>
              <a:t>it </a:t>
            </a:r>
            <a:r>
              <a:rPr lang="en-US" sz="1600" b="1" dirty="0">
                <a:solidFill>
                  <a:srgbClr val="7030A0"/>
                </a:solidFill>
              </a:rPr>
              <a:t>is a settled law that the Fundamental Rights and the Directive principles are two wheels of the chariot; none of the two is less important than the other. Snap one, the other will lose its efficacy. Together, they constitute the </a:t>
            </a:r>
            <a:r>
              <a:rPr lang="en-US" sz="1600" b="1" dirty="0">
                <a:solidFill>
                  <a:srgbClr val="FF0000"/>
                </a:solidFill>
              </a:rPr>
              <a:t>conscience of the constitution </a:t>
            </a:r>
            <a:r>
              <a:rPr lang="en-US" sz="1600" b="1" dirty="0">
                <a:solidFill>
                  <a:srgbClr val="7030A0"/>
                </a:solidFill>
              </a:rPr>
              <a:t>to bring about social revolution under rule of law. </a:t>
            </a:r>
            <a:endParaRPr lang="en-US" sz="1600" b="1" dirty="0" smtClean="0">
              <a:solidFill>
                <a:srgbClr val="7030A0"/>
              </a:solidFill>
            </a:endParaRPr>
          </a:p>
          <a:p>
            <a:pPr algn="just"/>
            <a:r>
              <a:rPr lang="en-US" sz="1600" b="1" dirty="0" smtClean="0"/>
              <a:t>Fundamental </a:t>
            </a:r>
            <a:r>
              <a:rPr lang="en-US" sz="1600" b="1" dirty="0"/>
              <a:t>Rights are rightful means to the end, viz., social and economic justice provided in the Directives and the </a:t>
            </a:r>
            <a:r>
              <a:rPr lang="en-US" sz="1600" b="1" dirty="0" smtClean="0"/>
              <a:t>Preamble</a:t>
            </a:r>
            <a:r>
              <a:rPr lang="en-US" sz="1600" b="1" dirty="0"/>
              <a:t>. </a:t>
            </a:r>
            <a:r>
              <a:rPr lang="en-US" sz="1600" b="1" dirty="0">
                <a:solidFill>
                  <a:srgbClr val="C00000"/>
                </a:solidFill>
              </a:rPr>
              <a:t>The Fundamental Rights and the </a:t>
            </a:r>
            <a:r>
              <a:rPr lang="en-US" sz="1600" b="1" dirty="0" smtClean="0">
                <a:solidFill>
                  <a:srgbClr val="C00000"/>
                </a:solidFill>
              </a:rPr>
              <a:t>Directive Principles </a:t>
            </a:r>
            <a:r>
              <a:rPr lang="en-US" sz="1600" b="1" dirty="0">
                <a:solidFill>
                  <a:srgbClr val="C00000"/>
                </a:solidFill>
              </a:rPr>
              <a:t>establish the trinity of equality, liberty and fraternity in an egalitarian social order and prevent exploitation.</a:t>
            </a:r>
            <a:endParaRPr lang="en-I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27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 Fundamental Duties &amp; Indian </a:t>
            </a:r>
            <a:r>
              <a:rPr lang="en-IN" dirty="0"/>
              <a:t>C</a:t>
            </a:r>
            <a:r>
              <a:rPr lang="en-IN" dirty="0" smtClean="0"/>
              <a:t>onstitution?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Liberal Constitutions do not include Fundamental Duties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Socialist Constitutions generally  have provisions on Fundamental Duties.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Accordingly the original text of the Constitution did not have any provision on Fundamental Duties.</a:t>
            </a:r>
          </a:p>
          <a:p>
            <a:r>
              <a:rPr lang="en-US" dirty="0" smtClean="0"/>
              <a:t>Harold Laski has also said that rights are related to functions and are given only in return for some duties to be performed.</a:t>
            </a:r>
          </a:p>
          <a:p>
            <a:r>
              <a:rPr lang="en-US" dirty="0" smtClean="0"/>
              <a:t> Rights are conferred on individual citizens not only for their own development but also for social good. </a:t>
            </a:r>
          </a:p>
          <a:p>
            <a:r>
              <a:rPr lang="en-US" dirty="0"/>
              <a:t>An individual is the fundamental organ of a State and each organ is required to work </a:t>
            </a:r>
            <a:r>
              <a:rPr lang="en-US" dirty="0" err="1"/>
              <a:t>unitedly</a:t>
            </a:r>
            <a:r>
              <a:rPr lang="en-US" dirty="0"/>
              <a:t> to achieve the means of welfare State.</a:t>
            </a:r>
            <a:endParaRPr lang="en-US" dirty="0" smtClean="0"/>
          </a:p>
          <a:p>
            <a:r>
              <a:rPr lang="en-US" dirty="0" smtClean="0">
                <a:solidFill>
                  <a:srgbClr val="7030A0"/>
                </a:solidFill>
              </a:rPr>
              <a:t>Accordingly Article 29(1) of Universal Declaration of Human Rights says that  </a:t>
            </a:r>
            <a:r>
              <a:rPr lang="en-US" dirty="0" smtClean="0">
                <a:solidFill>
                  <a:srgbClr val="FF0000"/>
                </a:solidFill>
              </a:rPr>
              <a:t>everyone has duties to the community </a:t>
            </a:r>
            <a:r>
              <a:rPr lang="en-US" dirty="0" smtClean="0">
                <a:solidFill>
                  <a:srgbClr val="7030A0"/>
                </a:solidFill>
              </a:rPr>
              <a:t>in which alone the free and full development of  his personality is possible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Soviet Constitution also has provision of duties.</a:t>
            </a:r>
          </a:p>
        </p:txBody>
      </p:sp>
    </p:spTree>
    <p:extLst>
      <p:ext uri="{BB962C8B-B14F-4D97-AF65-F5344CB8AC3E}">
        <p14:creationId xmlns:p14="http://schemas.microsoft.com/office/powerpoint/2010/main" val="262025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What is the importance of Duties in Indian Culture?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The </a:t>
            </a:r>
            <a:r>
              <a:rPr lang="en-US" sz="1600" dirty="0"/>
              <a:t>concept of duties has its origin in the Vedas and they are in the form of religious commands. </a:t>
            </a:r>
            <a:r>
              <a:rPr lang="en-US" sz="1600" dirty="0" smtClean="0"/>
              <a:t>Epics </a:t>
            </a:r>
            <a:r>
              <a:rPr lang="en-US" sz="1600" dirty="0"/>
              <a:t>like Bhagavad </a:t>
            </a:r>
            <a:r>
              <a:rPr lang="en-US" sz="1600" dirty="0" smtClean="0"/>
              <a:t>Gita</a:t>
            </a:r>
            <a:r>
              <a:rPr lang="en-US" sz="1600" dirty="0"/>
              <a:t>, Ramayana and </a:t>
            </a:r>
            <a:r>
              <a:rPr lang="en-US" sz="1600" dirty="0" err="1" smtClean="0"/>
              <a:t>Mahabharat</a:t>
            </a:r>
            <a:r>
              <a:rPr lang="en-US" sz="1600" dirty="0" smtClean="0"/>
              <a:t> also </a:t>
            </a:r>
            <a:r>
              <a:rPr lang="en-US" sz="1600" dirty="0"/>
              <a:t>enshrine </a:t>
            </a:r>
            <a:r>
              <a:rPr lang="en-US" sz="1600" dirty="0" smtClean="0"/>
              <a:t>Duty </a:t>
            </a:r>
            <a:r>
              <a:rPr lang="en-US" sz="1600" dirty="0"/>
              <a:t>as part of one’s </a:t>
            </a:r>
            <a:r>
              <a:rPr lang="en-US" sz="1600" dirty="0" smtClean="0"/>
              <a:t>Dharma. </a:t>
            </a:r>
            <a:r>
              <a:rPr lang="en-US" sz="1600" dirty="0" smtClean="0">
                <a:solidFill>
                  <a:srgbClr val="00B050"/>
                </a:solidFill>
              </a:rPr>
              <a:t>Doing one’s duty is our Dharma under Indian Culture.</a:t>
            </a:r>
            <a:r>
              <a:rPr lang="en-US" sz="1600" dirty="0" smtClean="0"/>
              <a:t> Indian Society  is culturally a duty conscious society and we believe that the only right we have is the right to do our duty.</a:t>
            </a:r>
            <a:endParaRPr lang="en-US" sz="1600" dirty="0" smtClean="0">
              <a:solidFill>
                <a:srgbClr val="00B050"/>
              </a:solidFill>
            </a:endParaRPr>
          </a:p>
          <a:p>
            <a:r>
              <a:rPr lang="en-US" sz="1600" dirty="0" smtClean="0"/>
              <a:t>Father of Nation Mahatma Gandhi </a:t>
            </a:r>
            <a:r>
              <a:rPr lang="en-US" sz="1600" dirty="0" err="1"/>
              <a:t>J</a:t>
            </a:r>
            <a:r>
              <a:rPr lang="en-US" sz="1600" dirty="0" err="1" smtClean="0"/>
              <a:t>i</a:t>
            </a:r>
            <a:r>
              <a:rPr lang="en-US" sz="1600" dirty="0" smtClean="0"/>
              <a:t> while emphasizing the economic and social responsibilities of all citizens said: </a:t>
            </a:r>
            <a:r>
              <a:rPr lang="en-US" sz="1600" dirty="0" smtClean="0">
                <a:solidFill>
                  <a:srgbClr val="FF0000"/>
                </a:solidFill>
              </a:rPr>
              <a:t>“The true source of right is duty. If we all discharge our duties, rights will not be far to seek. </a:t>
            </a:r>
            <a:r>
              <a:rPr lang="en-US" sz="1600" dirty="0" smtClean="0"/>
              <a:t>If leaving duties unperformed we run after rights, they will escape us like will o’ the wisp, the more we pursue them, the farther they will fly”.</a:t>
            </a:r>
          </a:p>
          <a:p>
            <a:r>
              <a:rPr lang="en-US" sz="1600" dirty="0">
                <a:solidFill>
                  <a:srgbClr val="C00000"/>
                </a:solidFill>
              </a:rPr>
              <a:t>Rights accrue automatically to him who duly performs his duties. In fact, the right to perform one's duties is the only right that is worth living for </a:t>
            </a:r>
            <a:r>
              <a:rPr lang="en-US" sz="1600" dirty="0" smtClean="0">
                <a:solidFill>
                  <a:srgbClr val="C00000"/>
                </a:solidFill>
              </a:rPr>
              <a:t>and </a:t>
            </a:r>
            <a:r>
              <a:rPr lang="en-US" sz="1600" dirty="0">
                <a:solidFill>
                  <a:srgbClr val="C00000"/>
                </a:solidFill>
              </a:rPr>
              <a:t>dying for. </a:t>
            </a:r>
            <a:r>
              <a:rPr lang="en-US" sz="1600" dirty="0"/>
              <a:t>It covers all legitimate rights. All the rest is grab under one guise or another and contains in it seeds of </a:t>
            </a:r>
            <a:r>
              <a:rPr lang="en-US" sz="1600" dirty="0" err="1" smtClean="0"/>
              <a:t>himsa</a:t>
            </a:r>
            <a:r>
              <a:rPr lang="en-US" sz="1600" dirty="0" smtClean="0"/>
              <a:t>. The </a:t>
            </a:r>
            <a:r>
              <a:rPr lang="en-US" sz="1600" dirty="0"/>
              <a:t>same teaching has been embodied by </a:t>
            </a:r>
            <a:r>
              <a:rPr lang="en-US" sz="1600" dirty="0" smtClean="0"/>
              <a:t>Lord Krishna </a:t>
            </a:r>
            <a:r>
              <a:rPr lang="en-US" sz="1600" dirty="0"/>
              <a:t>in the immortal words: </a:t>
            </a:r>
            <a:r>
              <a:rPr lang="en-US" sz="1600" dirty="0">
                <a:solidFill>
                  <a:srgbClr val="7030A0"/>
                </a:solidFill>
              </a:rPr>
              <a:t>'Action alone is </a:t>
            </a:r>
            <a:r>
              <a:rPr lang="en-US" sz="1600" dirty="0" err="1">
                <a:solidFill>
                  <a:srgbClr val="7030A0"/>
                </a:solidFill>
              </a:rPr>
              <a:t>thine</a:t>
            </a:r>
            <a:r>
              <a:rPr lang="en-US" sz="1600" dirty="0">
                <a:solidFill>
                  <a:srgbClr val="7030A0"/>
                </a:solidFill>
              </a:rPr>
              <a:t>. Leave thou the fruit severely alone.' Action is duty; fruit is the </a:t>
            </a:r>
            <a:r>
              <a:rPr lang="en-US" sz="1600" dirty="0" smtClean="0">
                <a:solidFill>
                  <a:srgbClr val="7030A0"/>
                </a:solidFill>
              </a:rPr>
              <a:t>right.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Gandhi </a:t>
            </a:r>
            <a:r>
              <a:rPr lang="en-US" sz="1600" dirty="0" err="1" smtClean="0"/>
              <a:t>Ji</a:t>
            </a:r>
            <a:r>
              <a:rPr lang="en-US" sz="1600" dirty="0" smtClean="0"/>
              <a:t> said that he learnt from his illiterate but wise mother </a:t>
            </a:r>
            <a:r>
              <a:rPr lang="en-US" sz="1600" dirty="0" smtClean="0">
                <a:solidFill>
                  <a:srgbClr val="C00000"/>
                </a:solidFill>
              </a:rPr>
              <a:t>that all rights to be deserved and preserved come from my duty well done. </a:t>
            </a:r>
            <a:r>
              <a:rPr lang="en-US" sz="1600" dirty="0" smtClean="0"/>
              <a:t>Thus the very right to live accrues to us when we do the duty of citizenship of the world. </a:t>
            </a:r>
            <a:endParaRPr lang="en-IN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750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What is the importance of Duties in Indian Culture?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Fundamental duties, which are obligatory in nature inculcate and instill a sense of obligation and discipline amongst the citizens towards their duties.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They </a:t>
            </a:r>
            <a:r>
              <a:rPr lang="en-US" dirty="0"/>
              <a:t>serve as a constant reminder to the citizens that there exists a balance between rights and </a:t>
            </a:r>
            <a:r>
              <a:rPr lang="en-US" dirty="0" smtClean="0"/>
              <a:t>duties.</a:t>
            </a:r>
          </a:p>
          <a:p>
            <a:r>
              <a:rPr lang="en-US" dirty="0" smtClean="0"/>
              <a:t> Mere </a:t>
            </a:r>
            <a:r>
              <a:rPr lang="en-US" dirty="0"/>
              <a:t>assertion of rights is </a:t>
            </a:r>
            <a:r>
              <a:rPr lang="en-US" dirty="0" smtClean="0"/>
              <a:t>not correct </a:t>
            </a:r>
            <a:r>
              <a:rPr lang="en-US" dirty="0"/>
              <a:t>without being responsible for abiding by one’s duties especially when the supreme law of the nation has prescribed those duties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75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How were Fundamental Duties inserted in the Indian constitution?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>
                <a:solidFill>
                  <a:srgbClr val="C00000"/>
                </a:solidFill>
              </a:rPr>
              <a:t>The </a:t>
            </a:r>
            <a:r>
              <a:rPr lang="en-US" dirty="0" err="1" smtClean="0">
                <a:solidFill>
                  <a:srgbClr val="C00000"/>
                </a:solidFill>
              </a:rPr>
              <a:t>Swaran</a:t>
            </a:r>
            <a:r>
              <a:rPr lang="en-US" dirty="0" smtClean="0">
                <a:solidFill>
                  <a:srgbClr val="C00000"/>
                </a:solidFill>
              </a:rPr>
              <a:t> Singh Committee was appointed for a review of the Constitution had recommended that certain Fundamental Duties and Obligations which every citizen owed the nation should be included in the Constitution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These recommendations were implemented with the incorporation of the </a:t>
            </a:r>
            <a:r>
              <a:rPr lang="en-US" dirty="0" smtClean="0">
                <a:solidFill>
                  <a:srgbClr val="FF0000"/>
                </a:solidFill>
              </a:rPr>
              <a:t>new article 51A </a:t>
            </a:r>
            <a:r>
              <a:rPr lang="en-US" dirty="0" smtClean="0"/>
              <a:t>in the Constitution. </a:t>
            </a:r>
          </a:p>
          <a:p>
            <a:pPr algn="just"/>
            <a:r>
              <a:rPr lang="en-US" dirty="0" smtClean="0"/>
              <a:t>But the recommendation </a:t>
            </a:r>
            <a:r>
              <a:rPr lang="en-US" dirty="0" smtClean="0">
                <a:solidFill>
                  <a:srgbClr val="00B050"/>
                </a:solidFill>
              </a:rPr>
              <a:t>of imposing punishment or penalties for not performing one’s duty was not accepted by the Government.</a:t>
            </a:r>
            <a:endParaRPr lang="en-IN" dirty="0" smtClean="0">
              <a:solidFill>
                <a:srgbClr val="00B05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691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What are Indian Citizens’ Fundamental Duties?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Originally 10 Fundamental duties were there. 11</a:t>
            </a:r>
            <a:r>
              <a:rPr lang="en-US" baseline="30000" dirty="0" smtClean="0">
                <a:solidFill>
                  <a:srgbClr val="FF0000"/>
                </a:solidFill>
              </a:rPr>
              <a:t>th</a:t>
            </a:r>
            <a:r>
              <a:rPr lang="en-US" dirty="0" smtClean="0">
                <a:solidFill>
                  <a:srgbClr val="FF0000"/>
                </a:solidFill>
              </a:rPr>
              <a:t> duty was added in 2002 by the 86</a:t>
            </a:r>
            <a:r>
              <a:rPr lang="en-US" baseline="30000" dirty="0" smtClean="0">
                <a:solidFill>
                  <a:srgbClr val="FF0000"/>
                </a:solidFill>
              </a:rPr>
              <a:t>th</a:t>
            </a:r>
            <a:r>
              <a:rPr lang="en-US" dirty="0" smtClean="0">
                <a:solidFill>
                  <a:srgbClr val="FF0000"/>
                </a:solidFill>
              </a:rPr>
              <a:t> amendment.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Under Article 51A - It shall be the duty of every citizen of India </a:t>
            </a:r>
            <a:r>
              <a:rPr lang="en-US" dirty="0" smtClean="0"/>
              <a:t>– </a:t>
            </a:r>
          </a:p>
          <a:p>
            <a:r>
              <a:rPr lang="en-US" dirty="0" smtClean="0"/>
              <a:t>(a) to </a:t>
            </a:r>
            <a:r>
              <a:rPr lang="en-US" dirty="0" smtClean="0">
                <a:solidFill>
                  <a:srgbClr val="00B050"/>
                </a:solidFill>
              </a:rPr>
              <a:t>abide by the Constitution and respect its ideals and institutions, the National Flag and the National Anthem</a:t>
            </a:r>
            <a:r>
              <a:rPr lang="en-US" dirty="0" smtClean="0"/>
              <a:t>;</a:t>
            </a:r>
          </a:p>
          <a:p>
            <a:r>
              <a:rPr lang="en-US" dirty="0" smtClean="0"/>
              <a:t> (b) </a:t>
            </a:r>
            <a:r>
              <a:rPr lang="en-US" dirty="0" smtClean="0">
                <a:solidFill>
                  <a:srgbClr val="7030A0"/>
                </a:solidFill>
              </a:rPr>
              <a:t>to cherish and follow the noble ideals which inspired our national struggle for freedom</a:t>
            </a:r>
            <a:r>
              <a:rPr lang="en-US" dirty="0" smtClean="0"/>
              <a:t>; </a:t>
            </a:r>
          </a:p>
          <a:p>
            <a:r>
              <a:rPr lang="en-US" dirty="0" smtClean="0"/>
              <a:t>(c) to uphold and protect the sovereignty, unity and integrity of India; </a:t>
            </a:r>
          </a:p>
          <a:p>
            <a:r>
              <a:rPr lang="en-US" dirty="0" smtClean="0"/>
              <a:t>(d) to defend the country and render national service when called upon to do so; </a:t>
            </a:r>
          </a:p>
          <a:p>
            <a:r>
              <a:rPr lang="en-US" dirty="0" smtClean="0"/>
              <a:t>(e</a:t>
            </a:r>
            <a:r>
              <a:rPr lang="en-US" dirty="0" smtClean="0">
                <a:solidFill>
                  <a:srgbClr val="C00000"/>
                </a:solidFill>
              </a:rPr>
              <a:t>) to promote harmony and the spirit of common brotherhood amongst all the people of India transcending religious, linguistic and regional or sectional diversities; to renounce practices derogatory to the dignity of women; </a:t>
            </a:r>
          </a:p>
          <a:p>
            <a:r>
              <a:rPr lang="en-US" dirty="0" smtClean="0"/>
              <a:t>(f) to value and preserve the rich heritage of our composite culture; </a:t>
            </a:r>
          </a:p>
        </p:txBody>
      </p:sp>
    </p:spTree>
    <p:extLst>
      <p:ext uri="{BB962C8B-B14F-4D97-AF65-F5344CB8AC3E}">
        <p14:creationId xmlns:p14="http://schemas.microsoft.com/office/powerpoint/2010/main" val="2855892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What are Indian Citizens’ Fundamental Duties?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(g) to protect and improve the natural environment including forests, lakes, rivers and wild life, and to have compassion for living creatures;</a:t>
            </a:r>
          </a:p>
          <a:p>
            <a:r>
              <a:rPr lang="en-US" dirty="0" smtClean="0"/>
              <a:t>(</a:t>
            </a:r>
            <a:r>
              <a:rPr lang="en-US" dirty="0" smtClean="0">
                <a:solidFill>
                  <a:srgbClr val="FF0000"/>
                </a:solidFill>
              </a:rPr>
              <a:t>h)to develop the scientific temper, humanism and the spirit of inquiry and reform</a:t>
            </a:r>
            <a:r>
              <a:rPr lang="en-US" dirty="0" smtClean="0"/>
              <a:t>; </a:t>
            </a:r>
          </a:p>
          <a:p>
            <a:r>
              <a:rPr lang="en-US" dirty="0" smtClean="0"/>
              <a:t>(i) to safeguard public property and </a:t>
            </a:r>
            <a:r>
              <a:rPr lang="en-US" dirty="0" smtClean="0">
                <a:solidFill>
                  <a:srgbClr val="7030A0"/>
                </a:solidFill>
              </a:rPr>
              <a:t>to abjure violence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(j) </a:t>
            </a:r>
            <a:r>
              <a:rPr lang="en-US" dirty="0" smtClean="0">
                <a:solidFill>
                  <a:srgbClr val="00B0F0"/>
                </a:solidFill>
              </a:rPr>
              <a:t>to strive towards excellence in all spheres of individual and collective activity</a:t>
            </a:r>
            <a:r>
              <a:rPr lang="en-US" dirty="0" smtClean="0"/>
              <a:t>, so that the nation constantly rises to higher levels of endeavor and achievement.</a:t>
            </a:r>
          </a:p>
          <a:p>
            <a:r>
              <a:rPr lang="en-US" dirty="0" smtClean="0"/>
              <a:t>(k)</a:t>
            </a:r>
            <a:r>
              <a:rPr lang="en-US" dirty="0"/>
              <a:t> Who is a parent or guardian to provide opportunities for education to his child or, as the case may be, ward </a:t>
            </a:r>
            <a:r>
              <a:rPr lang="en-US" dirty="0">
                <a:solidFill>
                  <a:srgbClr val="FF0000"/>
                </a:solidFill>
              </a:rPr>
              <a:t>between the age of six and fourteen years</a:t>
            </a:r>
            <a:r>
              <a:rPr lang="en-US" dirty="0" smtClean="0">
                <a:solidFill>
                  <a:srgbClr val="FF0000"/>
                </a:solidFill>
              </a:rPr>
              <a:t>.(86</a:t>
            </a:r>
            <a:r>
              <a:rPr lang="en-US" baseline="30000" dirty="0" smtClean="0">
                <a:solidFill>
                  <a:srgbClr val="FF0000"/>
                </a:solidFill>
              </a:rPr>
              <a:t>th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mtClean="0">
                <a:solidFill>
                  <a:srgbClr val="FF0000"/>
                </a:solidFill>
              </a:rPr>
              <a:t>Constitutional Amendment).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56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are our  Foremost Duties?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525963"/>
          </a:xfrm>
        </p:spPr>
        <p:txBody>
          <a:bodyPr>
            <a:no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Indian Constitution is the result of the many commitments, promises and pledges made by framers of the Constitution to the people of India. </a:t>
            </a:r>
            <a:r>
              <a:rPr lang="en-US" sz="1600" dirty="0" smtClean="0">
                <a:solidFill>
                  <a:srgbClr val="00B050"/>
                </a:solidFill>
              </a:rPr>
              <a:t>We have one Constitution, one flag, one people and one citizenship. We are really proud of our </a:t>
            </a:r>
            <a:r>
              <a:rPr lang="en-US" sz="1600" dirty="0">
                <a:solidFill>
                  <a:srgbClr val="00B050"/>
                </a:solidFill>
              </a:rPr>
              <a:t>N</a:t>
            </a:r>
            <a:r>
              <a:rPr lang="en-US" sz="1600" dirty="0" smtClean="0">
                <a:solidFill>
                  <a:srgbClr val="00B050"/>
                </a:solidFill>
              </a:rPr>
              <a:t>ation, our National </a:t>
            </a:r>
            <a:r>
              <a:rPr lang="en-US" sz="1600" dirty="0">
                <a:solidFill>
                  <a:srgbClr val="00B050"/>
                </a:solidFill>
              </a:rPr>
              <a:t>F</a:t>
            </a:r>
            <a:r>
              <a:rPr lang="en-US" sz="1600" dirty="0" smtClean="0">
                <a:solidFill>
                  <a:srgbClr val="00B050"/>
                </a:solidFill>
              </a:rPr>
              <a:t>lag and our far-sighted Constitution.</a:t>
            </a:r>
          </a:p>
          <a:p>
            <a:r>
              <a:rPr lang="en-US" sz="1600" dirty="0" smtClean="0"/>
              <a:t>The first and the foremost duty of every Indian is to </a:t>
            </a:r>
            <a:r>
              <a:rPr lang="en-US" sz="1600" dirty="0" smtClean="0">
                <a:solidFill>
                  <a:srgbClr val="7030A0"/>
                </a:solidFill>
              </a:rPr>
              <a:t>abide by the Constitution and respect its ideals and institutions, the National Flag and the National Anthem. </a:t>
            </a:r>
          </a:p>
          <a:p>
            <a:r>
              <a:rPr lang="en-US" sz="1600" dirty="0" smtClean="0"/>
              <a:t>These are the very physical foundations of our citizenship. All of us are supposed to maintain the dignity of the Constitution.  </a:t>
            </a:r>
          </a:p>
          <a:p>
            <a:r>
              <a:rPr lang="en-US" sz="1600" dirty="0" smtClean="0">
                <a:solidFill>
                  <a:srgbClr val="C00000"/>
                </a:solidFill>
              </a:rPr>
              <a:t>We are  not supposed to indulge in any activity in violation of not only  letter but the spirit of the Constitution. </a:t>
            </a:r>
          </a:p>
          <a:p>
            <a:r>
              <a:rPr lang="en-US" sz="1600" dirty="0" smtClean="0">
                <a:solidFill>
                  <a:srgbClr val="C00000"/>
                </a:solidFill>
              </a:rPr>
              <a:t>We should cherish and follow noble ideals of our  national freedom struggle.</a:t>
            </a:r>
          </a:p>
          <a:p>
            <a:r>
              <a:rPr lang="en-US" sz="1600" dirty="0" smtClean="0">
                <a:solidFill>
                  <a:srgbClr val="C00000"/>
                </a:solidFill>
              </a:rPr>
              <a:t>We must uphold and protect the sovereignty, unity and the integrity of India and defend it.</a:t>
            </a:r>
            <a:r>
              <a:rPr lang="en-US" sz="1600" dirty="0"/>
              <a:t> </a:t>
            </a:r>
            <a:r>
              <a:rPr lang="en-US" sz="1600" dirty="0" smtClean="0"/>
              <a:t> Article 19 too restricts Fundamental Rights to protect our sovereignty. We have a </a:t>
            </a:r>
            <a:r>
              <a:rPr lang="en-US" sz="1600" dirty="0"/>
              <a:t>whole of Chapter VI of the Indian Penal Code (IPC) relating to offences against the State </a:t>
            </a:r>
            <a:r>
              <a:rPr lang="en-US" sz="1600" dirty="0" smtClean="0"/>
              <a:t>so that the </a:t>
            </a:r>
            <a:r>
              <a:rPr lang="en-US" sz="1600" dirty="0"/>
              <a:t>sovereignty and integrity of </a:t>
            </a:r>
            <a:r>
              <a:rPr lang="en-US" sz="1600" dirty="0" smtClean="0"/>
              <a:t>India is not undermined.</a:t>
            </a:r>
            <a:endParaRPr lang="en-US" sz="1600" dirty="0" smtClean="0">
              <a:solidFill>
                <a:srgbClr val="C00000"/>
              </a:solidFill>
            </a:endParaRPr>
          </a:p>
          <a:p>
            <a:r>
              <a:rPr lang="en-US" sz="1600" dirty="0" smtClean="0">
                <a:solidFill>
                  <a:srgbClr val="C00000"/>
                </a:solidFill>
              </a:rPr>
              <a:t> The duty of defending our territories is primarily of our forces but if necessary we need to be ready as well.</a:t>
            </a:r>
          </a:p>
          <a:p>
            <a:r>
              <a:rPr lang="en-US" sz="1600" dirty="0"/>
              <a:t>Our cultural heritage is one of the noblest and the </a:t>
            </a:r>
            <a:r>
              <a:rPr lang="en-US" sz="1600" dirty="0" smtClean="0"/>
              <a:t>richest. </a:t>
            </a:r>
            <a:r>
              <a:rPr lang="en-US" sz="1600" dirty="0" smtClean="0">
                <a:solidFill>
                  <a:srgbClr val="00B050"/>
                </a:solidFill>
              </a:rPr>
              <a:t>We must value and preserve the rich heritage of our composite culture.</a:t>
            </a:r>
          </a:p>
        </p:txBody>
      </p:sp>
    </p:spTree>
    <p:extLst>
      <p:ext uri="{BB962C8B-B14F-4D97-AF65-F5344CB8AC3E}">
        <p14:creationId xmlns:p14="http://schemas.microsoft.com/office/powerpoint/2010/main" val="1925414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What is Relationship between Fundamental Rights &amp;Fundamental Duties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Rights are Duties are co-relative. There is no Right without a Duty. But  Fundamental Rights cannot be denied just because a citizen has not fulfilled his Fundamental  Duties.</a:t>
            </a:r>
          </a:p>
          <a:p>
            <a:r>
              <a:rPr lang="en-IN" dirty="0" smtClean="0"/>
              <a:t>Unlike Fundamental Rights and like Directive Principles, </a:t>
            </a:r>
            <a:r>
              <a:rPr lang="en-IN" dirty="0"/>
              <a:t>Fundamental Duties </a:t>
            </a:r>
            <a:r>
              <a:rPr lang="en-IN" dirty="0" smtClean="0"/>
              <a:t> </a:t>
            </a:r>
            <a:r>
              <a:rPr lang="en-IN" dirty="0"/>
              <a:t>are </a:t>
            </a:r>
            <a:r>
              <a:rPr lang="en-IN" dirty="0" smtClean="0"/>
              <a:t>non-justiciable and writ jurisdiction cannot be invoked  in respect of Fundamental Duties.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Javed</a:t>
            </a:r>
            <a:r>
              <a:rPr lang="en-US" dirty="0" smtClean="0"/>
              <a:t> v. State of Haryana(2003), Supreme Court held that Fundamental Rights are to read with Fundamental Duties.</a:t>
            </a:r>
          </a:p>
          <a:p>
            <a:r>
              <a:rPr lang="en-US" dirty="0"/>
              <a:t>In </a:t>
            </a:r>
            <a:r>
              <a:rPr lang="en-US" dirty="0">
                <a:solidFill>
                  <a:srgbClr val="00B050"/>
                </a:solidFill>
              </a:rPr>
              <a:t>AIIMS Students Union v. </a:t>
            </a:r>
            <a:r>
              <a:rPr lang="en-US" dirty="0" smtClean="0">
                <a:solidFill>
                  <a:srgbClr val="00B050"/>
                </a:solidFill>
              </a:rPr>
              <a:t>AIIMS (2001)</a:t>
            </a:r>
            <a:r>
              <a:rPr lang="en-US" dirty="0" smtClean="0"/>
              <a:t>, </a:t>
            </a:r>
            <a:r>
              <a:rPr lang="en-US" dirty="0"/>
              <a:t>speaking about the importance of Fundamental Duties enriched in Article </a:t>
            </a:r>
            <a:r>
              <a:rPr lang="en-US" dirty="0" smtClean="0"/>
              <a:t>51-A, </a:t>
            </a:r>
            <a:r>
              <a:rPr lang="en-US" dirty="0">
                <a:solidFill>
                  <a:srgbClr val="7030A0"/>
                </a:solidFill>
              </a:rPr>
              <a:t>t</a:t>
            </a:r>
            <a:r>
              <a:rPr lang="en-US" dirty="0" smtClean="0">
                <a:solidFill>
                  <a:srgbClr val="7030A0"/>
                </a:solidFill>
              </a:rPr>
              <a:t>he Court </a:t>
            </a:r>
            <a:r>
              <a:rPr lang="en-US" dirty="0">
                <a:solidFill>
                  <a:srgbClr val="7030A0"/>
                </a:solidFill>
              </a:rPr>
              <a:t>held that </a:t>
            </a:r>
            <a:r>
              <a:rPr lang="en-US" dirty="0" smtClean="0">
                <a:solidFill>
                  <a:srgbClr val="7030A0"/>
                </a:solidFill>
              </a:rPr>
              <a:t>Fundamental 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 smtClean="0">
                <a:solidFill>
                  <a:srgbClr val="7030A0"/>
                </a:solidFill>
              </a:rPr>
              <a:t>ights </a:t>
            </a:r>
            <a:r>
              <a:rPr lang="en-US" dirty="0">
                <a:solidFill>
                  <a:srgbClr val="7030A0"/>
                </a:solidFill>
              </a:rPr>
              <a:t>and </a:t>
            </a:r>
            <a:r>
              <a:rPr lang="en-US" dirty="0" smtClean="0">
                <a:solidFill>
                  <a:srgbClr val="7030A0"/>
                </a:solidFill>
              </a:rPr>
              <a:t>Fundamental </a:t>
            </a:r>
            <a:r>
              <a:rPr lang="en-US" dirty="0">
                <a:solidFill>
                  <a:srgbClr val="7030A0"/>
                </a:solidFill>
              </a:rPr>
              <a:t>D</a:t>
            </a:r>
            <a:r>
              <a:rPr lang="en-US" dirty="0" smtClean="0">
                <a:solidFill>
                  <a:srgbClr val="7030A0"/>
                </a:solidFill>
              </a:rPr>
              <a:t>uties </a:t>
            </a:r>
            <a:r>
              <a:rPr lang="en-US" dirty="0">
                <a:solidFill>
                  <a:srgbClr val="7030A0"/>
                </a:solidFill>
              </a:rPr>
              <a:t>should be given equal </a:t>
            </a:r>
            <a:r>
              <a:rPr lang="en-US" dirty="0" smtClean="0">
                <a:solidFill>
                  <a:srgbClr val="7030A0"/>
                </a:solidFill>
              </a:rPr>
              <a:t>importance.</a:t>
            </a:r>
            <a:endParaRPr lang="en-IN" dirty="0" smtClean="0">
              <a:solidFill>
                <a:srgbClr val="7030A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 smtClean="0">
                <a:solidFill>
                  <a:srgbClr val="FF0000"/>
                </a:solidFill>
              </a:rPr>
              <a:t>he implementation of  Fundamental Duties require aspiration of the citizens rather than enforcement by law or  criminal sanctions. 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  Fundamental </a:t>
            </a:r>
            <a:r>
              <a:rPr lang="en-US" dirty="0">
                <a:solidFill>
                  <a:srgbClr val="00B050"/>
                </a:solidFill>
              </a:rPr>
              <a:t>D</a:t>
            </a:r>
            <a:r>
              <a:rPr lang="en-US" dirty="0" smtClean="0">
                <a:solidFill>
                  <a:srgbClr val="00B050"/>
                </a:solidFill>
              </a:rPr>
              <a:t>uties  should become part and parcel of the nature and character of every Indian. </a:t>
            </a: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79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Supreme Court has used Fundamental Duties?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 Mohan Kumar </a:t>
            </a:r>
            <a:r>
              <a:rPr lang="en-US" dirty="0" err="1"/>
              <a:t>Sighnania</a:t>
            </a:r>
            <a:r>
              <a:rPr lang="en-US" dirty="0"/>
              <a:t> v. Union of </a:t>
            </a:r>
            <a:r>
              <a:rPr lang="en-US" dirty="0" smtClean="0"/>
              <a:t>India(1991)</a:t>
            </a:r>
            <a:r>
              <a:rPr lang="en-US" dirty="0"/>
              <a:t> , </a:t>
            </a:r>
            <a:r>
              <a:rPr lang="en-US" dirty="0">
                <a:solidFill>
                  <a:srgbClr val="FF0000"/>
                </a:solidFill>
              </a:rPr>
              <a:t>in order to uphold the constitutionality of amendment to the Services Rules of All India Services, the Supreme Court had a recourse to Article 51-A(j).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Further</a:t>
            </a:r>
            <a:r>
              <a:rPr lang="en-US" dirty="0"/>
              <a:t>, In </a:t>
            </a:r>
            <a:r>
              <a:rPr lang="en-US" i="1" dirty="0"/>
              <a:t>Vellore Citizens’ </a:t>
            </a:r>
            <a:r>
              <a:rPr lang="en-US" dirty="0">
                <a:solidFill>
                  <a:srgbClr val="00B0F0"/>
                </a:solidFill>
              </a:rPr>
              <a:t>Welfare Forum v. Union of </a:t>
            </a:r>
            <a:r>
              <a:rPr lang="en-US" dirty="0" smtClean="0">
                <a:solidFill>
                  <a:srgbClr val="00B0F0"/>
                </a:solidFill>
              </a:rPr>
              <a:t>India</a:t>
            </a:r>
            <a:r>
              <a:rPr lang="en-US" b="1" dirty="0">
                <a:solidFill>
                  <a:srgbClr val="00B0F0"/>
                </a:solidFill>
              </a:rPr>
              <a:t> </a:t>
            </a:r>
            <a:r>
              <a:rPr lang="en-US" dirty="0">
                <a:solidFill>
                  <a:srgbClr val="00B0F0"/>
                </a:solidFill>
              </a:rPr>
              <a:t>&amp; </a:t>
            </a:r>
            <a:r>
              <a:rPr lang="en-US" dirty="0" err="1">
                <a:solidFill>
                  <a:srgbClr val="00B0F0"/>
                </a:solidFill>
              </a:rPr>
              <a:t>Bandkhal</a:t>
            </a:r>
            <a:r>
              <a:rPr lang="en-US" dirty="0">
                <a:solidFill>
                  <a:srgbClr val="00B0F0"/>
                </a:solidFill>
              </a:rPr>
              <a:t> and </a:t>
            </a:r>
            <a:r>
              <a:rPr lang="en-US" dirty="0" err="1">
                <a:solidFill>
                  <a:srgbClr val="00B0F0"/>
                </a:solidFill>
              </a:rPr>
              <a:t>Surajkund</a:t>
            </a:r>
            <a:r>
              <a:rPr lang="en-US" dirty="0">
                <a:solidFill>
                  <a:srgbClr val="00B0F0"/>
                </a:solidFill>
              </a:rPr>
              <a:t> Lakes </a:t>
            </a:r>
            <a:r>
              <a:rPr lang="en-US" dirty="0" smtClean="0">
                <a:solidFill>
                  <a:srgbClr val="00B0F0"/>
                </a:solidFill>
              </a:rPr>
              <a:t>matter(1996</a:t>
            </a:r>
            <a:r>
              <a:rPr lang="en-US" dirty="0" smtClean="0"/>
              <a:t>), </a:t>
            </a:r>
            <a:r>
              <a:rPr lang="en-US" dirty="0"/>
              <a:t>the Supreme Court </a:t>
            </a:r>
            <a:r>
              <a:rPr lang="en-US" dirty="0" smtClean="0"/>
              <a:t>recognized </a:t>
            </a:r>
            <a:r>
              <a:rPr lang="en-US" dirty="0"/>
              <a:t>‘</a:t>
            </a:r>
            <a:r>
              <a:rPr lang="en-US" dirty="0">
                <a:solidFill>
                  <a:srgbClr val="7030A0"/>
                </a:solidFill>
              </a:rPr>
              <a:t>the Precautionary Principle’, ‘the Polluter Pays’ principle as essential features of ‘sustainable development’ </a:t>
            </a:r>
            <a:r>
              <a:rPr lang="en-US" dirty="0"/>
              <a:t>and part of environment law of the country in view of Articles 21 and 51-A(g).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several cases, in which Supreme Court has considered the </a:t>
            </a:r>
            <a:r>
              <a:rPr lang="en-US" dirty="0">
                <a:solidFill>
                  <a:srgbClr val="C00000"/>
                </a:solidFill>
              </a:rPr>
              <a:t>importance of  </a:t>
            </a:r>
            <a:r>
              <a:rPr lang="en-US" dirty="0" smtClean="0">
                <a:solidFill>
                  <a:srgbClr val="C00000"/>
                </a:solidFill>
              </a:rPr>
              <a:t>Fundamental </a:t>
            </a:r>
            <a:r>
              <a:rPr lang="en-US" dirty="0">
                <a:solidFill>
                  <a:srgbClr val="C00000"/>
                </a:solidFill>
              </a:rPr>
              <a:t>D</a:t>
            </a:r>
            <a:r>
              <a:rPr lang="en-US" dirty="0" smtClean="0">
                <a:solidFill>
                  <a:srgbClr val="C00000"/>
                </a:solidFill>
              </a:rPr>
              <a:t>uties </a:t>
            </a:r>
            <a:r>
              <a:rPr lang="en-US" dirty="0">
                <a:solidFill>
                  <a:srgbClr val="C00000"/>
                </a:solidFill>
              </a:rPr>
              <a:t>as a rule of law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</a:p>
          <a:p>
            <a:r>
              <a:rPr lang="en-US" dirty="0" smtClean="0"/>
              <a:t>The apex court held that Fundamental </a:t>
            </a:r>
            <a:r>
              <a:rPr lang="en-US" dirty="0"/>
              <a:t>D</a:t>
            </a:r>
            <a:r>
              <a:rPr lang="en-US" dirty="0" smtClean="0"/>
              <a:t>uties</a:t>
            </a:r>
            <a:r>
              <a:rPr lang="en-US" dirty="0"/>
              <a:t>, though not enforceable by a writ of the court, </a:t>
            </a:r>
            <a:r>
              <a:rPr lang="en-US" dirty="0">
                <a:solidFill>
                  <a:srgbClr val="FF0000"/>
                </a:solidFill>
              </a:rPr>
              <a:t>yet provide valuable guidance and aid to interpretation and resolution of constitutional and legal issues.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67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Are there any laws that enforce Fundamental duties?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Fundamental Duties are imbibed in various laws prior to its enactment, such as:</a:t>
            </a:r>
          </a:p>
          <a:p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 smtClean="0">
                <a:solidFill>
                  <a:srgbClr val="FF0000"/>
                </a:solidFill>
              </a:rPr>
              <a:t>he </a:t>
            </a:r>
            <a:r>
              <a:rPr lang="en-US" dirty="0">
                <a:solidFill>
                  <a:srgbClr val="FF0000"/>
                </a:solidFill>
              </a:rPr>
              <a:t>Prevention of Insults to National </a:t>
            </a:r>
            <a:r>
              <a:rPr lang="en-US" dirty="0" err="1">
                <a:solidFill>
                  <a:srgbClr val="FF0000"/>
                </a:solidFill>
              </a:rPr>
              <a:t>Honour</a:t>
            </a:r>
            <a:r>
              <a:rPr lang="en-US" dirty="0">
                <a:solidFill>
                  <a:srgbClr val="FF0000"/>
                </a:solidFill>
              </a:rPr>
              <a:t> Act, 1971,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Protection of Civil Rights Act, 1955, </a:t>
            </a:r>
            <a:endParaRPr lang="en-US" dirty="0" smtClean="0"/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Unlawful Activities (Prevention) Act, 1967, </a:t>
            </a:r>
            <a:endParaRPr lang="en-US" dirty="0" smtClean="0"/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Representation of the People Act, 1951, </a:t>
            </a:r>
            <a:endParaRPr lang="en-US" dirty="0" smtClean="0"/>
          </a:p>
          <a:p>
            <a:r>
              <a:rPr lang="en-US" dirty="0">
                <a:solidFill>
                  <a:srgbClr val="00B050"/>
                </a:solidFill>
              </a:rPr>
              <a:t>T</a:t>
            </a:r>
            <a:r>
              <a:rPr lang="en-US" dirty="0" smtClean="0">
                <a:solidFill>
                  <a:srgbClr val="00B050"/>
                </a:solidFill>
              </a:rPr>
              <a:t>he </a:t>
            </a:r>
            <a:r>
              <a:rPr lang="en-US" dirty="0">
                <a:solidFill>
                  <a:srgbClr val="00B050"/>
                </a:solidFill>
              </a:rPr>
              <a:t>Environment (Protection) Act, 1986, 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T</a:t>
            </a:r>
            <a:r>
              <a:rPr lang="en-US" dirty="0" smtClean="0">
                <a:solidFill>
                  <a:srgbClr val="00B050"/>
                </a:solidFill>
              </a:rPr>
              <a:t>he </a:t>
            </a:r>
            <a:r>
              <a:rPr lang="en-US" dirty="0">
                <a:solidFill>
                  <a:srgbClr val="00B050"/>
                </a:solidFill>
              </a:rPr>
              <a:t>Forest (Conservation) Act, </a:t>
            </a:r>
            <a:r>
              <a:rPr lang="en-US" dirty="0" smtClean="0">
                <a:solidFill>
                  <a:srgbClr val="00B050"/>
                </a:solidFill>
              </a:rPr>
              <a:t>1980, </a:t>
            </a:r>
          </a:p>
          <a:p>
            <a:r>
              <a:rPr lang="en-US" dirty="0" smtClean="0"/>
              <a:t>The Wildlife Protection Act,1971,</a:t>
            </a:r>
          </a:p>
          <a:p>
            <a:r>
              <a:rPr lang="en-US" dirty="0" smtClean="0"/>
              <a:t>Right to Education Act,2009,</a:t>
            </a:r>
          </a:p>
          <a:p>
            <a:r>
              <a:rPr lang="en-US" dirty="0" smtClean="0"/>
              <a:t>The Criminal Law Amendment Act, 2013(</a:t>
            </a:r>
            <a:r>
              <a:rPr lang="en-US" dirty="0" err="1"/>
              <a:t>N</a:t>
            </a:r>
            <a:r>
              <a:rPr lang="en-US" dirty="0" err="1" smtClean="0"/>
              <a:t>irbhaya</a:t>
            </a:r>
            <a:r>
              <a:rPr lang="en-US" dirty="0" smtClean="0"/>
              <a:t> Act),</a:t>
            </a:r>
          </a:p>
          <a:p>
            <a:r>
              <a:rPr lang="en-US" dirty="0"/>
              <a:t>Haryana Recovery of Damages to Property During Disturbance of Public </a:t>
            </a:r>
            <a:r>
              <a:rPr lang="en-US" dirty="0" smtClean="0"/>
              <a:t>Order,2021 </a:t>
            </a:r>
          </a:p>
          <a:p>
            <a:r>
              <a:rPr lang="en-US" dirty="0" smtClean="0"/>
              <a:t>These laws indirectly </a:t>
            </a:r>
            <a:r>
              <a:rPr lang="en-US" dirty="0"/>
              <a:t>impose obligations, </a:t>
            </a:r>
            <a:r>
              <a:rPr lang="en-US" dirty="0" smtClean="0"/>
              <a:t>penalties </a:t>
            </a:r>
            <a:r>
              <a:rPr lang="en-US" dirty="0"/>
              <a:t>and </a:t>
            </a:r>
            <a:r>
              <a:rPr lang="en-US" dirty="0" smtClean="0"/>
              <a:t>punishments for violating fundamental duties.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290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What Recommendations have been made respect of Fundamental Duties?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Justice </a:t>
            </a:r>
            <a:r>
              <a:rPr lang="en-US" dirty="0" err="1"/>
              <a:t>Verma</a:t>
            </a:r>
            <a:r>
              <a:rPr lang="en-US" dirty="0"/>
              <a:t> Committee Report (1999) 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C00000"/>
                </a:solidFill>
              </a:rPr>
              <a:t>Citizenship </a:t>
            </a:r>
            <a:r>
              <a:rPr lang="en-US" dirty="0">
                <a:solidFill>
                  <a:srgbClr val="C00000"/>
                </a:solidFill>
              </a:rPr>
              <a:t>is a solemn duty which every individual must discharge with due diligence and dedication. </a:t>
            </a:r>
            <a:r>
              <a:rPr lang="en-US" dirty="0"/>
              <a:t>The current conjecture of social, economic and political forces calls </a:t>
            </a:r>
            <a:r>
              <a:rPr lang="en-US" dirty="0">
                <a:solidFill>
                  <a:srgbClr val="00B050"/>
                </a:solidFill>
              </a:rPr>
              <a:t>for a movement which captures the imagination of masses and motivates all categories of citizens to abide by the provisions of the Constitution in performing their duties </a:t>
            </a:r>
            <a:r>
              <a:rPr lang="en-US" dirty="0"/>
              <a:t>and exercising their </a:t>
            </a:r>
            <a:r>
              <a:rPr lang="en-US" dirty="0" smtClean="0"/>
              <a:t>rights.</a:t>
            </a:r>
            <a:endParaRPr lang="en-US" dirty="0"/>
          </a:p>
          <a:p>
            <a:r>
              <a:rPr lang="en-US" dirty="0"/>
              <a:t>January 3 to be observed as Fundamental Duties </a:t>
            </a:r>
            <a:r>
              <a:rPr lang="en-US" dirty="0" smtClean="0"/>
              <a:t>Day &amp; Organizing </a:t>
            </a:r>
            <a:r>
              <a:rPr lang="en-US" dirty="0"/>
              <a:t>advocacy and sensitization </a:t>
            </a:r>
            <a:r>
              <a:rPr lang="en-US" dirty="0" smtClean="0"/>
              <a:t>programs.</a:t>
            </a:r>
          </a:p>
          <a:p>
            <a:r>
              <a:rPr lang="en-US" dirty="0"/>
              <a:t>Preamble to the Constitution of India and </a:t>
            </a:r>
            <a:r>
              <a:rPr lang="en-US" dirty="0" smtClean="0"/>
              <a:t> </a:t>
            </a:r>
            <a:r>
              <a:rPr lang="en-US" dirty="0"/>
              <a:t>A</a:t>
            </a:r>
            <a:r>
              <a:rPr lang="en-US" dirty="0" smtClean="0"/>
              <a:t>rticle </a:t>
            </a:r>
            <a:r>
              <a:rPr lang="en-US" dirty="0"/>
              <a:t>51A on Fundamental Duties to be appropriately displayed on all government publications, diaries, calendars and at public places so that they always remain in the focus of the </a:t>
            </a:r>
            <a:r>
              <a:rPr lang="en-US" dirty="0" smtClean="0"/>
              <a:t>citizens.</a:t>
            </a:r>
          </a:p>
          <a:p>
            <a:r>
              <a:rPr lang="en-US" dirty="0" smtClean="0"/>
              <a:t>The </a:t>
            </a:r>
            <a:r>
              <a:rPr lang="en-US" dirty="0"/>
              <a:t>Justice </a:t>
            </a:r>
            <a:r>
              <a:rPr lang="en-US" dirty="0" err="1"/>
              <a:t>Venkatchaliah</a:t>
            </a:r>
            <a:r>
              <a:rPr lang="en-US" dirty="0"/>
              <a:t> </a:t>
            </a:r>
            <a:r>
              <a:rPr lang="en-US" dirty="0" smtClean="0"/>
              <a:t>Commission(2002) subsequently  </a:t>
            </a:r>
            <a:r>
              <a:rPr lang="en-US" dirty="0"/>
              <a:t>recommended: </a:t>
            </a:r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first and foremost step required by the Union and the State Governments is to </a:t>
            </a:r>
            <a:r>
              <a:rPr lang="en-US" dirty="0" smtClean="0">
                <a:solidFill>
                  <a:srgbClr val="FF0000"/>
                </a:solidFill>
              </a:rPr>
              <a:t>sensitize </a:t>
            </a:r>
            <a:r>
              <a:rPr lang="en-US" dirty="0">
                <a:solidFill>
                  <a:srgbClr val="FF0000"/>
                </a:solidFill>
              </a:rPr>
              <a:t>the people and to create a general awareness of the provisions of </a:t>
            </a:r>
            <a:r>
              <a:rPr lang="en-US" dirty="0" smtClean="0">
                <a:solidFill>
                  <a:srgbClr val="FF0000"/>
                </a:solidFill>
              </a:rPr>
              <a:t>Fundamental </a:t>
            </a:r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dirty="0" smtClean="0">
                <a:solidFill>
                  <a:srgbClr val="FF0000"/>
                </a:solidFill>
              </a:rPr>
              <a:t>uties </a:t>
            </a:r>
            <a:r>
              <a:rPr lang="en-US" dirty="0">
                <a:solidFill>
                  <a:srgbClr val="FF0000"/>
                </a:solidFill>
              </a:rPr>
              <a:t>amongst the </a:t>
            </a:r>
            <a:r>
              <a:rPr lang="en-US" dirty="0" smtClean="0">
                <a:solidFill>
                  <a:srgbClr val="FF0000"/>
                </a:solidFill>
              </a:rPr>
              <a:t>citizens.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185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Did We Learn Today?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Fundamental Rights are Justiciable, Directive Principles &amp; Fundamental Duties are not.</a:t>
            </a:r>
          </a:p>
          <a:p>
            <a:r>
              <a:rPr lang="en-US" dirty="0" smtClean="0"/>
              <a:t>All Directive Principles prevail over Fundamental Rights of Articles 14 &amp; 19.</a:t>
            </a:r>
          </a:p>
          <a:p>
            <a:r>
              <a:rPr lang="en-US" dirty="0" smtClean="0"/>
              <a:t>Fundamental Duties are now given equal importance with Fundamental Rights.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Next: We would discuss Union Executive</a:t>
            </a:r>
          </a:p>
          <a:p>
            <a:pPr marL="0" indent="0">
              <a:buNone/>
            </a:pPr>
            <a:r>
              <a:rPr lang="en-US" dirty="0" smtClean="0"/>
              <a:t>Thanks.</a:t>
            </a:r>
          </a:p>
          <a:p>
            <a:pPr marL="0" indent="0">
              <a:buNone/>
            </a:pP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17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1711</Words>
  <Application>Microsoft Office PowerPoint</Application>
  <PresentationFormat>On-screen Show (4:3)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Fundamental Rights, Directive Principles &amp; Fundamental Duties</vt:lpstr>
      <vt:lpstr>What is the relationship between Fundamental Rights &amp; Directive Principles</vt:lpstr>
      <vt:lpstr>What is the relationship between Fundamental Rights &amp; Directive Principles</vt:lpstr>
      <vt:lpstr> Fundamental Duties &amp; Indian Constitution?</vt:lpstr>
      <vt:lpstr>What is the importance of Duties in Indian Culture?</vt:lpstr>
      <vt:lpstr>What is the importance of Duties in Indian Culture?</vt:lpstr>
      <vt:lpstr>How were Fundamental Duties inserted in the Indian constitution?</vt:lpstr>
      <vt:lpstr>What are Indian Citizens’ Fundamental Duties?</vt:lpstr>
      <vt:lpstr>What are Indian Citizens’ Fundamental Duties?</vt:lpstr>
      <vt:lpstr>What are our  Foremost Duties?</vt:lpstr>
      <vt:lpstr>What is Relationship between Fundamental Rights &amp;Fundamental Duties</vt:lpstr>
      <vt:lpstr>How Supreme Court has used Fundamental Duties?</vt:lpstr>
      <vt:lpstr>Are there any laws that enforce Fundamental duties?</vt:lpstr>
      <vt:lpstr>What Recommendations have been made respect of Fundamental Duties?</vt:lpstr>
      <vt:lpstr>What Did We Learn Today?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Rights, Directive Principles &amp; Fundamental Duties</dc:title>
  <dc:creator>Windows User</dc:creator>
  <cp:lastModifiedBy>amrita</cp:lastModifiedBy>
  <cp:revision>40</cp:revision>
  <dcterms:created xsi:type="dcterms:W3CDTF">2021-04-09T14:02:29Z</dcterms:created>
  <dcterms:modified xsi:type="dcterms:W3CDTF">2022-03-15T05:10:58Z</dcterms:modified>
</cp:coreProperties>
</file>