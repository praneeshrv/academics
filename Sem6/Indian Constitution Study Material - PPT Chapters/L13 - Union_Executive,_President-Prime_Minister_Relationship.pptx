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8" r:id="rId14"/>
    <p:sldId id="269" r:id="rId15"/>
    <p:sldId id="270" r:id="rId16"/>
    <p:sldId id="272" r:id="rId17"/>
    <p:sldId id="273"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0" d="100"/>
          <a:sy n="80" d="100"/>
        </p:scale>
        <p:origin x="1450"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23D7A5FB-4725-4C6D-8B3D-34BE1DBE049F}" type="datetimeFigureOut">
              <a:rPr lang="en-IN" smtClean="0"/>
              <a:t>09-01-2022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65D95B6-7D69-4CF7-816C-226939E3ADB1}" type="slidenum">
              <a:rPr lang="en-IN" smtClean="0"/>
              <a:t>‹#›</a:t>
            </a:fld>
            <a:endParaRPr lang="en-IN"/>
          </a:p>
        </p:txBody>
      </p:sp>
    </p:spTree>
    <p:extLst>
      <p:ext uri="{BB962C8B-B14F-4D97-AF65-F5344CB8AC3E}">
        <p14:creationId xmlns:p14="http://schemas.microsoft.com/office/powerpoint/2010/main" val="3934625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3D7A5FB-4725-4C6D-8B3D-34BE1DBE049F}" type="datetimeFigureOut">
              <a:rPr lang="en-IN" smtClean="0"/>
              <a:t>09-01-2022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65D95B6-7D69-4CF7-816C-226939E3ADB1}" type="slidenum">
              <a:rPr lang="en-IN" smtClean="0"/>
              <a:t>‹#›</a:t>
            </a:fld>
            <a:endParaRPr lang="en-IN"/>
          </a:p>
        </p:txBody>
      </p:sp>
    </p:spTree>
    <p:extLst>
      <p:ext uri="{BB962C8B-B14F-4D97-AF65-F5344CB8AC3E}">
        <p14:creationId xmlns:p14="http://schemas.microsoft.com/office/powerpoint/2010/main" val="4175777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3D7A5FB-4725-4C6D-8B3D-34BE1DBE049F}" type="datetimeFigureOut">
              <a:rPr lang="en-IN" smtClean="0"/>
              <a:t>09-01-2022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65D95B6-7D69-4CF7-816C-226939E3ADB1}" type="slidenum">
              <a:rPr lang="en-IN" smtClean="0"/>
              <a:t>‹#›</a:t>
            </a:fld>
            <a:endParaRPr lang="en-IN"/>
          </a:p>
        </p:txBody>
      </p:sp>
    </p:spTree>
    <p:extLst>
      <p:ext uri="{BB962C8B-B14F-4D97-AF65-F5344CB8AC3E}">
        <p14:creationId xmlns:p14="http://schemas.microsoft.com/office/powerpoint/2010/main" val="2268583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23D7A5FB-4725-4C6D-8B3D-34BE1DBE049F}" type="datetimeFigureOut">
              <a:rPr lang="en-IN" smtClean="0"/>
              <a:t>09-01-2022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5D95B6-7D69-4CF7-816C-226939E3ADB1}" type="slidenum">
              <a:rPr lang="en-IN" smtClean="0"/>
              <a:t>‹#›</a:t>
            </a:fld>
            <a:endParaRPr lang="en-IN"/>
          </a:p>
        </p:txBody>
      </p:sp>
    </p:spTree>
    <p:extLst>
      <p:ext uri="{BB962C8B-B14F-4D97-AF65-F5344CB8AC3E}">
        <p14:creationId xmlns:p14="http://schemas.microsoft.com/office/powerpoint/2010/main" val="9433273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23D7A5FB-4725-4C6D-8B3D-34BE1DBE049F}" type="datetimeFigureOut">
              <a:rPr lang="en-IN" smtClean="0"/>
              <a:t>09-01-2022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65D95B6-7D69-4CF7-816C-226939E3ADB1}" type="slidenum">
              <a:rPr lang="en-IN" smtClean="0"/>
              <a:t>‹#›</a:t>
            </a:fld>
            <a:endParaRPr lang="en-IN"/>
          </a:p>
        </p:txBody>
      </p:sp>
    </p:spTree>
    <p:extLst>
      <p:ext uri="{BB962C8B-B14F-4D97-AF65-F5344CB8AC3E}">
        <p14:creationId xmlns:p14="http://schemas.microsoft.com/office/powerpoint/2010/main" val="3247819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23D7A5FB-4725-4C6D-8B3D-34BE1DBE049F}" type="datetimeFigureOut">
              <a:rPr lang="en-IN" smtClean="0"/>
              <a:t>09-01-2022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65D95B6-7D69-4CF7-816C-226939E3ADB1}" type="slidenum">
              <a:rPr lang="en-IN" smtClean="0"/>
              <a:t>‹#›</a:t>
            </a:fld>
            <a:endParaRPr lang="en-IN"/>
          </a:p>
        </p:txBody>
      </p:sp>
    </p:spTree>
    <p:extLst>
      <p:ext uri="{BB962C8B-B14F-4D97-AF65-F5344CB8AC3E}">
        <p14:creationId xmlns:p14="http://schemas.microsoft.com/office/powerpoint/2010/main" val="1024726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D7A5FB-4725-4C6D-8B3D-34BE1DBE049F}" type="datetimeFigureOut">
              <a:rPr lang="en-IN" smtClean="0"/>
              <a:t>09-01-2022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65D95B6-7D69-4CF7-816C-226939E3ADB1}" type="slidenum">
              <a:rPr lang="en-IN" smtClean="0"/>
              <a:t>‹#›</a:t>
            </a:fld>
            <a:endParaRPr lang="en-IN"/>
          </a:p>
        </p:txBody>
      </p:sp>
    </p:spTree>
    <p:extLst>
      <p:ext uri="{BB962C8B-B14F-4D97-AF65-F5344CB8AC3E}">
        <p14:creationId xmlns:p14="http://schemas.microsoft.com/office/powerpoint/2010/main" val="1948680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3D7A5FB-4725-4C6D-8B3D-34BE1DBE049F}" type="datetimeFigureOut">
              <a:rPr lang="en-IN" smtClean="0"/>
              <a:t>09-01-2022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5D95B6-7D69-4CF7-816C-226939E3ADB1}" type="slidenum">
              <a:rPr lang="en-IN" smtClean="0"/>
              <a:t>‹#›</a:t>
            </a:fld>
            <a:endParaRPr lang="en-IN"/>
          </a:p>
        </p:txBody>
      </p:sp>
    </p:spTree>
    <p:extLst>
      <p:ext uri="{BB962C8B-B14F-4D97-AF65-F5344CB8AC3E}">
        <p14:creationId xmlns:p14="http://schemas.microsoft.com/office/powerpoint/2010/main" val="2819448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3D7A5FB-4725-4C6D-8B3D-34BE1DBE049F}" type="datetimeFigureOut">
              <a:rPr lang="en-IN" smtClean="0"/>
              <a:t>09-01-2022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5D95B6-7D69-4CF7-816C-226939E3ADB1}" type="slidenum">
              <a:rPr lang="en-IN" smtClean="0"/>
              <a:t>‹#›</a:t>
            </a:fld>
            <a:endParaRPr lang="en-IN"/>
          </a:p>
        </p:txBody>
      </p:sp>
    </p:spTree>
    <p:extLst>
      <p:ext uri="{BB962C8B-B14F-4D97-AF65-F5344CB8AC3E}">
        <p14:creationId xmlns:p14="http://schemas.microsoft.com/office/powerpoint/2010/main" val="3352070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3D7A5FB-4725-4C6D-8B3D-34BE1DBE049F}" type="datetimeFigureOut">
              <a:rPr lang="en-IN" smtClean="0"/>
              <a:t>09-01-2022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65D95B6-7D69-4CF7-816C-226939E3ADB1}" type="slidenum">
              <a:rPr lang="en-IN" smtClean="0"/>
              <a:t>‹#›</a:t>
            </a:fld>
            <a:endParaRPr lang="en-IN"/>
          </a:p>
        </p:txBody>
      </p:sp>
    </p:spTree>
    <p:extLst>
      <p:ext uri="{BB962C8B-B14F-4D97-AF65-F5344CB8AC3E}">
        <p14:creationId xmlns:p14="http://schemas.microsoft.com/office/powerpoint/2010/main" val="2803594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3D7A5FB-4725-4C6D-8B3D-34BE1DBE049F}" type="datetimeFigureOut">
              <a:rPr lang="en-IN" smtClean="0"/>
              <a:t>09-01-2022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65D95B6-7D69-4CF7-816C-226939E3ADB1}" type="slidenum">
              <a:rPr lang="en-IN" smtClean="0"/>
              <a:t>‹#›</a:t>
            </a:fld>
            <a:endParaRPr lang="en-IN"/>
          </a:p>
        </p:txBody>
      </p:sp>
    </p:spTree>
    <p:extLst>
      <p:ext uri="{BB962C8B-B14F-4D97-AF65-F5344CB8AC3E}">
        <p14:creationId xmlns:p14="http://schemas.microsoft.com/office/powerpoint/2010/main" val="2521530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D7A5FB-4725-4C6D-8B3D-34BE1DBE049F}" type="datetimeFigureOut">
              <a:rPr lang="en-IN" smtClean="0"/>
              <a:t>09-01-2022</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5D95B6-7D69-4CF7-816C-226939E3ADB1}" type="slidenum">
              <a:rPr lang="en-IN" smtClean="0"/>
              <a:t>‹#›</a:t>
            </a:fld>
            <a:endParaRPr lang="en-IN"/>
          </a:p>
        </p:txBody>
      </p:sp>
    </p:spTree>
    <p:extLst>
      <p:ext uri="{BB962C8B-B14F-4D97-AF65-F5344CB8AC3E}">
        <p14:creationId xmlns:p14="http://schemas.microsoft.com/office/powerpoint/2010/main" val="22274157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Union Executive</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7470984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type of Government India has adopted?</a:t>
            </a:r>
            <a:endParaRPr lang="en-IN" dirty="0"/>
          </a:p>
        </p:txBody>
      </p:sp>
      <p:sp>
        <p:nvSpPr>
          <p:cNvPr id="3" name="Content Placeholder 2"/>
          <p:cNvSpPr>
            <a:spLocks noGrp="1"/>
          </p:cNvSpPr>
          <p:nvPr>
            <p:ph idx="1"/>
          </p:nvPr>
        </p:nvSpPr>
        <p:spPr/>
        <p:txBody>
          <a:bodyPr>
            <a:normAutofit fontScale="70000" lnSpcReduction="20000"/>
          </a:bodyPr>
          <a:lstStyle/>
          <a:p>
            <a:r>
              <a:rPr lang="en-US" dirty="0" smtClean="0"/>
              <a:t> After discussing Fundamental Rights, Directive Principles &amp; Fundamental Duties, now we would talk about the Union Executive and the President- Prime Minister Relationship.</a:t>
            </a:r>
          </a:p>
          <a:p>
            <a:r>
              <a:rPr lang="en-US" dirty="0" smtClean="0">
                <a:solidFill>
                  <a:srgbClr val="00B0F0"/>
                </a:solidFill>
              </a:rPr>
              <a:t>We had adopted the Parliamentary Democracy due to our familiarity with the British Parliamentary system.</a:t>
            </a:r>
          </a:p>
          <a:p>
            <a:r>
              <a:rPr lang="en-US" dirty="0" smtClean="0">
                <a:solidFill>
                  <a:srgbClr val="7030A0"/>
                </a:solidFill>
              </a:rPr>
              <a:t>There are three organs of the Union i.e. Executive, Parliament &amp; Union Judiciary.</a:t>
            </a:r>
          </a:p>
          <a:p>
            <a:r>
              <a:rPr lang="en-US" dirty="0" smtClean="0"/>
              <a:t>Part V of Indian Constitution deals with The Union and Its Chapter I provides for The Executive. Chapter II deals with Parliament, </a:t>
            </a:r>
            <a:r>
              <a:rPr lang="en-US" dirty="0" smtClean="0">
                <a:solidFill>
                  <a:srgbClr val="FF0000"/>
                </a:solidFill>
              </a:rPr>
              <a:t>Chapter III provides for the Legislative Powers of the President and has only one Article </a:t>
            </a:r>
            <a:r>
              <a:rPr lang="en-US" dirty="0" err="1" smtClean="0">
                <a:solidFill>
                  <a:srgbClr val="FF0000"/>
                </a:solidFill>
              </a:rPr>
              <a:t>ie</a:t>
            </a:r>
            <a:r>
              <a:rPr lang="en-US" dirty="0" smtClean="0">
                <a:solidFill>
                  <a:srgbClr val="FF0000"/>
                </a:solidFill>
              </a:rPr>
              <a:t> Article 123 which confers on the President power to promulgate Ordinances. </a:t>
            </a:r>
          </a:p>
          <a:p>
            <a:r>
              <a:rPr lang="en-US" dirty="0" smtClean="0"/>
              <a:t>Chapter IV deals with the Union Judiciary.</a:t>
            </a:r>
          </a:p>
          <a:p>
            <a:endParaRPr lang="en-IN" dirty="0"/>
          </a:p>
        </p:txBody>
      </p:sp>
    </p:spTree>
    <p:extLst>
      <p:ext uri="{BB962C8B-B14F-4D97-AF65-F5344CB8AC3E}">
        <p14:creationId xmlns:p14="http://schemas.microsoft.com/office/powerpoint/2010/main" val="18803728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Who is included within the Union Executive?</a:t>
            </a:r>
            <a:endParaRPr lang="en-IN" dirty="0"/>
          </a:p>
        </p:txBody>
      </p:sp>
      <p:sp>
        <p:nvSpPr>
          <p:cNvPr id="3" name="Content Placeholder 2"/>
          <p:cNvSpPr>
            <a:spLocks noGrp="1"/>
          </p:cNvSpPr>
          <p:nvPr>
            <p:ph idx="1"/>
          </p:nvPr>
        </p:nvSpPr>
        <p:spPr/>
        <p:txBody>
          <a:bodyPr>
            <a:normAutofit fontScale="70000" lnSpcReduction="20000"/>
          </a:bodyPr>
          <a:lstStyle/>
          <a:p>
            <a:pPr marL="0" indent="0">
              <a:buNone/>
            </a:pPr>
            <a:r>
              <a:rPr lang="en-US" dirty="0" smtClean="0"/>
              <a:t>Union Executive consists of following-</a:t>
            </a:r>
          </a:p>
          <a:p>
            <a:r>
              <a:rPr lang="en-US" dirty="0" smtClean="0"/>
              <a:t>President</a:t>
            </a:r>
          </a:p>
          <a:p>
            <a:r>
              <a:rPr lang="en-US" dirty="0" smtClean="0"/>
              <a:t>Vice-President</a:t>
            </a:r>
          </a:p>
          <a:p>
            <a:r>
              <a:rPr lang="en-US" dirty="0" smtClean="0"/>
              <a:t>Prime Minister</a:t>
            </a:r>
          </a:p>
          <a:p>
            <a:r>
              <a:rPr lang="en-US" dirty="0" smtClean="0"/>
              <a:t>Council of Ministers</a:t>
            </a:r>
          </a:p>
          <a:p>
            <a:r>
              <a:rPr lang="en-US" dirty="0" smtClean="0"/>
              <a:t>The Attorney General</a:t>
            </a:r>
          </a:p>
          <a:p>
            <a:r>
              <a:rPr lang="en-US" dirty="0" smtClean="0"/>
              <a:t>Vice-President is elected by both the Houses of Parliament. He is the Chairman of </a:t>
            </a:r>
            <a:r>
              <a:rPr lang="en-US" dirty="0" err="1"/>
              <a:t>R</a:t>
            </a:r>
            <a:r>
              <a:rPr lang="en-US" dirty="0" err="1" smtClean="0"/>
              <a:t>ajya</a:t>
            </a:r>
            <a:r>
              <a:rPr lang="en-US" dirty="0" smtClean="0"/>
              <a:t> </a:t>
            </a:r>
            <a:r>
              <a:rPr lang="en-US" dirty="0" err="1" smtClean="0"/>
              <a:t>Sabha</a:t>
            </a:r>
            <a:r>
              <a:rPr lang="en-US" dirty="0" smtClean="0"/>
              <a:t> but not the member of the House.</a:t>
            </a:r>
          </a:p>
          <a:p>
            <a:r>
              <a:rPr lang="en-US" dirty="0" smtClean="0"/>
              <a:t>President can submit his resignation to the Vice-President.</a:t>
            </a:r>
          </a:p>
          <a:p>
            <a:r>
              <a:rPr lang="en-US" dirty="0" smtClean="0"/>
              <a:t>Attorney General has precedence over all other Advocates in Indian Courts. He can participate in the proceedings of the Parliament.</a:t>
            </a:r>
            <a:endParaRPr lang="en-IN" dirty="0"/>
          </a:p>
        </p:txBody>
      </p:sp>
    </p:spTree>
    <p:extLst>
      <p:ext uri="{BB962C8B-B14F-4D97-AF65-F5344CB8AC3E}">
        <p14:creationId xmlns:p14="http://schemas.microsoft.com/office/powerpoint/2010/main" val="19543127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do we have a President?</a:t>
            </a:r>
            <a:endParaRPr lang="en-IN" dirty="0"/>
          </a:p>
        </p:txBody>
      </p:sp>
      <p:sp>
        <p:nvSpPr>
          <p:cNvPr id="3" name="Content Placeholder 2"/>
          <p:cNvSpPr>
            <a:spLocks noGrp="1"/>
          </p:cNvSpPr>
          <p:nvPr>
            <p:ph idx="1"/>
          </p:nvPr>
        </p:nvSpPr>
        <p:spPr/>
        <p:txBody>
          <a:bodyPr>
            <a:normAutofit fontScale="92500"/>
          </a:bodyPr>
          <a:lstStyle/>
          <a:p>
            <a:r>
              <a:rPr lang="en-US" dirty="0" smtClean="0">
                <a:solidFill>
                  <a:srgbClr val="FF0000"/>
                </a:solidFill>
              </a:rPr>
              <a:t>Though we have adopted the British Parliamentary System but we do not have any Queen/King as our Head of State.</a:t>
            </a:r>
          </a:p>
          <a:p>
            <a:r>
              <a:rPr lang="en-US" dirty="0" smtClean="0"/>
              <a:t>Our Preamble proclaims India as Republic which means Head of Indian State shall be an elected.</a:t>
            </a:r>
          </a:p>
          <a:p>
            <a:r>
              <a:rPr lang="en-US" dirty="0" smtClean="0">
                <a:solidFill>
                  <a:srgbClr val="7030A0"/>
                </a:solidFill>
              </a:rPr>
              <a:t>Accordingly Indian Constitution makes a provision for an elected President who is our Head of State.</a:t>
            </a:r>
          </a:p>
          <a:p>
            <a:r>
              <a:rPr lang="en-US" dirty="0" smtClean="0">
                <a:solidFill>
                  <a:srgbClr val="00B050"/>
                </a:solidFill>
              </a:rPr>
              <a:t>Prime Minister, on the other hand is the Head of the Government.</a:t>
            </a:r>
            <a:endParaRPr lang="en-IN" dirty="0">
              <a:solidFill>
                <a:srgbClr val="00B050"/>
              </a:solidFill>
            </a:endParaRPr>
          </a:p>
        </p:txBody>
      </p:sp>
    </p:spTree>
    <p:extLst>
      <p:ext uri="{BB962C8B-B14F-4D97-AF65-F5344CB8AC3E}">
        <p14:creationId xmlns:p14="http://schemas.microsoft.com/office/powerpoint/2010/main" val="3392877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is President of India elected?</a:t>
            </a:r>
            <a:endParaRPr lang="en-IN" dirty="0"/>
          </a:p>
        </p:txBody>
      </p:sp>
      <p:sp>
        <p:nvSpPr>
          <p:cNvPr id="3" name="Content Placeholder 2"/>
          <p:cNvSpPr>
            <a:spLocks noGrp="1"/>
          </p:cNvSpPr>
          <p:nvPr>
            <p:ph idx="1"/>
          </p:nvPr>
        </p:nvSpPr>
        <p:spPr/>
        <p:txBody>
          <a:bodyPr>
            <a:normAutofit fontScale="85000" lnSpcReduction="20000"/>
          </a:bodyPr>
          <a:lstStyle/>
          <a:p>
            <a:r>
              <a:rPr lang="en-US" dirty="0" smtClean="0">
                <a:solidFill>
                  <a:srgbClr val="00B0F0"/>
                </a:solidFill>
              </a:rPr>
              <a:t>Article 52—There shall be a President of India.</a:t>
            </a:r>
          </a:p>
          <a:p>
            <a:r>
              <a:rPr lang="en-US" dirty="0" smtClean="0"/>
              <a:t>Article 54 -The President shall be elected by the members of an electoral college consisting of— (a) </a:t>
            </a:r>
            <a:r>
              <a:rPr lang="en-US" dirty="0" smtClean="0">
                <a:solidFill>
                  <a:srgbClr val="00B050"/>
                </a:solidFill>
              </a:rPr>
              <a:t>the elected members of both Houses of Parliament</a:t>
            </a:r>
            <a:r>
              <a:rPr lang="en-US" dirty="0" smtClean="0"/>
              <a:t>; and </a:t>
            </a:r>
          </a:p>
          <a:p>
            <a:r>
              <a:rPr lang="en-US" dirty="0" smtClean="0"/>
              <a:t>(b) the </a:t>
            </a:r>
            <a:r>
              <a:rPr lang="en-US" dirty="0" smtClean="0">
                <a:solidFill>
                  <a:srgbClr val="FF0000"/>
                </a:solidFill>
              </a:rPr>
              <a:t>elected members of the Legislative Assemblies of the States</a:t>
            </a:r>
            <a:r>
              <a:rPr lang="en-US" dirty="0" smtClean="0"/>
              <a:t>. </a:t>
            </a:r>
          </a:p>
          <a:p>
            <a:r>
              <a:rPr lang="en-US" dirty="0" smtClean="0"/>
              <a:t> Thus nominated members of the Parliament cannot participate in the election of the President. </a:t>
            </a:r>
            <a:endParaRPr lang="en-US" dirty="0"/>
          </a:p>
          <a:p>
            <a:r>
              <a:rPr lang="en-US" dirty="0" smtClean="0">
                <a:solidFill>
                  <a:srgbClr val="7030A0"/>
                </a:solidFill>
              </a:rPr>
              <a:t>Under Article 71 all disputes about the President shall be enquired into and decided by the Supreme Court.</a:t>
            </a:r>
          </a:p>
          <a:p>
            <a:r>
              <a:rPr lang="en-US" dirty="0" smtClean="0">
                <a:solidFill>
                  <a:srgbClr val="7030A0"/>
                </a:solidFill>
              </a:rPr>
              <a:t>The decision of the Supreme Court shall be final.</a:t>
            </a:r>
            <a:endParaRPr lang="en-IN" dirty="0">
              <a:solidFill>
                <a:srgbClr val="7030A0"/>
              </a:solidFill>
            </a:endParaRPr>
          </a:p>
        </p:txBody>
      </p:sp>
    </p:spTree>
    <p:extLst>
      <p:ext uri="{BB962C8B-B14F-4D97-AF65-F5344CB8AC3E}">
        <p14:creationId xmlns:p14="http://schemas.microsoft.com/office/powerpoint/2010/main" val="7367744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Who is eligible to become President?</a:t>
            </a:r>
            <a:endParaRPr lang="en-IN" dirty="0"/>
          </a:p>
        </p:txBody>
      </p:sp>
      <p:sp>
        <p:nvSpPr>
          <p:cNvPr id="3" name="Content Placeholder 2"/>
          <p:cNvSpPr>
            <a:spLocks noGrp="1"/>
          </p:cNvSpPr>
          <p:nvPr>
            <p:ph idx="1"/>
          </p:nvPr>
        </p:nvSpPr>
        <p:spPr/>
        <p:txBody>
          <a:bodyPr>
            <a:normAutofit fontScale="55000" lnSpcReduction="20000"/>
          </a:bodyPr>
          <a:lstStyle/>
          <a:p>
            <a:r>
              <a:rPr lang="en-US" dirty="0" smtClean="0">
                <a:solidFill>
                  <a:srgbClr val="FF0000"/>
                </a:solidFill>
              </a:rPr>
              <a:t>Article </a:t>
            </a:r>
            <a:r>
              <a:rPr lang="en-US" dirty="0">
                <a:solidFill>
                  <a:srgbClr val="FF0000"/>
                </a:solidFill>
              </a:rPr>
              <a:t>58 lays down the </a:t>
            </a:r>
            <a:r>
              <a:rPr lang="en-US" dirty="0" smtClean="0">
                <a:solidFill>
                  <a:srgbClr val="FF0000"/>
                </a:solidFill>
              </a:rPr>
              <a:t>qualifications </a:t>
            </a:r>
            <a:r>
              <a:rPr lang="en-US" dirty="0">
                <a:solidFill>
                  <a:srgbClr val="FF0000"/>
                </a:solidFill>
              </a:rPr>
              <a:t>which an individual must possess for being elected to the office of the </a:t>
            </a:r>
            <a:r>
              <a:rPr lang="en-US" dirty="0" smtClean="0">
                <a:solidFill>
                  <a:srgbClr val="FF0000"/>
                </a:solidFill>
              </a:rPr>
              <a:t>President </a:t>
            </a:r>
            <a:r>
              <a:rPr lang="en-US" dirty="0">
                <a:solidFill>
                  <a:srgbClr val="FF0000"/>
                </a:solidFill>
              </a:rPr>
              <a:t>of India.</a:t>
            </a:r>
          </a:p>
          <a:p>
            <a:r>
              <a:rPr lang="en-US" dirty="0"/>
              <a:t>He must be a citizen of </a:t>
            </a:r>
            <a:r>
              <a:rPr lang="en-US" dirty="0" smtClean="0"/>
              <a:t>India,</a:t>
            </a:r>
            <a:endParaRPr lang="en-US" dirty="0"/>
          </a:p>
          <a:p>
            <a:r>
              <a:rPr lang="en-US" dirty="0"/>
              <a:t>He must have completed the age of 35 </a:t>
            </a:r>
            <a:r>
              <a:rPr lang="en-US" dirty="0" smtClean="0"/>
              <a:t>years,</a:t>
            </a:r>
            <a:endParaRPr lang="en-US" dirty="0"/>
          </a:p>
          <a:p>
            <a:r>
              <a:rPr lang="en-US" dirty="0">
                <a:solidFill>
                  <a:srgbClr val="7030A0"/>
                </a:solidFill>
              </a:rPr>
              <a:t>He must be qualified for election as a member of the House of the </a:t>
            </a:r>
            <a:r>
              <a:rPr lang="en-US" dirty="0" smtClean="0">
                <a:solidFill>
                  <a:srgbClr val="7030A0"/>
                </a:solidFill>
              </a:rPr>
              <a:t>people which means </a:t>
            </a:r>
            <a:r>
              <a:rPr lang="en-US" dirty="0">
                <a:solidFill>
                  <a:srgbClr val="7030A0"/>
                </a:solidFill>
              </a:rPr>
              <a:t>he must be registered as a voter in any Parliamentary </a:t>
            </a:r>
            <a:r>
              <a:rPr lang="en-US" dirty="0" smtClean="0">
                <a:solidFill>
                  <a:srgbClr val="7030A0"/>
                </a:solidFill>
              </a:rPr>
              <a:t>constituency,</a:t>
            </a:r>
            <a:endParaRPr lang="en-US" dirty="0">
              <a:solidFill>
                <a:srgbClr val="7030A0"/>
              </a:solidFill>
            </a:endParaRPr>
          </a:p>
          <a:p>
            <a:r>
              <a:rPr lang="en-US" dirty="0"/>
              <a:t>He must not hold any </a:t>
            </a:r>
            <a:r>
              <a:rPr lang="en-US" dirty="0">
                <a:solidFill>
                  <a:srgbClr val="FF0000"/>
                </a:solidFill>
              </a:rPr>
              <a:t>office of profit </a:t>
            </a:r>
            <a:r>
              <a:rPr lang="en-US" dirty="0"/>
              <a:t>under the </a:t>
            </a:r>
            <a:r>
              <a:rPr lang="en-US" dirty="0" smtClean="0"/>
              <a:t>Government </a:t>
            </a:r>
            <a:r>
              <a:rPr lang="en-US" dirty="0"/>
              <a:t>of India or the </a:t>
            </a:r>
            <a:r>
              <a:rPr lang="en-US" dirty="0" smtClean="0"/>
              <a:t>Government </a:t>
            </a:r>
            <a:r>
              <a:rPr lang="en-US" dirty="0"/>
              <a:t>of any </a:t>
            </a:r>
            <a:r>
              <a:rPr lang="en-US" dirty="0" smtClean="0"/>
              <a:t>State </a:t>
            </a:r>
            <a:r>
              <a:rPr lang="en-US" dirty="0"/>
              <a:t>or under any local or other authority subject to the control of the </a:t>
            </a:r>
            <a:r>
              <a:rPr lang="en-US" dirty="0" smtClean="0"/>
              <a:t>Government </a:t>
            </a:r>
            <a:r>
              <a:rPr lang="en-US" dirty="0"/>
              <a:t>of the </a:t>
            </a:r>
            <a:r>
              <a:rPr lang="en-US" dirty="0" smtClean="0"/>
              <a:t>Union </a:t>
            </a:r>
            <a:r>
              <a:rPr lang="en-US" dirty="0"/>
              <a:t>of any </a:t>
            </a:r>
            <a:r>
              <a:rPr lang="en-US" dirty="0" smtClean="0"/>
              <a:t>State</a:t>
            </a:r>
            <a:r>
              <a:rPr lang="en-US" dirty="0"/>
              <a:t>.</a:t>
            </a:r>
          </a:p>
          <a:p>
            <a:r>
              <a:rPr lang="en-US" dirty="0" smtClean="0"/>
              <a:t>Explanation.—For the purposes of this article, a person shall not be deemed to hold any office of profit by reason </a:t>
            </a:r>
            <a:r>
              <a:rPr lang="en-US" dirty="0" smtClean="0">
                <a:solidFill>
                  <a:srgbClr val="FF0000"/>
                </a:solidFill>
              </a:rPr>
              <a:t>only that he is the President or Vice-President of the Union or the Governor  of any State or is a Minister either for the Union or for any State.</a:t>
            </a:r>
          </a:p>
          <a:p>
            <a:r>
              <a:rPr lang="en-US" dirty="0" smtClean="0">
                <a:solidFill>
                  <a:srgbClr val="002060"/>
                </a:solidFill>
              </a:rPr>
              <a:t>The current President </a:t>
            </a:r>
            <a:r>
              <a:rPr lang="en-US" dirty="0" err="1" smtClean="0">
                <a:solidFill>
                  <a:srgbClr val="002060"/>
                </a:solidFill>
              </a:rPr>
              <a:t>Shri</a:t>
            </a:r>
            <a:r>
              <a:rPr lang="en-US" dirty="0" smtClean="0">
                <a:solidFill>
                  <a:srgbClr val="002060"/>
                </a:solidFill>
              </a:rPr>
              <a:t> </a:t>
            </a:r>
            <a:r>
              <a:rPr lang="en-US" dirty="0" err="1" smtClean="0">
                <a:solidFill>
                  <a:srgbClr val="002060"/>
                </a:solidFill>
              </a:rPr>
              <a:t>Ramnath</a:t>
            </a:r>
            <a:r>
              <a:rPr lang="en-US" dirty="0" smtClean="0">
                <a:solidFill>
                  <a:srgbClr val="002060"/>
                </a:solidFill>
              </a:rPr>
              <a:t> </a:t>
            </a:r>
            <a:r>
              <a:rPr lang="en-US" dirty="0" err="1" smtClean="0">
                <a:solidFill>
                  <a:srgbClr val="002060"/>
                </a:solidFill>
              </a:rPr>
              <a:t>Kovind</a:t>
            </a:r>
            <a:r>
              <a:rPr lang="en-US" dirty="0" smtClean="0">
                <a:solidFill>
                  <a:srgbClr val="002060"/>
                </a:solidFill>
              </a:rPr>
              <a:t> was the Governor of Bihar when he contested the Presidential election in 2017.</a:t>
            </a:r>
            <a:br>
              <a:rPr lang="en-US" dirty="0" smtClean="0">
                <a:solidFill>
                  <a:srgbClr val="002060"/>
                </a:solidFill>
              </a:rPr>
            </a:br>
            <a:endParaRPr lang="en-IN" dirty="0">
              <a:solidFill>
                <a:srgbClr val="002060"/>
              </a:solidFill>
            </a:endParaRPr>
          </a:p>
        </p:txBody>
      </p:sp>
    </p:spTree>
    <p:extLst>
      <p:ext uri="{BB962C8B-B14F-4D97-AF65-F5344CB8AC3E}">
        <p14:creationId xmlns:p14="http://schemas.microsoft.com/office/powerpoint/2010/main" val="17253483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Oath or affirmation President takes before entering upon his office?</a:t>
            </a:r>
            <a:endParaRPr lang="en-IN" dirty="0"/>
          </a:p>
        </p:txBody>
      </p:sp>
      <p:sp>
        <p:nvSpPr>
          <p:cNvPr id="3" name="Content Placeholder 2"/>
          <p:cNvSpPr>
            <a:spLocks noGrp="1"/>
          </p:cNvSpPr>
          <p:nvPr>
            <p:ph idx="1"/>
          </p:nvPr>
        </p:nvSpPr>
        <p:spPr/>
        <p:txBody>
          <a:bodyPr>
            <a:normAutofit fontScale="55000" lnSpcReduction="20000"/>
          </a:bodyPr>
          <a:lstStyle/>
          <a:p>
            <a:r>
              <a:rPr lang="en-US" dirty="0" smtClean="0"/>
              <a:t>Article 60—Every President and every person acting as President or discharging the functions of the President shall, before entering upon his office, </a:t>
            </a:r>
            <a:r>
              <a:rPr lang="en-US" dirty="0" smtClean="0">
                <a:solidFill>
                  <a:srgbClr val="7030A0"/>
                </a:solidFill>
              </a:rPr>
              <a:t>make and subscribe in the presence of the Chief Justice of India or, in his absence, the senior-most Judge of the Supreme Court available, an oath or affirmation in the following form,</a:t>
            </a:r>
            <a:r>
              <a:rPr lang="en-US" dirty="0" smtClean="0"/>
              <a:t> </a:t>
            </a:r>
          </a:p>
          <a:p>
            <a:r>
              <a:rPr lang="en-US" dirty="0" smtClean="0"/>
              <a:t>I  A, B do swear in the name of God</a:t>
            </a:r>
          </a:p>
          <a:p>
            <a:r>
              <a:rPr lang="en-US" dirty="0" smtClean="0"/>
              <a:t>solemnly affirm </a:t>
            </a:r>
          </a:p>
          <a:p>
            <a:endParaRPr lang="en-US" dirty="0" smtClean="0"/>
          </a:p>
          <a:p>
            <a:r>
              <a:rPr lang="en-US" dirty="0" smtClean="0"/>
              <a:t>that </a:t>
            </a:r>
            <a:r>
              <a:rPr lang="en-US" dirty="0" smtClean="0">
                <a:solidFill>
                  <a:srgbClr val="FF0000"/>
                </a:solidFill>
              </a:rPr>
              <a:t>I will faithfully execute the office of President </a:t>
            </a:r>
            <a:r>
              <a:rPr lang="en-US" dirty="0" smtClean="0"/>
              <a:t>(or discharge the functions of the President) of India </a:t>
            </a:r>
            <a:r>
              <a:rPr lang="en-US" dirty="0" smtClean="0">
                <a:solidFill>
                  <a:srgbClr val="FF0000"/>
                </a:solidFill>
              </a:rPr>
              <a:t>and will to the best of my ability preserve, protect and defend the Constitution and the law and that I will devote myself to the service and wellbeing of the people of India.</a:t>
            </a:r>
          </a:p>
          <a:p>
            <a:r>
              <a:rPr lang="en-US" dirty="0" smtClean="0">
                <a:solidFill>
                  <a:srgbClr val="00B050"/>
                </a:solidFill>
              </a:rPr>
              <a:t>Most oaths are mentioned in the Third Schedule of the Constitution but Presidential Oath being mentioned in the text of the Constitution shows  the importance of this Oath.</a:t>
            </a:r>
          </a:p>
          <a:p>
            <a:r>
              <a:rPr lang="en-US" dirty="0" smtClean="0"/>
              <a:t>We would in few minutes discuss  the importance of this oath in examining the position of the President and his relationship with the Prime Minister.</a:t>
            </a:r>
            <a:endParaRPr lang="en-IN" dirty="0"/>
          </a:p>
        </p:txBody>
      </p:sp>
    </p:spTree>
    <p:extLst>
      <p:ext uri="{BB962C8B-B14F-4D97-AF65-F5344CB8AC3E}">
        <p14:creationId xmlns:p14="http://schemas.microsoft.com/office/powerpoint/2010/main" val="19527054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President can be removed?</a:t>
            </a:r>
            <a:endParaRPr lang="en-IN" dirty="0"/>
          </a:p>
        </p:txBody>
      </p:sp>
      <p:sp>
        <p:nvSpPr>
          <p:cNvPr id="3" name="Content Placeholder 2"/>
          <p:cNvSpPr>
            <a:spLocks noGrp="1"/>
          </p:cNvSpPr>
          <p:nvPr>
            <p:ph idx="1"/>
          </p:nvPr>
        </p:nvSpPr>
        <p:spPr/>
        <p:txBody>
          <a:bodyPr>
            <a:normAutofit fontScale="40000" lnSpcReduction="20000"/>
          </a:bodyPr>
          <a:lstStyle/>
          <a:p>
            <a:r>
              <a:rPr lang="en-US" dirty="0" smtClean="0"/>
              <a:t>Article 61(1) When a President is to be impeached for violation of the Constitution, the charge shall be preferred by either House of Parliament. </a:t>
            </a:r>
          </a:p>
          <a:p>
            <a:r>
              <a:rPr lang="en-US" dirty="0" smtClean="0"/>
              <a:t>(2) No such charge shall be preferred unless— (a) the proposal to prefer such charge is contained in a resolution which has been moved after </a:t>
            </a:r>
            <a:r>
              <a:rPr lang="en-US" dirty="0" smtClean="0">
                <a:solidFill>
                  <a:srgbClr val="FF0000"/>
                </a:solidFill>
              </a:rPr>
              <a:t>at least fourteen days' notice in writing signed by not less than one-fourth of the total number of members of the House has been given of their intention to move the resolution, and</a:t>
            </a:r>
            <a:r>
              <a:rPr lang="en-US" dirty="0" smtClean="0"/>
              <a:t> </a:t>
            </a:r>
          </a:p>
          <a:p>
            <a:r>
              <a:rPr lang="en-US" dirty="0" smtClean="0"/>
              <a:t>(b) </a:t>
            </a:r>
            <a:r>
              <a:rPr lang="en-US" dirty="0" smtClean="0">
                <a:solidFill>
                  <a:srgbClr val="7030A0"/>
                </a:solidFill>
              </a:rPr>
              <a:t>such resolution has been passed by a majority of not less than two-thirds of the total membership of the House</a:t>
            </a:r>
            <a:r>
              <a:rPr lang="en-US" dirty="0" smtClean="0"/>
              <a:t>. </a:t>
            </a:r>
          </a:p>
          <a:p>
            <a:r>
              <a:rPr lang="en-US" dirty="0" smtClean="0"/>
              <a:t>(3) When a charge has been so preferred by either House of Parliament, the other House </a:t>
            </a:r>
            <a:r>
              <a:rPr lang="en-US" dirty="0" smtClean="0">
                <a:solidFill>
                  <a:srgbClr val="FF0000"/>
                </a:solidFill>
              </a:rPr>
              <a:t>shall investigate the charge or cause the charge to be investigated </a:t>
            </a:r>
            <a:r>
              <a:rPr lang="en-US" dirty="0" smtClean="0"/>
              <a:t>and the President shall have the right to appear and to be represented at such investigation. </a:t>
            </a:r>
          </a:p>
          <a:p>
            <a:r>
              <a:rPr lang="en-US" dirty="0" smtClean="0"/>
              <a:t>(4) If as a result of the </a:t>
            </a:r>
            <a:r>
              <a:rPr lang="en-US" dirty="0" smtClean="0">
                <a:solidFill>
                  <a:srgbClr val="00B050"/>
                </a:solidFill>
              </a:rPr>
              <a:t>investigation a resolution is passed by a majority of not less than two-thirds of the total membership of the House by which the charge was investigated or caused to be investigated, declaring that the charge preferred against the President has been sustained</a:t>
            </a:r>
            <a:r>
              <a:rPr lang="en-US" dirty="0" smtClean="0"/>
              <a:t>, such resolution shall have the effect of removing the President from his office as from the date on which the resolution is so passed.</a:t>
            </a:r>
          </a:p>
          <a:p>
            <a:r>
              <a:rPr lang="en-US" dirty="0" smtClean="0">
                <a:solidFill>
                  <a:srgbClr val="7030A0"/>
                </a:solidFill>
              </a:rPr>
              <a:t>No other provision in the Constitution requires Two-Third majority of total member of the House.</a:t>
            </a:r>
          </a:p>
          <a:p>
            <a:r>
              <a:rPr lang="en-US" dirty="0" smtClean="0">
                <a:solidFill>
                  <a:srgbClr val="FF0000"/>
                </a:solidFill>
              </a:rPr>
              <a:t>Even the no- confidence motion against the Prime Minister or Chief Minister requires merely Simple Majority.</a:t>
            </a:r>
          </a:p>
          <a:p>
            <a:r>
              <a:rPr lang="en-US" dirty="0" smtClean="0"/>
              <a:t>There are three kinds of Majorities- </a:t>
            </a:r>
          </a:p>
          <a:p>
            <a:r>
              <a:rPr lang="en-US" dirty="0" smtClean="0"/>
              <a:t>Simple Majority- 50%+1 of Present &amp; Voting</a:t>
            </a:r>
          </a:p>
          <a:p>
            <a:r>
              <a:rPr lang="en-US" dirty="0" smtClean="0"/>
              <a:t>Absolute Majority- 50%+1 of  Total Membership of the House</a:t>
            </a:r>
          </a:p>
          <a:p>
            <a:r>
              <a:rPr lang="en-US" dirty="0" smtClean="0"/>
              <a:t>Special Majority- 50%+1 of Total membership of the House &amp; 2/3</a:t>
            </a:r>
            <a:r>
              <a:rPr lang="en-US" baseline="30000" dirty="0" smtClean="0"/>
              <a:t>rd</a:t>
            </a:r>
            <a:r>
              <a:rPr lang="en-US" dirty="0" smtClean="0"/>
              <a:t> of those Present &amp; Voting</a:t>
            </a:r>
          </a:p>
          <a:p>
            <a:r>
              <a:rPr lang="en-US" dirty="0" smtClean="0"/>
              <a:t>Super Special Majority- 2/3</a:t>
            </a:r>
            <a:r>
              <a:rPr lang="en-US" baseline="30000" dirty="0" smtClean="0"/>
              <a:t>rd</a:t>
            </a:r>
            <a:r>
              <a:rPr lang="en-US" dirty="0" smtClean="0"/>
              <a:t> of Total Membership of the House</a:t>
            </a:r>
          </a:p>
          <a:p>
            <a:pPr marL="0" indent="0">
              <a:buNone/>
            </a:pPr>
            <a:endParaRPr lang="en-US" dirty="0" smtClean="0"/>
          </a:p>
        </p:txBody>
      </p:sp>
    </p:spTree>
    <p:extLst>
      <p:ext uri="{BB962C8B-B14F-4D97-AF65-F5344CB8AC3E}">
        <p14:creationId xmlns:p14="http://schemas.microsoft.com/office/powerpoint/2010/main" val="19297048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does the Constitution say about the Prime Minister?</a:t>
            </a:r>
            <a:endParaRPr lang="en-IN" dirty="0"/>
          </a:p>
        </p:txBody>
      </p:sp>
      <p:sp>
        <p:nvSpPr>
          <p:cNvPr id="3" name="Content Placeholder 2"/>
          <p:cNvSpPr>
            <a:spLocks noGrp="1"/>
          </p:cNvSpPr>
          <p:nvPr>
            <p:ph idx="1"/>
          </p:nvPr>
        </p:nvSpPr>
        <p:spPr/>
        <p:txBody>
          <a:bodyPr>
            <a:normAutofit fontScale="70000" lnSpcReduction="20000"/>
          </a:bodyPr>
          <a:lstStyle/>
          <a:p>
            <a:r>
              <a:rPr lang="en-US" dirty="0" smtClean="0">
                <a:solidFill>
                  <a:srgbClr val="FF0000"/>
                </a:solidFill>
              </a:rPr>
              <a:t>Prime Minister is the most powerful constitutional authority in our democracy.</a:t>
            </a:r>
          </a:p>
          <a:p>
            <a:r>
              <a:rPr lang="en-US" dirty="0" smtClean="0"/>
              <a:t>He leads  not only the Government but also the entire Nation. </a:t>
            </a:r>
            <a:r>
              <a:rPr lang="en-US" dirty="0" smtClean="0">
                <a:solidFill>
                  <a:srgbClr val="00B050"/>
                </a:solidFill>
              </a:rPr>
              <a:t>He represents aspirations of the people.</a:t>
            </a:r>
          </a:p>
          <a:p>
            <a:r>
              <a:rPr lang="en-US" dirty="0" smtClean="0"/>
              <a:t>Article 74 says  that </a:t>
            </a:r>
            <a:r>
              <a:rPr lang="en-US" dirty="0" smtClean="0">
                <a:solidFill>
                  <a:srgbClr val="FF0000"/>
                </a:solidFill>
              </a:rPr>
              <a:t>there shall be a Council of Ministers with the Prime Minister at the head to aid and advise the President who shall, in the exercise of his functions, act in accordance with such advice.</a:t>
            </a:r>
            <a:endParaRPr lang="en-US" dirty="0" smtClean="0"/>
          </a:p>
          <a:p>
            <a:r>
              <a:rPr lang="en-US" dirty="0" smtClean="0"/>
              <a:t> The question whether any, and if so what, advice was tendered by Ministers to the President </a:t>
            </a:r>
            <a:r>
              <a:rPr lang="en-US" dirty="0" smtClean="0">
                <a:solidFill>
                  <a:srgbClr val="7030A0"/>
                </a:solidFill>
              </a:rPr>
              <a:t>shall not be inquired into in any court.</a:t>
            </a:r>
          </a:p>
          <a:p>
            <a:r>
              <a:rPr lang="en-US" dirty="0" smtClean="0">
                <a:solidFill>
                  <a:srgbClr val="7030A0"/>
                </a:solidFill>
              </a:rPr>
              <a:t>After 91</a:t>
            </a:r>
            <a:r>
              <a:rPr lang="en-US" baseline="30000" dirty="0" smtClean="0">
                <a:solidFill>
                  <a:srgbClr val="7030A0"/>
                </a:solidFill>
              </a:rPr>
              <a:t>st</a:t>
            </a:r>
            <a:r>
              <a:rPr lang="en-US" dirty="0" smtClean="0">
                <a:solidFill>
                  <a:srgbClr val="7030A0"/>
                </a:solidFill>
              </a:rPr>
              <a:t> Constitutional amendment, total number of Ministers including the Prime Minister shall not exceed 15% of the total number of members of </a:t>
            </a:r>
            <a:r>
              <a:rPr lang="en-US" dirty="0" err="1" smtClean="0">
                <a:solidFill>
                  <a:srgbClr val="7030A0"/>
                </a:solidFill>
              </a:rPr>
              <a:t>Lok</a:t>
            </a:r>
            <a:r>
              <a:rPr lang="en-US" dirty="0" smtClean="0">
                <a:solidFill>
                  <a:srgbClr val="7030A0"/>
                </a:solidFill>
              </a:rPr>
              <a:t> </a:t>
            </a:r>
            <a:r>
              <a:rPr lang="en-US" dirty="0" err="1" smtClean="0">
                <a:solidFill>
                  <a:srgbClr val="7030A0"/>
                </a:solidFill>
              </a:rPr>
              <a:t>Sabha</a:t>
            </a:r>
            <a:r>
              <a:rPr lang="en-US" dirty="0" smtClean="0">
                <a:solidFill>
                  <a:srgbClr val="7030A0"/>
                </a:solidFill>
              </a:rPr>
              <a:t>.</a:t>
            </a:r>
            <a:endParaRPr lang="en-IN" dirty="0">
              <a:solidFill>
                <a:srgbClr val="7030A0"/>
              </a:solidFill>
            </a:endParaRPr>
          </a:p>
        </p:txBody>
      </p:sp>
    </p:spTree>
    <p:extLst>
      <p:ext uri="{BB962C8B-B14F-4D97-AF65-F5344CB8AC3E}">
        <p14:creationId xmlns:p14="http://schemas.microsoft.com/office/powerpoint/2010/main" val="370280480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is Prime Minister appointed?</a:t>
            </a:r>
            <a:endParaRPr lang="en-IN" dirty="0"/>
          </a:p>
        </p:txBody>
      </p:sp>
      <p:sp>
        <p:nvSpPr>
          <p:cNvPr id="3" name="Content Placeholder 2"/>
          <p:cNvSpPr>
            <a:spLocks noGrp="1"/>
          </p:cNvSpPr>
          <p:nvPr>
            <p:ph idx="1"/>
          </p:nvPr>
        </p:nvSpPr>
        <p:spPr/>
        <p:txBody>
          <a:bodyPr>
            <a:normAutofit fontScale="47500" lnSpcReduction="20000"/>
          </a:bodyPr>
          <a:lstStyle/>
          <a:p>
            <a:r>
              <a:rPr lang="en-US" dirty="0" smtClean="0"/>
              <a:t>Though the Indian Constitution is the lengthiest Constitution of the world and Prime Minister is all powerful </a:t>
            </a:r>
            <a:r>
              <a:rPr lang="en-US" dirty="0" smtClean="0">
                <a:solidFill>
                  <a:srgbClr val="FF0000"/>
                </a:solidFill>
              </a:rPr>
              <a:t>yet the Constitution does not give details of Prime Minister’s appointment. It is the classical silence of the Constitution.</a:t>
            </a:r>
          </a:p>
          <a:p>
            <a:r>
              <a:rPr lang="en-US" dirty="0" smtClean="0"/>
              <a:t>Article 75 merely says that Prime Minister shall be appointed by the President and </a:t>
            </a:r>
            <a:r>
              <a:rPr lang="en-US" dirty="0" smtClean="0">
                <a:solidFill>
                  <a:srgbClr val="7030A0"/>
                </a:solidFill>
              </a:rPr>
              <a:t>other Ministers shall be appointed by the President on the advice of the Prime Minister.</a:t>
            </a:r>
          </a:p>
          <a:p>
            <a:r>
              <a:rPr lang="en-US" dirty="0">
                <a:solidFill>
                  <a:srgbClr val="7030A0"/>
                </a:solidFill>
              </a:rPr>
              <a:t> </a:t>
            </a:r>
            <a:r>
              <a:rPr lang="en-US" dirty="0" smtClean="0"/>
              <a:t>Article 75(2) says that the ministers shall hold office </a:t>
            </a:r>
            <a:r>
              <a:rPr lang="en-US" dirty="0" smtClean="0">
                <a:solidFill>
                  <a:srgbClr val="FF0000"/>
                </a:solidFill>
              </a:rPr>
              <a:t>during the pleasure of the President.</a:t>
            </a:r>
          </a:p>
          <a:p>
            <a:r>
              <a:rPr lang="en-US" dirty="0" smtClean="0">
                <a:solidFill>
                  <a:srgbClr val="00B050"/>
                </a:solidFill>
              </a:rPr>
              <a:t>Article 75(3) provides that  the  Council of Ministers shall be collectively responsible to the House of People.</a:t>
            </a:r>
          </a:p>
          <a:p>
            <a:r>
              <a:rPr lang="en-US" dirty="0" smtClean="0"/>
              <a:t>President can appoint anyone as the Prime Minister. It is not necessary for the Prime Minister to be the member of Parliament.</a:t>
            </a:r>
          </a:p>
          <a:p>
            <a:r>
              <a:rPr lang="en-US" dirty="0" smtClean="0"/>
              <a:t>After </a:t>
            </a:r>
            <a:r>
              <a:rPr lang="en-US" dirty="0" err="1" smtClean="0"/>
              <a:t>Lok</a:t>
            </a:r>
            <a:r>
              <a:rPr lang="en-US" dirty="0" smtClean="0"/>
              <a:t> </a:t>
            </a:r>
            <a:r>
              <a:rPr lang="en-US" dirty="0" err="1" smtClean="0"/>
              <a:t>Sabha</a:t>
            </a:r>
            <a:r>
              <a:rPr lang="en-US" dirty="0" smtClean="0"/>
              <a:t> elections, as per constitutional conventions, President has to satisfy himself that the  person he is inviting to form the government  enjoys the confidence of </a:t>
            </a:r>
            <a:r>
              <a:rPr lang="en-US" dirty="0" err="1" smtClean="0"/>
              <a:t>Lok</a:t>
            </a:r>
            <a:r>
              <a:rPr lang="en-US" dirty="0" smtClean="0"/>
              <a:t> </a:t>
            </a:r>
            <a:r>
              <a:rPr lang="en-US" dirty="0" err="1" smtClean="0"/>
              <a:t>Sabha</a:t>
            </a:r>
            <a:r>
              <a:rPr lang="en-US" dirty="0" smtClean="0"/>
              <a:t>.</a:t>
            </a:r>
          </a:p>
          <a:p>
            <a:r>
              <a:rPr lang="en-US" dirty="0">
                <a:solidFill>
                  <a:srgbClr val="FF0000"/>
                </a:solidFill>
              </a:rPr>
              <a:t>I</a:t>
            </a:r>
            <a:r>
              <a:rPr lang="en-US" dirty="0" smtClean="0">
                <a:solidFill>
                  <a:srgbClr val="FF0000"/>
                </a:solidFill>
              </a:rPr>
              <a:t>f no party gets clear majority, President becomes all powerful due to the presidential discretion in the appointment of Prime Minister. He may call the leader of single largest party or leader of pre-poll alliance or leader of post-poll alliance. </a:t>
            </a:r>
          </a:p>
          <a:p>
            <a:endParaRPr lang="en-US" dirty="0" smtClean="0">
              <a:solidFill>
                <a:srgbClr val="00B050"/>
              </a:solidFill>
            </a:endParaRPr>
          </a:p>
          <a:p>
            <a:endParaRPr lang="en-IN" dirty="0">
              <a:solidFill>
                <a:srgbClr val="00B050"/>
              </a:solidFill>
            </a:endParaRPr>
          </a:p>
        </p:txBody>
      </p:sp>
    </p:spTree>
    <p:extLst>
      <p:ext uri="{BB962C8B-B14F-4D97-AF65-F5344CB8AC3E}">
        <p14:creationId xmlns:p14="http://schemas.microsoft.com/office/powerpoint/2010/main" val="27490908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Is Prime Minister just First amongst Equals?</a:t>
            </a:r>
            <a:endParaRPr lang="en-IN" dirty="0"/>
          </a:p>
        </p:txBody>
      </p:sp>
      <p:sp>
        <p:nvSpPr>
          <p:cNvPr id="3" name="Content Placeholder 2"/>
          <p:cNvSpPr>
            <a:spLocks noGrp="1"/>
          </p:cNvSpPr>
          <p:nvPr>
            <p:ph idx="1"/>
          </p:nvPr>
        </p:nvSpPr>
        <p:spPr/>
        <p:txBody>
          <a:bodyPr>
            <a:normAutofit fontScale="70000" lnSpcReduction="20000"/>
          </a:bodyPr>
          <a:lstStyle/>
          <a:p>
            <a:r>
              <a:rPr lang="en-US" dirty="0" smtClean="0"/>
              <a:t>This is what was the classical position of Prime Minister under British Parliamentary system.</a:t>
            </a:r>
          </a:p>
          <a:p>
            <a:r>
              <a:rPr lang="en-US" dirty="0" smtClean="0">
                <a:solidFill>
                  <a:srgbClr val="FF0000"/>
                </a:solidFill>
              </a:rPr>
              <a:t>Today to say Prime Minister is merely  </a:t>
            </a:r>
            <a:r>
              <a:rPr lang="en-US" i="1" dirty="0" smtClean="0"/>
              <a:t>primus inter pares </a:t>
            </a:r>
            <a:r>
              <a:rPr lang="en-US" dirty="0" smtClean="0">
                <a:solidFill>
                  <a:srgbClr val="FF0000"/>
                </a:solidFill>
              </a:rPr>
              <a:t>or first amongst equals does not truly reflect Prime Minister’s relationship with his Ministers</a:t>
            </a:r>
            <a:r>
              <a:rPr lang="en-US" dirty="0" smtClean="0"/>
              <a:t>. </a:t>
            </a:r>
          </a:p>
          <a:p>
            <a:r>
              <a:rPr lang="en-US" dirty="0" smtClean="0">
                <a:solidFill>
                  <a:srgbClr val="00B050"/>
                </a:solidFill>
              </a:rPr>
              <a:t>He has no equals. The Council of Minsters survives or sinks with the Prime Minister.</a:t>
            </a:r>
          </a:p>
          <a:p>
            <a:r>
              <a:rPr lang="en-US" dirty="0" smtClean="0"/>
              <a:t>If Prime Ministers has the massive majority, he would  enjoy enormous powers as </a:t>
            </a:r>
            <a:r>
              <a:rPr lang="en-US" dirty="0" smtClean="0">
                <a:solidFill>
                  <a:srgbClr val="7030A0"/>
                </a:solidFill>
              </a:rPr>
              <a:t>in reality the Ministers hold office on his sweet will. He can make and unmake Ministers.</a:t>
            </a:r>
          </a:p>
          <a:p>
            <a:r>
              <a:rPr lang="en-US" dirty="0" smtClean="0"/>
              <a:t>Ministers may exercise more independence and assert greater autonomy in Coalition Governments.</a:t>
            </a:r>
          </a:p>
          <a:p>
            <a:r>
              <a:rPr lang="en-US" dirty="0" smtClean="0">
                <a:solidFill>
                  <a:srgbClr val="C00000"/>
                </a:solidFill>
              </a:rPr>
              <a:t>Many parliamentary elections today turn presidential and people vote not for the party but for the leader whom they want to see as their Prime Minister.</a:t>
            </a:r>
          </a:p>
          <a:p>
            <a:endParaRPr lang="en-IN" dirty="0"/>
          </a:p>
        </p:txBody>
      </p:sp>
    </p:spTree>
    <p:extLst>
      <p:ext uri="{BB962C8B-B14F-4D97-AF65-F5344CB8AC3E}">
        <p14:creationId xmlns:p14="http://schemas.microsoft.com/office/powerpoint/2010/main" val="31040694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Is President bound by the Council of Minister’s advice?</a:t>
            </a:r>
            <a:endParaRPr lang="en-IN" dirty="0"/>
          </a:p>
        </p:txBody>
      </p:sp>
      <p:sp>
        <p:nvSpPr>
          <p:cNvPr id="3" name="Content Placeholder 2"/>
          <p:cNvSpPr>
            <a:spLocks noGrp="1"/>
          </p:cNvSpPr>
          <p:nvPr>
            <p:ph idx="1"/>
          </p:nvPr>
        </p:nvSpPr>
        <p:spPr/>
        <p:txBody>
          <a:bodyPr>
            <a:normAutofit fontScale="62500" lnSpcReduction="20000"/>
          </a:bodyPr>
          <a:lstStyle/>
          <a:p>
            <a:r>
              <a:rPr lang="en-US" dirty="0" smtClean="0"/>
              <a:t> Yes</a:t>
            </a:r>
          </a:p>
          <a:p>
            <a:r>
              <a:rPr lang="en-US" dirty="0" smtClean="0"/>
              <a:t>Prior to 42</a:t>
            </a:r>
            <a:r>
              <a:rPr lang="en-US" baseline="30000" dirty="0" smtClean="0"/>
              <a:t>nd</a:t>
            </a:r>
            <a:r>
              <a:rPr lang="en-US" dirty="0" smtClean="0"/>
              <a:t> Constitution Amendment, 1976, Article 74 had provided that </a:t>
            </a:r>
            <a:r>
              <a:rPr lang="en-US" dirty="0" smtClean="0">
                <a:solidFill>
                  <a:srgbClr val="FF0000"/>
                </a:solidFill>
              </a:rPr>
              <a:t>there shall be a Council of Ministers with the Prime Minister at the head to aid and advise President </a:t>
            </a:r>
            <a:r>
              <a:rPr lang="en-US" dirty="0" smtClean="0"/>
              <a:t>in the exercise of his functions.</a:t>
            </a:r>
          </a:p>
          <a:p>
            <a:r>
              <a:rPr lang="en-US" dirty="0" smtClean="0"/>
              <a:t>After 42</a:t>
            </a:r>
            <a:r>
              <a:rPr lang="en-US" baseline="30000" dirty="0" smtClean="0"/>
              <a:t>nd</a:t>
            </a:r>
            <a:r>
              <a:rPr lang="en-US" dirty="0" smtClean="0"/>
              <a:t> Amendment laid  down that President has to exercise his functions on the aid and advice of Council of Ministers headed by the Prime Minister.</a:t>
            </a:r>
          </a:p>
          <a:p>
            <a:r>
              <a:rPr lang="en-US" dirty="0" smtClean="0"/>
              <a:t>After 44</a:t>
            </a:r>
            <a:r>
              <a:rPr lang="en-US" baseline="30000" dirty="0" smtClean="0"/>
              <a:t>th</a:t>
            </a:r>
            <a:r>
              <a:rPr lang="en-US" dirty="0" smtClean="0"/>
              <a:t> Constitutional Amendment, </a:t>
            </a:r>
            <a:r>
              <a:rPr lang="en-US" dirty="0" smtClean="0">
                <a:solidFill>
                  <a:srgbClr val="C00000"/>
                </a:solidFill>
              </a:rPr>
              <a:t>President may require the Council of Ministers to reconsider such advice, either generally or otherwise, and the President shall act in accordance with the advice tendered after such reconsideration.</a:t>
            </a:r>
          </a:p>
          <a:p>
            <a:r>
              <a:rPr lang="en-US" dirty="0" smtClean="0"/>
              <a:t>President </a:t>
            </a:r>
            <a:r>
              <a:rPr lang="en-US" dirty="0" err="1" smtClean="0"/>
              <a:t>Zail</a:t>
            </a:r>
            <a:r>
              <a:rPr lang="en-US" dirty="0" smtClean="0"/>
              <a:t> Singh in 1987 has sent the Indian Postal Bill for the reconsideration. Similarly  President APJ </a:t>
            </a:r>
            <a:r>
              <a:rPr lang="en-US" dirty="0" err="1" smtClean="0"/>
              <a:t>Kalam</a:t>
            </a:r>
            <a:r>
              <a:rPr lang="en-US" dirty="0" smtClean="0"/>
              <a:t> in 2006 had returned the Office of Profit Bill and President KR Narayan  in 1997 and 1998 had twice refused to impose President’s rule in U.P. and Bihar</a:t>
            </a:r>
            <a:endParaRPr lang="en-US" dirty="0"/>
          </a:p>
        </p:txBody>
      </p:sp>
    </p:spTree>
    <p:extLst>
      <p:ext uri="{BB962C8B-B14F-4D97-AF65-F5344CB8AC3E}">
        <p14:creationId xmlns:p14="http://schemas.microsoft.com/office/powerpoint/2010/main" val="30006184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Is President of India a </a:t>
            </a:r>
            <a:r>
              <a:rPr lang="en-IN" dirty="0"/>
              <a:t>Nominal </a:t>
            </a:r>
            <a:r>
              <a:rPr lang="en-IN" dirty="0" smtClean="0"/>
              <a:t>Head </a:t>
            </a:r>
            <a:r>
              <a:rPr lang="en-US" dirty="0" smtClean="0"/>
              <a:t>?</a:t>
            </a:r>
            <a:endParaRPr lang="en-IN" dirty="0"/>
          </a:p>
        </p:txBody>
      </p:sp>
      <p:sp>
        <p:nvSpPr>
          <p:cNvPr id="3" name="Content Placeholder 2"/>
          <p:cNvSpPr>
            <a:spLocks noGrp="1"/>
          </p:cNvSpPr>
          <p:nvPr>
            <p:ph idx="1"/>
          </p:nvPr>
        </p:nvSpPr>
        <p:spPr/>
        <p:txBody>
          <a:bodyPr>
            <a:normAutofit fontScale="85000" lnSpcReduction="10000"/>
          </a:bodyPr>
          <a:lstStyle/>
          <a:p>
            <a:r>
              <a:rPr lang="en-US" dirty="0" smtClean="0"/>
              <a:t>There are two schools of Thought </a:t>
            </a:r>
            <a:r>
              <a:rPr lang="en-US" dirty="0" err="1" smtClean="0"/>
              <a:t>ie</a:t>
            </a:r>
            <a:r>
              <a:rPr lang="en-US" dirty="0" smtClean="0"/>
              <a:t> One which says the </a:t>
            </a:r>
            <a:r>
              <a:rPr lang="en-US" dirty="0" smtClean="0">
                <a:solidFill>
                  <a:srgbClr val="FF0000"/>
                </a:solidFill>
              </a:rPr>
              <a:t>President is a merely a Nominal Head or Figure Head  just like British Monarch who merely reigns but does not rule. </a:t>
            </a:r>
          </a:p>
          <a:p>
            <a:r>
              <a:rPr lang="en-US" dirty="0" smtClean="0"/>
              <a:t>Pt. Nehru and Supreme Court are of the opinion that since we are a parliamentary democracy, therefore, President cannot have any real power.</a:t>
            </a:r>
          </a:p>
          <a:p>
            <a:r>
              <a:rPr lang="en-US" dirty="0" smtClean="0">
                <a:solidFill>
                  <a:srgbClr val="7030A0"/>
                </a:solidFill>
              </a:rPr>
              <a:t>The Second School of Thought believes Indian President is not a mere nominal head but can still hire and fire the Cabinet. </a:t>
            </a:r>
            <a:r>
              <a:rPr lang="en-US" dirty="0" err="1" smtClean="0">
                <a:solidFill>
                  <a:srgbClr val="7030A0"/>
                </a:solidFill>
              </a:rPr>
              <a:t>Dr.Rajendra</a:t>
            </a:r>
            <a:r>
              <a:rPr lang="en-US" dirty="0" smtClean="0">
                <a:solidFill>
                  <a:srgbClr val="7030A0"/>
                </a:solidFill>
              </a:rPr>
              <a:t> Prasad and K.M. </a:t>
            </a:r>
            <a:r>
              <a:rPr lang="en-US" dirty="0" err="1" smtClean="0">
                <a:solidFill>
                  <a:srgbClr val="7030A0"/>
                </a:solidFill>
              </a:rPr>
              <a:t>Munshi</a:t>
            </a:r>
            <a:r>
              <a:rPr lang="en-US" dirty="0" smtClean="0">
                <a:solidFill>
                  <a:srgbClr val="7030A0"/>
                </a:solidFill>
              </a:rPr>
              <a:t> are the main proponents of this school</a:t>
            </a:r>
            <a:r>
              <a:rPr lang="en-US" dirty="0" smtClean="0"/>
              <a:t>.</a:t>
            </a:r>
            <a:endParaRPr lang="en-IN" dirty="0"/>
          </a:p>
        </p:txBody>
      </p:sp>
    </p:spTree>
    <p:extLst>
      <p:ext uri="{BB962C8B-B14F-4D97-AF65-F5344CB8AC3E}">
        <p14:creationId xmlns:p14="http://schemas.microsoft.com/office/powerpoint/2010/main" val="32953466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Is President of India a </a:t>
            </a:r>
            <a:r>
              <a:rPr lang="en-IN" dirty="0"/>
              <a:t>Nominal Head</a:t>
            </a:r>
            <a:r>
              <a:rPr lang="en-US" dirty="0" smtClean="0"/>
              <a:t>?</a:t>
            </a:r>
            <a:endParaRPr lang="en-IN" dirty="0"/>
          </a:p>
        </p:txBody>
      </p:sp>
      <p:sp>
        <p:nvSpPr>
          <p:cNvPr id="3" name="Content Placeholder 2"/>
          <p:cNvSpPr>
            <a:spLocks noGrp="1"/>
          </p:cNvSpPr>
          <p:nvPr>
            <p:ph idx="1"/>
          </p:nvPr>
        </p:nvSpPr>
        <p:spPr/>
        <p:txBody>
          <a:bodyPr>
            <a:normAutofit fontScale="25000" lnSpcReduction="20000"/>
          </a:bodyPr>
          <a:lstStyle/>
          <a:p>
            <a:r>
              <a:rPr lang="en-US" dirty="0" smtClean="0"/>
              <a:t>  </a:t>
            </a:r>
            <a:r>
              <a:rPr lang="en-US" sz="6400" dirty="0" smtClean="0"/>
              <a:t>This School relies on the following articles:</a:t>
            </a:r>
          </a:p>
          <a:p>
            <a:r>
              <a:rPr lang="en-US" sz="6400" dirty="0" smtClean="0">
                <a:solidFill>
                  <a:srgbClr val="C00000"/>
                </a:solidFill>
              </a:rPr>
              <a:t>While Prime Minister is leader of </a:t>
            </a:r>
            <a:r>
              <a:rPr lang="en-US" sz="6400" dirty="0" err="1" smtClean="0">
                <a:solidFill>
                  <a:srgbClr val="C00000"/>
                </a:solidFill>
              </a:rPr>
              <a:t>Lok</a:t>
            </a:r>
            <a:r>
              <a:rPr lang="en-US" sz="6400" dirty="0" smtClean="0">
                <a:solidFill>
                  <a:srgbClr val="C00000"/>
                </a:solidFill>
              </a:rPr>
              <a:t> </a:t>
            </a:r>
            <a:r>
              <a:rPr lang="en-US" sz="6400" dirty="0" err="1" smtClean="0">
                <a:solidFill>
                  <a:srgbClr val="C00000"/>
                </a:solidFill>
              </a:rPr>
              <a:t>Sabha</a:t>
            </a:r>
            <a:r>
              <a:rPr lang="en-US" sz="6400" dirty="0" smtClean="0">
                <a:solidFill>
                  <a:srgbClr val="C00000"/>
                </a:solidFill>
              </a:rPr>
              <a:t> but the President has a wider electoral college which consists of not only both the Houses of Parliament but also State Legislative Assemblies.</a:t>
            </a:r>
          </a:p>
          <a:p>
            <a:r>
              <a:rPr lang="en-US" sz="6400" dirty="0" smtClean="0"/>
              <a:t>Article 53(1)  says that </a:t>
            </a:r>
            <a:r>
              <a:rPr lang="en-US" sz="6400" dirty="0" smtClean="0">
                <a:solidFill>
                  <a:srgbClr val="FF0000"/>
                </a:solidFill>
              </a:rPr>
              <a:t>the executive power of the Union shall be vested in the President </a:t>
            </a:r>
            <a:r>
              <a:rPr lang="en-US" sz="6400" dirty="0" smtClean="0"/>
              <a:t>and shall be exercised by him </a:t>
            </a:r>
            <a:r>
              <a:rPr lang="en-US" sz="6400" dirty="0" smtClean="0">
                <a:solidFill>
                  <a:srgbClr val="FF0000"/>
                </a:solidFill>
              </a:rPr>
              <a:t>either directly or through officers subordinate to him </a:t>
            </a:r>
            <a:r>
              <a:rPr lang="en-US" sz="6400" dirty="0" smtClean="0"/>
              <a:t>in accordance with this Constitution.</a:t>
            </a:r>
          </a:p>
          <a:p>
            <a:r>
              <a:rPr lang="en-US" sz="6400" dirty="0" smtClean="0"/>
              <a:t>Under Article 60 President takes an oath  in which he promises  to </a:t>
            </a:r>
            <a:r>
              <a:rPr lang="en-US" sz="6400" dirty="0" smtClean="0">
                <a:solidFill>
                  <a:srgbClr val="FF0000"/>
                </a:solidFill>
              </a:rPr>
              <a:t>preserve, protect and defend the Constitution and the law and that </a:t>
            </a:r>
            <a:r>
              <a:rPr lang="en-US" sz="6400" dirty="0" smtClean="0">
                <a:solidFill>
                  <a:srgbClr val="00B050"/>
                </a:solidFill>
              </a:rPr>
              <a:t>he will devote himself to the service and wellbeing of the people of India.</a:t>
            </a:r>
          </a:p>
          <a:p>
            <a:r>
              <a:rPr lang="en-US" sz="6400" dirty="0" smtClean="0"/>
              <a:t>Under Article 61, President can be impeached only for the violation of Constitution.</a:t>
            </a:r>
          </a:p>
          <a:p>
            <a:r>
              <a:rPr lang="en-US" sz="6400" dirty="0" smtClean="0"/>
              <a:t>Supreme Court  has settled this controversy in </a:t>
            </a:r>
            <a:r>
              <a:rPr lang="en-US" sz="6400" dirty="0" err="1" smtClean="0"/>
              <a:t>Shamsher</a:t>
            </a:r>
            <a:r>
              <a:rPr lang="en-US" sz="6400" dirty="0" smtClean="0"/>
              <a:t> Singh v. State of Punjab (1974) and Justice Krishna </a:t>
            </a:r>
            <a:r>
              <a:rPr lang="en-US" sz="6400" dirty="0" err="1" smtClean="0"/>
              <a:t>Iyer</a:t>
            </a:r>
            <a:r>
              <a:rPr lang="en-US" sz="6400" dirty="0" smtClean="0"/>
              <a:t> observed:</a:t>
            </a:r>
          </a:p>
          <a:p>
            <a:r>
              <a:rPr lang="en-US" sz="6400" dirty="0" smtClean="0">
                <a:solidFill>
                  <a:srgbClr val="FF0000"/>
                </a:solidFill>
              </a:rPr>
              <a:t>We declare the law of this branch of our constitution to be that the President and Governor, custodians of all executive and other powers under various Articles shall, by virtue of these provisions, exercise  their formal constitutional powers </a:t>
            </a:r>
            <a:r>
              <a:rPr lang="en-US" sz="6400" dirty="0" smtClean="0">
                <a:solidFill>
                  <a:srgbClr val="7030A0"/>
                </a:solidFill>
              </a:rPr>
              <a:t>only upon and in accordance with the advice of their Ministers save in a few well-known exceptional situations.</a:t>
            </a:r>
          </a:p>
          <a:p>
            <a:r>
              <a:rPr lang="en-US" sz="6400" dirty="0" smtClean="0"/>
              <a:t>Thus there is simply no doubt now that Indian President has to discharge his function on the advice of His Council of Ministers.</a:t>
            </a:r>
          </a:p>
          <a:p>
            <a:endParaRPr lang="en-IN" dirty="0">
              <a:solidFill>
                <a:srgbClr val="7030A0"/>
              </a:solidFill>
            </a:endParaRPr>
          </a:p>
        </p:txBody>
      </p:sp>
    </p:spTree>
    <p:extLst>
      <p:ext uri="{BB962C8B-B14F-4D97-AF65-F5344CB8AC3E}">
        <p14:creationId xmlns:p14="http://schemas.microsoft.com/office/powerpoint/2010/main" val="6223610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are Ordinance Making Powers of the President?</a:t>
            </a:r>
            <a:endParaRPr lang="en-IN" dirty="0"/>
          </a:p>
        </p:txBody>
      </p:sp>
      <p:sp>
        <p:nvSpPr>
          <p:cNvPr id="3" name="Content Placeholder 2"/>
          <p:cNvSpPr>
            <a:spLocks noGrp="1"/>
          </p:cNvSpPr>
          <p:nvPr>
            <p:ph idx="1"/>
          </p:nvPr>
        </p:nvSpPr>
        <p:spPr/>
        <p:txBody>
          <a:bodyPr>
            <a:normAutofit fontScale="77500" lnSpcReduction="20000"/>
          </a:bodyPr>
          <a:lstStyle/>
          <a:p>
            <a:r>
              <a:rPr lang="en-US" dirty="0" smtClean="0"/>
              <a:t>Article 123  </a:t>
            </a:r>
            <a:r>
              <a:rPr lang="en-US" dirty="0" err="1" smtClean="0"/>
              <a:t>sayd</a:t>
            </a:r>
            <a:r>
              <a:rPr lang="en-US" dirty="0" smtClean="0"/>
              <a:t> that If at any time, </a:t>
            </a:r>
            <a:r>
              <a:rPr lang="en-US" dirty="0" smtClean="0">
                <a:solidFill>
                  <a:srgbClr val="FF0000"/>
                </a:solidFill>
              </a:rPr>
              <a:t>except when both Houses of Parliament are in session, </a:t>
            </a:r>
            <a:r>
              <a:rPr lang="en-US" dirty="0" smtClean="0"/>
              <a:t>the President is satisfied that circumstances exist which render it </a:t>
            </a:r>
            <a:r>
              <a:rPr lang="en-US" dirty="0" smtClean="0">
                <a:solidFill>
                  <a:srgbClr val="C00000"/>
                </a:solidFill>
              </a:rPr>
              <a:t>necessary for him to take immediate action, </a:t>
            </a:r>
            <a:r>
              <a:rPr lang="en-US" dirty="0" smtClean="0"/>
              <a:t>he may promulgate such Ordinances as the circumstances appear to him to require. </a:t>
            </a:r>
          </a:p>
          <a:p>
            <a:r>
              <a:rPr lang="en-US" dirty="0" smtClean="0"/>
              <a:t> An Ordinance promulgated under this article shall have the same force and effect as an Act of Parliament, but every such Ordinance </a:t>
            </a:r>
          </a:p>
          <a:p>
            <a:r>
              <a:rPr lang="en-US" dirty="0" smtClean="0"/>
              <a:t> </a:t>
            </a:r>
            <a:r>
              <a:rPr lang="en-US" dirty="0" smtClean="0">
                <a:solidFill>
                  <a:srgbClr val="00B0F0"/>
                </a:solidFill>
              </a:rPr>
              <a:t>shall be laid before both Houses of Parliament and shall cease to operate at the expiration of six weeks from the reassembly of Parliament</a:t>
            </a:r>
            <a:r>
              <a:rPr lang="en-US" dirty="0" smtClean="0"/>
              <a:t>, or, if before the expiration of that period resolutions disapproving it are passed by both Houses, upon the passing of the second of those resolutions.</a:t>
            </a:r>
            <a:endParaRPr lang="en-IN" dirty="0"/>
          </a:p>
        </p:txBody>
      </p:sp>
    </p:spTree>
    <p:extLst>
      <p:ext uri="{BB962C8B-B14F-4D97-AF65-F5344CB8AC3E}">
        <p14:creationId xmlns:p14="http://schemas.microsoft.com/office/powerpoint/2010/main" val="11120124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did we learn today?</a:t>
            </a:r>
            <a:endParaRPr lang="en-IN" dirty="0"/>
          </a:p>
        </p:txBody>
      </p:sp>
      <p:sp>
        <p:nvSpPr>
          <p:cNvPr id="3" name="Content Placeholder 2"/>
          <p:cNvSpPr>
            <a:spLocks noGrp="1"/>
          </p:cNvSpPr>
          <p:nvPr>
            <p:ph idx="1"/>
          </p:nvPr>
        </p:nvSpPr>
        <p:spPr/>
        <p:txBody>
          <a:bodyPr>
            <a:normAutofit fontScale="92500" lnSpcReduction="20000"/>
          </a:bodyPr>
          <a:lstStyle/>
          <a:p>
            <a:r>
              <a:rPr lang="en-US" dirty="0" smtClean="0"/>
              <a:t>India is a parliamentary democracy. Accordingly our President is just a nominal head and he has to act on the aid and advice of Council of Ministers headed by the </a:t>
            </a:r>
            <a:r>
              <a:rPr lang="en-US" dirty="0"/>
              <a:t>P</a:t>
            </a:r>
            <a:r>
              <a:rPr lang="en-US" dirty="0" smtClean="0"/>
              <a:t>rime Minister.</a:t>
            </a:r>
          </a:p>
          <a:p>
            <a:r>
              <a:rPr lang="en-US" dirty="0" smtClean="0"/>
              <a:t>Indian President reigns but does not rule.</a:t>
            </a:r>
          </a:p>
          <a:p>
            <a:r>
              <a:rPr lang="en-US" dirty="0" smtClean="0"/>
              <a:t>In emergency situations, where immediate action is required, Ordinances can be promulgated.</a:t>
            </a:r>
          </a:p>
          <a:p>
            <a:r>
              <a:rPr lang="en-US" dirty="0"/>
              <a:t> </a:t>
            </a:r>
            <a:r>
              <a:rPr lang="en-US" dirty="0" smtClean="0"/>
              <a:t>Next: We would discuss the Indian Judiciary  and the Appointment  of Judges.</a:t>
            </a:r>
          </a:p>
          <a:p>
            <a:r>
              <a:rPr lang="en-US" dirty="0" smtClean="0"/>
              <a:t>Thanks </a:t>
            </a:r>
            <a:endParaRPr lang="en-IN" dirty="0"/>
          </a:p>
        </p:txBody>
      </p:sp>
    </p:spTree>
    <p:extLst>
      <p:ext uri="{BB962C8B-B14F-4D97-AF65-F5344CB8AC3E}">
        <p14:creationId xmlns:p14="http://schemas.microsoft.com/office/powerpoint/2010/main" val="2119743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564904"/>
            <a:ext cx="8229600" cy="1143000"/>
          </a:xfrm>
        </p:spPr>
        <p:txBody>
          <a:bodyPr/>
          <a:lstStyle/>
          <a:p>
            <a:r>
              <a:rPr lang="en-IN" b="1" dirty="0"/>
              <a:t>Disclaimer</a:t>
            </a:r>
            <a:endParaRPr lang="en-IN" dirty="0"/>
          </a:p>
        </p:txBody>
      </p:sp>
      <p:sp>
        <p:nvSpPr>
          <p:cNvPr id="3" name="Content Placeholder 2"/>
          <p:cNvSpPr>
            <a:spLocks noGrp="1"/>
          </p:cNvSpPr>
          <p:nvPr>
            <p:ph idx="1"/>
          </p:nvPr>
        </p:nvSpPr>
        <p:spPr>
          <a:xfrm>
            <a:off x="467544" y="3429000"/>
            <a:ext cx="8229600" cy="4525963"/>
          </a:xfrm>
        </p:spPr>
        <p:txBody>
          <a:bodyPr>
            <a:normAutofit/>
          </a:bodyPr>
          <a:lstStyle/>
          <a:p>
            <a:pPr marL="0" indent="0" algn="ctr">
              <a:buNone/>
            </a:pPr>
            <a:r>
              <a:rPr lang="en-IN" sz="2000" dirty="0"/>
              <a:t>The views which have been expressed by the speaker in the lecture are his personal views.</a:t>
            </a:r>
          </a:p>
          <a:p>
            <a:pPr marL="0" indent="0">
              <a:buNone/>
            </a:pPr>
            <a:endParaRPr lang="en-IN" dirty="0"/>
          </a:p>
        </p:txBody>
      </p:sp>
    </p:spTree>
    <p:extLst>
      <p:ext uri="{BB962C8B-B14F-4D97-AF65-F5344CB8AC3E}">
        <p14:creationId xmlns:p14="http://schemas.microsoft.com/office/powerpoint/2010/main" val="42302898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460</TotalTime>
  <Words>2344</Words>
  <Application>Microsoft Office PowerPoint</Application>
  <PresentationFormat>On-screen Show (4:3)</PresentationFormat>
  <Paragraphs>110</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Union Executive</vt:lpstr>
      <vt:lpstr>What type of Government India has adopted?</vt:lpstr>
      <vt:lpstr>Who is included within the Union Executive?</vt:lpstr>
      <vt:lpstr>Why do we have a President?</vt:lpstr>
      <vt:lpstr>How is President of India elected?</vt:lpstr>
      <vt:lpstr>Who is eligible to become President?</vt:lpstr>
      <vt:lpstr>What Oath or affirmation President takes before entering upon his office?</vt:lpstr>
      <vt:lpstr>How President can be removed?</vt:lpstr>
      <vt:lpstr>What does the Constitution say about the Prime Minister?</vt:lpstr>
      <vt:lpstr>How is Prime Minister appointed?</vt:lpstr>
      <vt:lpstr>Is Prime Minister just First amongst Equals?</vt:lpstr>
      <vt:lpstr>Is President bound by the Council of Minister’s advice?</vt:lpstr>
      <vt:lpstr>Is President of India a Nominal Head ?</vt:lpstr>
      <vt:lpstr>Is President of India a Nominal Head?</vt:lpstr>
      <vt:lpstr>What are Ordinance Making Powers of the President?</vt:lpstr>
      <vt:lpstr>What did we learn today?</vt:lpstr>
      <vt:lpstr>Disclaimer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Union Executive</dc:title>
  <dc:creator>NALSAR</dc:creator>
  <cp:lastModifiedBy>amrita</cp:lastModifiedBy>
  <cp:revision>32</cp:revision>
  <dcterms:created xsi:type="dcterms:W3CDTF">2021-04-13T01:01:42Z</dcterms:created>
  <dcterms:modified xsi:type="dcterms:W3CDTF">2022-01-09T15:53:24Z</dcterms:modified>
</cp:coreProperties>
</file>