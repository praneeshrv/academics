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8" r:id="rId1"/>
  </p:sldMasterIdLst>
  <p:sldIdLst>
    <p:sldId id="256" r:id="rId2"/>
    <p:sldId id="265" r:id="rId3"/>
    <p:sldId id="257" r:id="rId4"/>
    <p:sldId id="258" r:id="rId5"/>
    <p:sldId id="259" r:id="rId6"/>
    <p:sldId id="262" r:id="rId7"/>
    <p:sldId id="260" r:id="rId8"/>
    <p:sldId id="274" r:id="rId9"/>
    <p:sldId id="266" r:id="rId10"/>
    <p:sldId id="267" r:id="rId11"/>
    <p:sldId id="275" r:id="rId12"/>
    <p:sldId id="268" r:id="rId13"/>
    <p:sldId id="269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81000"/>
            <a:ext cx="8382000" cy="43434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 smtClean="0">
                <a:solidFill>
                  <a:srgbClr val="C00000"/>
                </a:solidFill>
              </a:rPr>
              <a:t>On-Line Course on Indian Constitution</a:t>
            </a:r>
            <a:r>
              <a:rPr lang="en-IN" sz="3200" dirty="0" smtClean="0">
                <a:solidFill>
                  <a:srgbClr val="C00000"/>
                </a:solidFill>
              </a:rPr>
              <a:t/>
            </a:r>
            <a:br>
              <a:rPr lang="en-IN" sz="3200" dirty="0" smtClean="0">
                <a:solidFill>
                  <a:srgbClr val="C00000"/>
                </a:solidFill>
              </a:rPr>
            </a:br>
            <a:r>
              <a:rPr lang="en-IN" sz="3200" dirty="0" smtClean="0">
                <a:solidFill>
                  <a:srgbClr val="C00000"/>
                </a:solidFill>
              </a:rPr>
              <a:t/>
            </a:r>
            <a:br>
              <a:rPr lang="en-IN" sz="3200" dirty="0" smtClean="0">
                <a:solidFill>
                  <a:srgbClr val="C00000"/>
                </a:solidFill>
              </a:rPr>
            </a:br>
            <a:r>
              <a:rPr lang="en-IN" sz="3200" dirty="0" smtClean="0">
                <a:solidFill>
                  <a:srgbClr val="C00000"/>
                </a:solidFill>
              </a:rPr>
              <a:t/>
            </a:r>
            <a:br>
              <a:rPr lang="en-IN" sz="3200" dirty="0" smtClean="0">
                <a:solidFill>
                  <a:srgbClr val="C00000"/>
                </a:solidFill>
              </a:rPr>
            </a:br>
            <a:r>
              <a:rPr lang="en-IN" sz="2800" dirty="0" smtClean="0"/>
              <a:t>Sponsored by </a:t>
            </a:r>
            <a:r>
              <a:rPr lang="en-IN" sz="4000" dirty="0" smtClean="0"/>
              <a:t/>
            </a:r>
            <a:br>
              <a:rPr lang="en-IN" sz="4000" dirty="0" smtClean="0"/>
            </a:br>
            <a:r>
              <a:rPr lang="en-IN" sz="2800" b="1" dirty="0" smtClean="0">
                <a:solidFill>
                  <a:srgbClr val="FFFF00"/>
                </a:solidFill>
              </a:rPr>
              <a:t>Department  of Legal Affairs, Ministry of Law &amp; Justice, Government of India, New Delhi</a:t>
            </a:r>
            <a:br>
              <a:rPr lang="en-IN" sz="2800" b="1" dirty="0" smtClean="0">
                <a:solidFill>
                  <a:srgbClr val="FFFF00"/>
                </a:solidFill>
              </a:rPr>
            </a:br>
            <a:r>
              <a:rPr lang="en-IN" sz="2800" b="1" dirty="0">
                <a:solidFill>
                  <a:srgbClr val="0070C0"/>
                </a:solidFill>
              </a:rPr>
              <a:t/>
            </a:r>
            <a:br>
              <a:rPr lang="en-IN" sz="2800" b="1" dirty="0">
                <a:solidFill>
                  <a:srgbClr val="0070C0"/>
                </a:solidFill>
              </a:rPr>
            </a:br>
            <a:r>
              <a:rPr lang="en-IN" sz="2800" b="1" dirty="0" smtClean="0">
                <a:solidFill>
                  <a:srgbClr val="0070C0"/>
                </a:solidFill>
              </a:rPr>
              <a:t/>
            </a:r>
            <a:br>
              <a:rPr lang="en-IN" sz="2800" b="1" dirty="0" smtClean="0">
                <a:solidFill>
                  <a:srgbClr val="0070C0"/>
                </a:solidFill>
              </a:rPr>
            </a:br>
            <a:r>
              <a:rPr lang="en-IN" sz="3100" b="1" dirty="0" smtClean="0">
                <a:solidFill>
                  <a:schemeClr val="tx1"/>
                </a:solidFill>
              </a:rPr>
              <a:t>Conducted By</a:t>
            </a:r>
            <a:br>
              <a:rPr lang="en-IN" sz="3100" b="1" dirty="0" smtClean="0">
                <a:solidFill>
                  <a:schemeClr val="tx1"/>
                </a:solidFill>
              </a:rPr>
            </a:br>
            <a:r>
              <a:rPr lang="en-IN" sz="3100" b="1" dirty="0" smtClean="0">
                <a:solidFill>
                  <a:schemeClr val="tx1"/>
                </a:solidFill>
              </a:rPr>
              <a:t>NALSAR University of Law, Hyderabad</a:t>
            </a:r>
            <a:endParaRPr lang="en-IN" sz="31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5638800"/>
            <a:ext cx="7315200" cy="91440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Instructor: Prof</a:t>
            </a:r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sz="24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Faizan</a:t>
            </a:r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Mustafa, </a:t>
            </a:r>
            <a:endParaRPr lang="en-IN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President</a:t>
            </a:r>
            <a:r>
              <a:rPr lang="en-IN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Consortium of National Law </a:t>
            </a:r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Universities</a:t>
            </a:r>
            <a:endParaRPr lang="en-IN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19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1219200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Insert original logo of constitution</a:t>
            </a:r>
          </a:p>
          <a:p>
            <a:r>
              <a:rPr lang="en-IN" dirty="0" smtClean="0"/>
              <a:t>Insert government of India and NALSAR logo on each slide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750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810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1600200"/>
            <a:ext cx="7620000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000" b="1" dirty="0" smtClean="0"/>
              <a:t> It will make us better citizens &amp; Help in Understanding our Constitutional Journey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000" b="1" dirty="0" smtClean="0"/>
              <a:t>Constitution is Supreme Law of the Country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000" b="1" dirty="0" smtClean="0"/>
              <a:t>Constitution tells us about our Fundamental Rights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000" b="1" dirty="0" smtClean="0"/>
              <a:t>Constitution  describes powers of various organs of the Government &amp;</a:t>
            </a:r>
            <a:r>
              <a:rPr lang="en-IN" sz="2000" b="1" dirty="0"/>
              <a:t> details of the Centre-State </a:t>
            </a:r>
            <a:r>
              <a:rPr lang="en-IN" sz="2000" b="1" dirty="0" smtClean="0"/>
              <a:t>Relations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000" b="1" dirty="0" smtClean="0"/>
              <a:t>To get familiarized with the text of the Constitution &amp; Leading Judgments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000" b="1" dirty="0"/>
              <a:t> </a:t>
            </a:r>
            <a:r>
              <a:rPr lang="en-IN" sz="2000" b="1" dirty="0" smtClean="0"/>
              <a:t>To better appreciate current constitutional developments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7620000" cy="67185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 smtClean="0"/>
              <a:t>Why we should do this course?</a:t>
            </a:r>
          </a:p>
        </p:txBody>
      </p:sp>
    </p:spTree>
    <p:extLst>
      <p:ext uri="{BB962C8B-B14F-4D97-AF65-F5344CB8AC3E}">
        <p14:creationId xmlns:p14="http://schemas.microsoft.com/office/powerpoint/2010/main" val="275392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85800"/>
            <a:ext cx="708660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 smtClean="0"/>
              <a:t>Course Details</a:t>
            </a:r>
          </a:p>
          <a:p>
            <a:endParaRPr lang="en-IN" b="1" dirty="0" smtClean="0"/>
          </a:p>
          <a:p>
            <a:r>
              <a:rPr lang="en-IN" sz="2400" b="1" dirty="0" smtClean="0"/>
              <a:t>Eligibility: </a:t>
            </a:r>
            <a:r>
              <a:rPr lang="en-IN" sz="2400" b="1" dirty="0" smtClean="0">
                <a:solidFill>
                  <a:srgbClr val="C00000"/>
                </a:solidFill>
              </a:rPr>
              <a:t>Anyone  who has passed Class X </a:t>
            </a:r>
          </a:p>
          <a:p>
            <a:endParaRPr lang="en-IN" sz="2400" b="1" dirty="0"/>
          </a:p>
          <a:p>
            <a:r>
              <a:rPr lang="en-IN" sz="2400" b="1" dirty="0" smtClean="0"/>
              <a:t>Duration of Course: Fifteen Lectures</a:t>
            </a:r>
          </a:p>
          <a:p>
            <a:endParaRPr lang="en-IN" sz="2400" b="1" dirty="0"/>
          </a:p>
          <a:p>
            <a:r>
              <a:rPr lang="en-IN" sz="2400" b="1" dirty="0" smtClean="0"/>
              <a:t>Fee: </a:t>
            </a:r>
            <a:r>
              <a:rPr lang="en-IN" sz="2400" b="1" dirty="0" smtClean="0">
                <a:solidFill>
                  <a:srgbClr val="7030A0"/>
                </a:solidFill>
              </a:rPr>
              <a:t>Rs.500/-</a:t>
            </a:r>
          </a:p>
          <a:p>
            <a:endParaRPr lang="en-IN" sz="2400" b="1" dirty="0"/>
          </a:p>
          <a:p>
            <a:r>
              <a:rPr lang="en-IN" sz="2400" b="1" dirty="0" smtClean="0"/>
              <a:t>Examination: </a:t>
            </a:r>
            <a:r>
              <a:rPr lang="en-IN" sz="2400" b="1" dirty="0" smtClean="0">
                <a:solidFill>
                  <a:srgbClr val="C00000"/>
                </a:solidFill>
              </a:rPr>
              <a:t>Online test of 50 multiple choice questions. To pass the course and get NALSAR’s certificate at least 50% marks be secured</a:t>
            </a:r>
            <a:r>
              <a:rPr lang="en-IN" sz="2400" b="1" dirty="0" smtClean="0"/>
              <a:t>.</a:t>
            </a:r>
          </a:p>
          <a:p>
            <a:endParaRPr lang="en-IN" sz="2400" b="1" dirty="0"/>
          </a:p>
          <a:p>
            <a:r>
              <a:rPr lang="en-IN" sz="2400" b="1" dirty="0" smtClean="0"/>
              <a:t>Language: </a:t>
            </a:r>
            <a:r>
              <a:rPr lang="en-IN" sz="2400" b="1" dirty="0" smtClean="0">
                <a:solidFill>
                  <a:srgbClr val="7030A0"/>
                </a:solidFill>
              </a:rPr>
              <a:t>Hindi &amp; </a:t>
            </a:r>
            <a:r>
              <a:rPr lang="en-IN" sz="2400" b="1" dirty="0">
                <a:solidFill>
                  <a:srgbClr val="7030A0"/>
                </a:solidFill>
              </a:rPr>
              <a:t>E</a:t>
            </a:r>
            <a:r>
              <a:rPr lang="en-IN" sz="2400" b="1" dirty="0" smtClean="0">
                <a:solidFill>
                  <a:srgbClr val="7030A0"/>
                </a:solidFill>
              </a:rPr>
              <a:t>nglish</a:t>
            </a:r>
          </a:p>
          <a:p>
            <a:endParaRPr lang="en-IN" b="1" dirty="0"/>
          </a:p>
          <a:p>
            <a:endParaRPr lang="en-IN" b="1" dirty="0" smtClean="0"/>
          </a:p>
        </p:txBody>
      </p:sp>
    </p:spTree>
    <p:extLst>
      <p:ext uri="{BB962C8B-B14F-4D97-AF65-F5344CB8AC3E}">
        <p14:creationId xmlns:p14="http://schemas.microsoft.com/office/powerpoint/2010/main" val="349701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447800"/>
            <a:ext cx="79248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C00000"/>
                </a:solidFill>
              </a:rPr>
              <a:t>Why </a:t>
            </a:r>
            <a:r>
              <a:rPr lang="en-US" sz="2000" b="1" dirty="0">
                <a:solidFill>
                  <a:srgbClr val="C00000"/>
                </a:solidFill>
              </a:rPr>
              <a:t>constitutions are drafted, when they are drafted, what they should contain, what are their types.  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C00000"/>
                </a:solidFill>
              </a:rPr>
              <a:t>Constituent </a:t>
            </a:r>
            <a:r>
              <a:rPr lang="en-US" sz="2000" b="1" dirty="0">
                <a:solidFill>
                  <a:srgbClr val="C00000"/>
                </a:solidFill>
              </a:rPr>
              <a:t>Assembly Debates and Choices made by the framers of the </a:t>
            </a:r>
            <a:r>
              <a:rPr lang="en-US" sz="2000" b="1" dirty="0" smtClean="0">
                <a:solidFill>
                  <a:srgbClr val="C00000"/>
                </a:solidFill>
              </a:rPr>
              <a:t>Constitution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C00000"/>
                </a:solidFill>
              </a:rPr>
              <a:t>Preamble- </a:t>
            </a:r>
            <a:r>
              <a:rPr lang="en-US" sz="2000" b="1" dirty="0">
                <a:solidFill>
                  <a:srgbClr val="C00000"/>
                </a:solidFill>
              </a:rPr>
              <a:t>What it includes, how it is amended, how it is </a:t>
            </a:r>
            <a:r>
              <a:rPr lang="en-US" sz="2000" b="1" dirty="0" smtClean="0">
                <a:solidFill>
                  <a:srgbClr val="C00000"/>
                </a:solidFill>
              </a:rPr>
              <a:t>used.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C00000"/>
                </a:solidFill>
              </a:rPr>
              <a:t>Citizenship </a:t>
            </a:r>
            <a:r>
              <a:rPr lang="en-US" sz="2000" b="1" dirty="0">
                <a:solidFill>
                  <a:srgbClr val="C00000"/>
                </a:solidFill>
              </a:rPr>
              <a:t>&amp; </a:t>
            </a:r>
            <a:r>
              <a:rPr lang="en-US" sz="2000" b="1" dirty="0" smtClean="0">
                <a:solidFill>
                  <a:srgbClr val="C00000"/>
                </a:solidFill>
              </a:rPr>
              <a:t>National Register for Citizens </a:t>
            </a:r>
            <a:r>
              <a:rPr lang="en-US" sz="2000" b="1" dirty="0">
                <a:solidFill>
                  <a:srgbClr val="C00000"/>
                </a:solidFill>
              </a:rPr>
              <a:t>(Articles 5 to </a:t>
            </a:r>
            <a:r>
              <a:rPr lang="en-US" sz="2000" b="1" dirty="0" smtClean="0">
                <a:solidFill>
                  <a:srgbClr val="C00000"/>
                </a:solidFill>
              </a:rPr>
              <a:t>11)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C00000"/>
                </a:solidFill>
              </a:rPr>
              <a:t>Right </a:t>
            </a:r>
            <a:r>
              <a:rPr lang="en-US" sz="2000" b="1" dirty="0">
                <a:solidFill>
                  <a:srgbClr val="C00000"/>
                </a:solidFill>
              </a:rPr>
              <a:t>to Equality-  Reasonable </a:t>
            </a:r>
            <a:r>
              <a:rPr lang="en-US" sz="2000" b="1" dirty="0" smtClean="0">
                <a:solidFill>
                  <a:srgbClr val="C00000"/>
                </a:solidFill>
              </a:rPr>
              <a:t>Classification</a:t>
            </a:r>
            <a:endParaRPr lang="en-US" sz="2000" dirty="0" smtClean="0"/>
          </a:p>
          <a:p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1066800" y="762000"/>
            <a:ext cx="7010400" cy="533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Course Syllabus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35013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8503" y="381000"/>
            <a:ext cx="82296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Continued..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Affirmative </a:t>
            </a:r>
            <a:r>
              <a:rPr lang="en-US" b="1" dirty="0">
                <a:solidFill>
                  <a:srgbClr val="C00000"/>
                </a:solidFill>
              </a:rPr>
              <a:t>Action- Reservation- Need and how long should it continue? Why improvements are to be made? 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>
                <a:solidFill>
                  <a:srgbClr val="C00000"/>
                </a:solidFill>
              </a:rPr>
              <a:t>Freedom of Speech- Limits- Sedition, Blasphemy, Defamation, controlling online speech- hate speech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>
                <a:solidFill>
                  <a:srgbClr val="C00000"/>
                </a:solidFill>
              </a:rPr>
              <a:t>Right to Life &amp; Liberty- </a:t>
            </a:r>
            <a:r>
              <a:rPr lang="en-US" b="1" dirty="0" err="1">
                <a:solidFill>
                  <a:srgbClr val="C00000"/>
                </a:solidFill>
              </a:rPr>
              <a:t>Aadhar</a:t>
            </a:r>
            <a:r>
              <a:rPr lang="en-US" b="1" dirty="0">
                <a:solidFill>
                  <a:srgbClr val="C00000"/>
                </a:solidFill>
              </a:rPr>
              <a:t>, </a:t>
            </a:r>
            <a:r>
              <a:rPr lang="en-US" b="1" dirty="0" smtClean="0">
                <a:solidFill>
                  <a:srgbClr val="C00000"/>
                </a:solidFill>
              </a:rPr>
              <a:t>Privacy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Freedom </a:t>
            </a:r>
            <a:r>
              <a:rPr lang="en-US" b="1" dirty="0">
                <a:solidFill>
                  <a:srgbClr val="C00000"/>
                </a:solidFill>
              </a:rPr>
              <a:t>of Religion- Conversion laws,  essentiality test- Prayers in </a:t>
            </a:r>
            <a:r>
              <a:rPr lang="en-US" b="1" dirty="0" smtClean="0">
                <a:solidFill>
                  <a:srgbClr val="C00000"/>
                </a:solidFill>
              </a:rPr>
              <a:t>Schools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Rights </a:t>
            </a:r>
            <a:r>
              <a:rPr lang="en-US" b="1" dirty="0">
                <a:solidFill>
                  <a:srgbClr val="C00000"/>
                </a:solidFill>
              </a:rPr>
              <a:t>of Minorities-  Right to Culture, Mother Tongue &amp; </a:t>
            </a:r>
            <a:r>
              <a:rPr lang="en-US" b="1" dirty="0" smtClean="0">
                <a:solidFill>
                  <a:srgbClr val="C00000"/>
                </a:solidFill>
              </a:rPr>
              <a:t>NEP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Directive </a:t>
            </a:r>
            <a:r>
              <a:rPr lang="en-US" b="1" dirty="0">
                <a:solidFill>
                  <a:srgbClr val="C00000"/>
                </a:solidFill>
              </a:rPr>
              <a:t>Principles- Non-Justifiable Relationship Between Fundamental Rights &amp; Directive </a:t>
            </a:r>
            <a:r>
              <a:rPr lang="en-US" b="1" dirty="0" smtClean="0">
                <a:solidFill>
                  <a:srgbClr val="C00000"/>
                </a:solidFill>
              </a:rPr>
              <a:t>Principles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54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609600"/>
            <a:ext cx="7391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b="1" dirty="0">
                <a:solidFill>
                  <a:srgbClr val="C00000"/>
                </a:solidFill>
              </a:rPr>
              <a:t>Continued..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Union </a:t>
            </a:r>
            <a:r>
              <a:rPr lang="en-US" b="1" dirty="0">
                <a:solidFill>
                  <a:srgbClr val="C00000"/>
                </a:solidFill>
              </a:rPr>
              <a:t>Executive- Prime Minister – President Relations - Ordinance Making  Article 51-A- Fundamental Duties: Relationship Between Fundamental Duties &amp; Fundamental Rights, National Anthem </a:t>
            </a:r>
            <a:r>
              <a:rPr lang="en-US" b="1" dirty="0" err="1">
                <a:solidFill>
                  <a:srgbClr val="C00000"/>
                </a:solidFill>
              </a:rPr>
              <a:t>case</a:t>
            </a:r>
            <a:r>
              <a:rPr lang="en-US" b="1" dirty="0" err="1" smtClean="0">
                <a:solidFill>
                  <a:srgbClr val="C00000"/>
                </a:solidFill>
              </a:rPr>
              <a:t>Powers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Judiciary- </a:t>
            </a:r>
            <a:r>
              <a:rPr lang="en-US" b="1" dirty="0">
                <a:solidFill>
                  <a:srgbClr val="C00000"/>
                </a:solidFill>
              </a:rPr>
              <a:t>appointment of judges- 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Is judicial review anti -</a:t>
            </a:r>
            <a:r>
              <a:rPr lang="en-US" b="1" dirty="0" smtClean="0">
                <a:solidFill>
                  <a:srgbClr val="C00000"/>
                </a:solidFill>
              </a:rPr>
              <a:t>democratic?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Amending </a:t>
            </a:r>
            <a:r>
              <a:rPr lang="en-US" b="1" dirty="0">
                <a:solidFill>
                  <a:srgbClr val="C00000"/>
                </a:solidFill>
              </a:rPr>
              <a:t>Powers </a:t>
            </a:r>
            <a:r>
              <a:rPr lang="en-US" b="1" dirty="0" smtClean="0">
                <a:solidFill>
                  <a:srgbClr val="C00000"/>
                </a:solidFill>
              </a:rPr>
              <a:t>– Need, Important Amendments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Basic </a:t>
            </a:r>
            <a:r>
              <a:rPr lang="en-US" b="1" dirty="0">
                <a:solidFill>
                  <a:srgbClr val="C00000"/>
                </a:solidFill>
              </a:rPr>
              <a:t>Structure – Distinction between the Constituent Power and ordinary legislative powers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0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62200"/>
            <a:ext cx="7391399" cy="115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4000" b="1" u="sng" dirty="0" smtClean="0">
                <a:solidFill>
                  <a:srgbClr val="C00000"/>
                </a:solidFill>
              </a:rPr>
              <a:t>First Lecture</a:t>
            </a:r>
          </a:p>
        </p:txBody>
      </p:sp>
    </p:spTree>
    <p:extLst>
      <p:ext uri="{BB962C8B-B14F-4D97-AF65-F5344CB8AC3E}">
        <p14:creationId xmlns:p14="http://schemas.microsoft.com/office/powerpoint/2010/main" val="282533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828800"/>
            <a:ext cx="8001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IN" b="1" dirty="0" smtClean="0"/>
              <a:t>Constitution is the Supreme Law of  any country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IN" b="1" dirty="0" smtClean="0"/>
              <a:t>It is the solemn contract between State and People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IN" b="1" dirty="0" smtClean="0"/>
              <a:t>It incorporates people’s aspirations about their society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IN" b="1" dirty="0" smtClean="0"/>
              <a:t>It </a:t>
            </a:r>
            <a:r>
              <a:rPr lang="en-IN" b="1" dirty="0"/>
              <a:t>tells us about our Fundamental </a:t>
            </a:r>
            <a:r>
              <a:rPr lang="en-IN" b="1" dirty="0" smtClean="0"/>
              <a:t>Rights and how to use these rights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IN" b="1" dirty="0" smtClean="0"/>
              <a:t>It informs us about our Fundamental Duties</a:t>
            </a:r>
            <a:endParaRPr lang="en-IN" b="1" dirty="0"/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IN" b="1" dirty="0" smtClean="0"/>
              <a:t>It  </a:t>
            </a:r>
            <a:r>
              <a:rPr lang="en-IN" b="1" dirty="0"/>
              <a:t>describes powers of various organs of the </a:t>
            </a:r>
            <a:r>
              <a:rPr lang="en-IN" b="1" dirty="0" smtClean="0"/>
              <a:t>Government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IN" b="1" dirty="0" smtClean="0"/>
              <a:t>It gives details </a:t>
            </a:r>
            <a:r>
              <a:rPr lang="en-IN" b="1" dirty="0"/>
              <a:t>of the Centre-State </a:t>
            </a:r>
            <a:r>
              <a:rPr lang="en-IN" b="1" dirty="0" smtClean="0"/>
              <a:t>Relations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915256" y="914400"/>
            <a:ext cx="6881115" cy="6718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 smtClean="0">
                <a:solidFill>
                  <a:srgbClr val="C00000"/>
                </a:solidFill>
              </a:rPr>
              <a:t>What is Constitution?</a:t>
            </a:r>
          </a:p>
        </p:txBody>
      </p:sp>
    </p:spTree>
    <p:extLst>
      <p:ext uri="{BB962C8B-B14F-4D97-AF65-F5344CB8AC3E}">
        <p14:creationId xmlns:p14="http://schemas.microsoft.com/office/powerpoint/2010/main" val="284505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828800"/>
            <a:ext cx="7467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IN" b="1" dirty="0" smtClean="0"/>
              <a:t>To </a:t>
            </a:r>
            <a:r>
              <a:rPr lang="en-IN" b="1" smtClean="0"/>
              <a:t>achieve Constitutionalism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IN" b="1" dirty="0" smtClean="0"/>
              <a:t>To limit the powers of the State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IN" b="1" dirty="0" smtClean="0"/>
              <a:t>To ensure that no organ of Government crosses its ‘</a:t>
            </a:r>
            <a:r>
              <a:rPr lang="en-IN" b="1" dirty="0" err="1" smtClean="0"/>
              <a:t>Lakshman</a:t>
            </a:r>
            <a:r>
              <a:rPr lang="en-IN" b="1" dirty="0" smtClean="0"/>
              <a:t> </a:t>
            </a:r>
            <a:r>
              <a:rPr lang="en-IN" b="1" dirty="0" err="1" smtClean="0"/>
              <a:t>Rekha</a:t>
            </a:r>
            <a:r>
              <a:rPr lang="en-IN" b="1" dirty="0" smtClean="0"/>
              <a:t>’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IN" b="1" dirty="0" smtClean="0"/>
              <a:t>To recognise people’s rights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256" y="914400"/>
            <a:ext cx="6881115" cy="7386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 smtClean="0">
                <a:solidFill>
                  <a:srgbClr val="C00000"/>
                </a:solidFill>
              </a:rPr>
              <a:t>Why a country drafts a Constitution?</a:t>
            </a:r>
          </a:p>
        </p:txBody>
      </p:sp>
    </p:spTree>
    <p:extLst>
      <p:ext uri="{BB962C8B-B14F-4D97-AF65-F5344CB8AC3E}">
        <p14:creationId xmlns:p14="http://schemas.microsoft.com/office/powerpoint/2010/main" val="221824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905000"/>
            <a:ext cx="784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b="1" dirty="0" smtClean="0"/>
              <a:t>When there is break from Past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b="1" dirty="0" smtClean="0"/>
              <a:t>What can be termed such a “Break”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b="1" dirty="0" smtClean="0"/>
              <a:t>Independence from Colonial Rule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b="1" dirty="0" smtClean="0"/>
              <a:t>Revolution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b="1" dirty="0" smtClean="0"/>
              <a:t>Partition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b="1" dirty="0" smtClean="0"/>
              <a:t>Merger of Two Countries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15256" y="914400"/>
            <a:ext cx="6881115" cy="7386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 smtClean="0">
                <a:solidFill>
                  <a:srgbClr val="C00000"/>
                </a:solidFill>
              </a:rPr>
              <a:t>When a country drafts its Constitution?</a:t>
            </a:r>
          </a:p>
        </p:txBody>
      </p:sp>
    </p:spTree>
    <p:extLst>
      <p:ext uri="{BB962C8B-B14F-4D97-AF65-F5344CB8AC3E}">
        <p14:creationId xmlns:p14="http://schemas.microsoft.com/office/powerpoint/2010/main" val="6276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1981200"/>
            <a:ext cx="7467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itchFamily="2" charset="2"/>
              <a:buChar char="q"/>
            </a:pPr>
            <a:r>
              <a:rPr lang="en-IN" sz="1600" b="1" dirty="0" smtClean="0"/>
              <a:t>Written &amp; Unwritten</a:t>
            </a:r>
          </a:p>
          <a:p>
            <a:pPr marL="285750" indent="-285750">
              <a:lnSpc>
                <a:spcPct val="250000"/>
              </a:lnSpc>
              <a:buFont typeface="Wingdings" pitchFamily="2" charset="2"/>
              <a:buChar char="q"/>
            </a:pPr>
            <a:r>
              <a:rPr lang="en-IN" sz="1600" b="1" dirty="0" smtClean="0"/>
              <a:t>Federal &amp; Unitary</a:t>
            </a:r>
          </a:p>
          <a:p>
            <a:pPr marL="285750" indent="-285750">
              <a:lnSpc>
                <a:spcPct val="250000"/>
              </a:lnSpc>
              <a:buFont typeface="Wingdings" pitchFamily="2" charset="2"/>
              <a:buChar char="q"/>
            </a:pPr>
            <a:r>
              <a:rPr lang="en-IN" sz="1600" b="1" dirty="0" smtClean="0"/>
              <a:t>Parliamentary  &amp; Presidential</a:t>
            </a:r>
          </a:p>
          <a:p>
            <a:pPr marL="285750" indent="-285750">
              <a:lnSpc>
                <a:spcPct val="250000"/>
              </a:lnSpc>
              <a:buFont typeface="Wingdings" pitchFamily="2" charset="2"/>
              <a:buChar char="q"/>
            </a:pPr>
            <a:r>
              <a:rPr lang="en-IN" sz="1600" b="1" dirty="0" smtClean="0"/>
              <a:t>Rigid &amp; Flexible</a:t>
            </a:r>
            <a:endParaRPr lang="en-IN" sz="1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90600" y="838200"/>
            <a:ext cx="6881115" cy="58907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rgbClr val="C00000"/>
                </a:solidFill>
              </a:rPr>
              <a:t>What are </a:t>
            </a:r>
            <a:r>
              <a:rPr lang="en-IN" sz="2400" b="1" dirty="0" smtClean="0">
                <a:solidFill>
                  <a:srgbClr val="C00000"/>
                </a:solidFill>
              </a:rPr>
              <a:t>the various </a:t>
            </a:r>
            <a:r>
              <a:rPr lang="en-IN" sz="2400" b="1" dirty="0">
                <a:solidFill>
                  <a:srgbClr val="C00000"/>
                </a:solidFill>
              </a:rPr>
              <a:t>Types of Constitutions</a:t>
            </a:r>
            <a:r>
              <a:rPr lang="en-IN" sz="2400" b="1" dirty="0" smtClean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6281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828800"/>
            <a:ext cx="692820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400" b="1" dirty="0" smtClean="0"/>
              <a:t>The Minimum: United States Constitution</a:t>
            </a:r>
          </a:p>
          <a:p>
            <a:endParaRPr lang="en-IN" sz="2400" b="1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 smtClean="0"/>
              <a:t>Lengthiest Constitution of the World: Indian Constitution</a:t>
            </a:r>
          </a:p>
          <a:p>
            <a:endParaRPr lang="en-IN" sz="2400" b="1" dirty="0"/>
          </a:p>
          <a:p>
            <a:r>
              <a:rPr lang="en-IN" sz="2400" b="1" dirty="0" smtClean="0"/>
              <a:t>Original Constitution: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IN" sz="2400" b="1" dirty="0" smtClean="0"/>
              <a:t>Articles -395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IN" sz="2400" b="1" dirty="0" smtClean="0"/>
              <a:t>Parts -22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IN" sz="2400" b="1" dirty="0" smtClean="0"/>
              <a:t>Schedules- VIII</a:t>
            </a:r>
          </a:p>
          <a:p>
            <a:r>
              <a:rPr lang="en-IN" b="1" dirty="0" smtClean="0"/>
              <a:t> 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43000" y="838200"/>
            <a:ext cx="6881115" cy="58907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C00000"/>
                </a:solidFill>
              </a:rPr>
              <a:t>What a Constitution should contain?</a:t>
            </a:r>
          </a:p>
        </p:txBody>
      </p:sp>
    </p:spTree>
    <p:extLst>
      <p:ext uri="{BB962C8B-B14F-4D97-AF65-F5344CB8AC3E}">
        <p14:creationId xmlns:p14="http://schemas.microsoft.com/office/powerpoint/2010/main" val="455327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1524000"/>
            <a:ext cx="8229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400" dirty="0" smtClean="0"/>
              <a:t>Constitution is Supreme Law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400" dirty="0" smtClean="0"/>
              <a:t>Constitution signifies a compact between People &amp; State.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400" dirty="0" smtClean="0"/>
              <a:t>Constitution limits powers of the state.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400" dirty="0" smtClean="0"/>
              <a:t>Constitution tells us about our Rights.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400" dirty="0" smtClean="0"/>
              <a:t>Constitution tells us about our duties.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400" dirty="0" smtClean="0"/>
              <a:t>Constitution tells us about power structure of state.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400" dirty="0" smtClean="0"/>
              <a:t>Constitution is drafted when there is break from Past.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400" dirty="0" smtClean="0"/>
              <a:t>Constitutions must be brief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986320" y="762000"/>
            <a:ext cx="7924799" cy="58907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</a:rPr>
              <a:t>Summary</a:t>
            </a:r>
            <a:endParaRPr lang="en-I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433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533400"/>
            <a:ext cx="8305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Next </a:t>
            </a:r>
            <a:r>
              <a:rPr lang="en-US" sz="2400" b="1" dirty="0" smtClean="0">
                <a:solidFill>
                  <a:srgbClr val="C00000"/>
                </a:solidFill>
              </a:rPr>
              <a:t>Lecture</a:t>
            </a:r>
          </a:p>
          <a:p>
            <a:pPr>
              <a:lnSpc>
                <a:spcPct val="250000"/>
              </a:lnSpc>
            </a:pPr>
            <a:r>
              <a:rPr lang="en-US" sz="2000" b="1" dirty="0" smtClean="0">
                <a:solidFill>
                  <a:srgbClr val="002060"/>
                </a:solidFill>
              </a:rPr>
              <a:t>We will discuss </a:t>
            </a:r>
          </a:p>
          <a:p>
            <a:pPr marL="342900" indent="-342900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002060"/>
                </a:solidFill>
              </a:rPr>
              <a:t>The </a:t>
            </a:r>
            <a:r>
              <a:rPr lang="en-US" sz="2000" b="1" dirty="0">
                <a:solidFill>
                  <a:srgbClr val="002060"/>
                </a:solidFill>
              </a:rPr>
              <a:t>British rule and Indian National </a:t>
            </a:r>
            <a:r>
              <a:rPr lang="en-US" sz="2000" b="1" dirty="0" smtClean="0">
                <a:solidFill>
                  <a:srgbClr val="002060"/>
                </a:solidFill>
              </a:rPr>
              <a:t>Movement.</a:t>
            </a:r>
          </a:p>
          <a:p>
            <a:pPr marL="342900" indent="-342900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002060"/>
                </a:solidFill>
              </a:rPr>
              <a:t>How </a:t>
            </a:r>
            <a:r>
              <a:rPr lang="en-US" sz="2000" b="1" dirty="0">
                <a:solidFill>
                  <a:srgbClr val="002060"/>
                </a:solidFill>
              </a:rPr>
              <a:t>British agreed to formation of Constituent </a:t>
            </a:r>
            <a:r>
              <a:rPr lang="en-US" sz="2000" b="1" dirty="0" smtClean="0">
                <a:solidFill>
                  <a:srgbClr val="002060"/>
                </a:solidFill>
              </a:rPr>
              <a:t>Assembly?</a:t>
            </a:r>
          </a:p>
          <a:p>
            <a:pPr marL="342900" indent="-342900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002060"/>
                </a:solidFill>
              </a:rPr>
              <a:t>The </a:t>
            </a:r>
            <a:r>
              <a:rPr lang="en-US" sz="2000" b="1" dirty="0">
                <a:solidFill>
                  <a:srgbClr val="002060"/>
                </a:solidFill>
              </a:rPr>
              <a:t>process of drafting of </a:t>
            </a:r>
            <a:r>
              <a:rPr lang="en-US" sz="2000" b="1" dirty="0" smtClean="0">
                <a:solidFill>
                  <a:srgbClr val="002060"/>
                </a:solidFill>
              </a:rPr>
              <a:t>Indian Constitution </a:t>
            </a:r>
            <a:r>
              <a:rPr lang="en-US" sz="2000" b="1" dirty="0">
                <a:solidFill>
                  <a:srgbClr val="002060"/>
                </a:solidFill>
              </a:rPr>
              <a:t>and kinds of choices we </a:t>
            </a:r>
            <a:r>
              <a:rPr lang="en-US" sz="2000" b="1" dirty="0" smtClean="0">
                <a:solidFill>
                  <a:srgbClr val="002060"/>
                </a:solidFill>
              </a:rPr>
              <a:t>made.</a:t>
            </a:r>
          </a:p>
          <a:p>
            <a:pPr marL="342900" indent="-342900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002060"/>
                </a:solidFill>
              </a:rPr>
              <a:t>Who </a:t>
            </a:r>
            <a:r>
              <a:rPr lang="en-US" sz="2000" b="1" dirty="0">
                <a:solidFill>
                  <a:srgbClr val="002060"/>
                </a:solidFill>
              </a:rPr>
              <a:t>were leading members of our Constituent </a:t>
            </a:r>
            <a:r>
              <a:rPr lang="en-US" sz="2000" b="1" dirty="0" smtClean="0">
                <a:solidFill>
                  <a:srgbClr val="002060"/>
                </a:solidFill>
              </a:rPr>
              <a:t>Assembly?</a:t>
            </a:r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361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0" y="2438400"/>
            <a:ext cx="5791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 smtClean="0">
                <a:solidFill>
                  <a:srgbClr val="C00000"/>
                </a:solidFill>
                <a:latin typeface="Brush Script MT" pitchFamily="66" charset="0"/>
              </a:rPr>
              <a:t>Thank You</a:t>
            </a:r>
          </a:p>
          <a:p>
            <a:endParaRPr lang="en-IN" sz="2800" b="1" dirty="0" smtClean="0">
              <a:solidFill>
                <a:srgbClr val="C00000"/>
              </a:solidFill>
              <a:latin typeface="Brush Script MT" pitchFamily="66" charset="0"/>
            </a:endParaRPr>
          </a:p>
          <a:p>
            <a:endParaRPr lang="en-IN" sz="2800" b="1" dirty="0">
              <a:solidFill>
                <a:srgbClr val="C00000"/>
              </a:solidFill>
              <a:latin typeface="Brush Script MT" pitchFamily="66" charset="0"/>
            </a:endParaRPr>
          </a:p>
          <a:p>
            <a:endParaRPr lang="en-IN" sz="2800" b="1" dirty="0" smtClean="0">
              <a:solidFill>
                <a:srgbClr val="C00000"/>
              </a:solidFill>
              <a:latin typeface="Brush Script MT" pitchFamily="66" charset="0"/>
            </a:endParaRPr>
          </a:p>
          <a:p>
            <a:endParaRPr lang="en-IN" sz="2800" b="1" dirty="0">
              <a:solidFill>
                <a:srgbClr val="C00000"/>
              </a:solidFill>
              <a:latin typeface="Brush Script MT" pitchFamily="66" charset="0"/>
            </a:endParaRPr>
          </a:p>
          <a:p>
            <a:endParaRPr lang="en-IN" sz="2800" b="1" dirty="0" smtClean="0">
              <a:solidFill>
                <a:srgbClr val="C00000"/>
              </a:solidFill>
              <a:latin typeface="Brush Script MT" pitchFamily="66" charset="0"/>
            </a:endParaRPr>
          </a:p>
          <a:p>
            <a:endParaRPr lang="en-IN" sz="2800" b="1" dirty="0">
              <a:solidFill>
                <a:srgbClr val="C00000"/>
              </a:solidFill>
              <a:latin typeface="Brush Script MT" pitchFamily="66" charset="0"/>
            </a:endParaRPr>
          </a:p>
          <a:p>
            <a:pPr algn="r"/>
            <a:r>
              <a:rPr lang="en-IN" sz="2800" b="1" dirty="0" smtClean="0">
                <a:solidFill>
                  <a:srgbClr val="C00000"/>
                </a:solidFill>
                <a:latin typeface="Brush Script MT" pitchFamily="66" charset="0"/>
              </a:rPr>
              <a:t>See you in the next lecture….</a:t>
            </a:r>
          </a:p>
        </p:txBody>
      </p:sp>
    </p:spTree>
    <p:extLst>
      <p:ext uri="{BB962C8B-B14F-4D97-AF65-F5344CB8AC3E}">
        <p14:creationId xmlns:p14="http://schemas.microsoft.com/office/powerpoint/2010/main" val="2813394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175</TotalTime>
  <Words>651</Words>
  <Application>Microsoft Office PowerPoint</Application>
  <PresentationFormat>On-screen Show (4:3)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Brush Script MT</vt:lpstr>
      <vt:lpstr>Calibri</vt:lpstr>
      <vt:lpstr>Constantia</vt:lpstr>
      <vt:lpstr>Times New Roman</vt:lpstr>
      <vt:lpstr>Wingdings</vt:lpstr>
      <vt:lpstr>Wingdings 2</vt:lpstr>
      <vt:lpstr>Flow</vt:lpstr>
      <vt:lpstr>On-Line Course on Indian Constitution   Sponsored by  Department  of Legal Affairs, Ministry of Law &amp; Justice, Government of India, New Delhi   Conducted By NALSAR University of Law, Hyderabad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Course on Indian Constitution Sponsored by  Department  of Legal Affairs, Ministry of Law &amp; Justice, Government of India, New Delhi Conducted By NALSAR University of Law, Hyderabad Instructor</dc:title>
  <dc:creator>Faizan mustafa</dc:creator>
  <cp:lastModifiedBy>amrita</cp:lastModifiedBy>
  <cp:revision>20</cp:revision>
  <dcterms:created xsi:type="dcterms:W3CDTF">2006-08-16T00:00:00Z</dcterms:created>
  <dcterms:modified xsi:type="dcterms:W3CDTF">2022-01-09T15:57:14Z</dcterms:modified>
</cp:coreProperties>
</file>